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Lst>
  <p:notesMasterIdLst>
    <p:notesMasterId r:id="rId9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notesMaster" Target="notesMasters/notesMaster1.xml"/><Relationship Id="rId100" Type="http://schemas.openxmlformats.org/officeDocument/2006/relationships/presProps" Target="presProps.xml"/><Relationship Id="rId101" Type="http://schemas.openxmlformats.org/officeDocument/2006/relationships/viewProps" Target="viewProps.xml"/><Relationship Id="rId102" Type="http://schemas.openxmlformats.org/officeDocument/2006/relationships/theme" Target="theme/theme1.xml"/><Relationship Id="rId10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0271C"/>
        </a:solidFill>
      </p:bgPr>
    </p:bg>
    <p:spTree>
      <p:nvGrpSpPr>
        <p:cNvPr id="1" name=""/>
        <p:cNvGrpSpPr/>
        <p:nvPr/>
      </p:nvGrpSpPr>
      <p:grpSpPr>
        <a:xfrm>
          <a:off x="0" y="0"/>
          <a:ext cx="0" cy="0"/>
          <a:chOff x="0" y="0"/>
          <a:chExt cx="0" cy="0"/>
        </a:xfrm>
      </p:grpSpPr>
      <p:sp>
        <p:nvSpPr>
          <p:cNvPr id="2" name="Shape 0"/>
          <p:cNvSpPr/>
          <p:nvPr/>
        </p:nvSpPr>
        <p:spPr>
          <a:xfrm>
            <a:off x="9052560" y="-2194560"/>
            <a:ext cx="5852160" cy="5852160"/>
          </a:xfrm>
          <a:prstGeom prst="ellipse">
            <a:avLst/>
          </a:prstGeom>
          <a:solidFill>
            <a:srgbClr val="FFFFFF">
              <a:alpha val="12000"/>
            </a:srgbClr>
          </a:solidFill>
          <a:ln/>
        </p:spPr>
      </p:sp>
      <p:sp>
        <p:nvSpPr>
          <p:cNvPr id="3" name="Text 1"/>
          <p:cNvSpPr/>
          <p:nvPr/>
        </p:nvSpPr>
        <p:spPr>
          <a:xfrm>
            <a:off x="822960" y="1874520"/>
            <a:ext cx="9601200" cy="310896"/>
          </a:xfrm>
          <a:prstGeom prst="rect">
            <a:avLst/>
          </a:prstGeom>
          <a:noFill/>
          <a:ln/>
        </p:spPr>
        <p:txBody>
          <a:bodyPr wrap="square" lIns="0" tIns="0" rIns="0" bIns="0" rtlCol="0" anchor="ctr"/>
          <a:lstStyle/>
          <a:p>
            <a:pPr indent="0" marL="0">
              <a:buNone/>
            </a:pPr>
            <a:r>
              <a:rPr lang="en-US" sz="1350" b="1" spc="200" kern="0" dirty="0">
                <a:solidFill>
                  <a:srgbClr val="C9A84C"/>
                </a:solidFill>
                <a:latin typeface="Calibri" pitchFamily="34" charset="0"/>
                <a:ea typeface="Calibri" pitchFamily="34" charset="-122"/>
                <a:cs typeface="Calibri" pitchFamily="34" charset="-120"/>
              </a:rPr>
              <a:t>◆ MORETTI TEST PREP WORKSHOP</a:t>
            </a:r>
            <a:endParaRPr lang="en-US" sz="1350" dirty="0"/>
          </a:p>
        </p:txBody>
      </p:sp>
      <p:sp>
        <p:nvSpPr>
          <p:cNvPr id="4" name="Text 2"/>
          <p:cNvSpPr/>
          <p:nvPr/>
        </p:nvSpPr>
        <p:spPr>
          <a:xfrm>
            <a:off x="777240" y="2240280"/>
            <a:ext cx="10058400" cy="1463040"/>
          </a:xfrm>
          <a:prstGeom prst="rect">
            <a:avLst/>
          </a:prstGeom>
          <a:noFill/>
          <a:ln/>
        </p:spPr>
        <p:txBody>
          <a:bodyPr wrap="square" lIns="0" tIns="0" rIns="0" bIns="0" rtlCol="0" anchor="ctr"/>
          <a:lstStyle/>
          <a:p>
            <a:pPr indent="0" marL="0">
              <a:lnSpc>
                <a:spcPct val="102000"/>
              </a:lnSpc>
              <a:buNone/>
            </a:pPr>
            <a:r>
              <a:rPr lang="en-US" sz="5000" b="1" dirty="0">
                <a:solidFill>
                  <a:srgbClr val="FFFFFF"/>
                </a:solidFill>
                <a:latin typeface="Cambria" pitchFamily="34" charset="0"/>
                <a:ea typeface="Cambria" pitchFamily="34" charset="-122"/>
                <a:cs typeface="Cambria" pitchFamily="34" charset="-120"/>
              </a:rPr>
              <a:t>Mastering the SAT</a:t>
            </a:r>
            <a:endParaRPr lang="en-US" sz="5000" dirty="0"/>
          </a:p>
          <a:p>
            <a:pPr indent="0" marL="0">
              <a:lnSpc>
                <a:spcPct val="102000"/>
              </a:lnSpc>
              <a:buNone/>
            </a:pPr>
            <a:r>
              <a:rPr lang="en-US" sz="5000" b="1" dirty="0">
                <a:solidFill>
                  <a:srgbClr val="FFFFFF"/>
                </a:solidFill>
                <a:latin typeface="Cambria" pitchFamily="34" charset="0"/>
                <a:ea typeface="Cambria" pitchFamily="34" charset="-122"/>
                <a:cs typeface="Cambria" pitchFamily="34" charset="-120"/>
              </a:rPr>
              <a:t>English Section</a:t>
            </a:r>
            <a:endParaRPr lang="en-US" sz="5000" dirty="0"/>
          </a:p>
        </p:txBody>
      </p:sp>
      <p:sp>
        <p:nvSpPr>
          <p:cNvPr id="5" name="Text 3"/>
          <p:cNvSpPr/>
          <p:nvPr/>
        </p:nvSpPr>
        <p:spPr>
          <a:xfrm>
            <a:off x="822960" y="3611880"/>
            <a:ext cx="8778240" cy="548640"/>
          </a:xfrm>
          <a:prstGeom prst="rect">
            <a:avLst/>
          </a:prstGeom>
          <a:noFill/>
          <a:ln/>
        </p:spPr>
        <p:txBody>
          <a:bodyPr wrap="square" lIns="0" tIns="0" rIns="0" bIns="0" rtlCol="0" anchor="ctr"/>
          <a:lstStyle/>
          <a:p>
            <a:pPr indent="0" marL="0">
              <a:buNone/>
            </a:pPr>
            <a:r>
              <a:rPr lang="en-US" sz="2400" b="1" dirty="0">
                <a:solidFill>
                  <a:srgbClr val="F0DCD9"/>
                </a:solidFill>
                <a:latin typeface="Cambria" pitchFamily="34" charset="0"/>
                <a:ea typeface="Cambria" pitchFamily="34" charset="-122"/>
                <a:cs typeface="Cambria" pitchFamily="34" charset="-120"/>
              </a:rPr>
              <a:t>Verbs · Reading · Vocabulary · Punctuation · Transitions</a:t>
            </a:r>
            <a:endParaRPr lang="en-US" sz="2400" dirty="0"/>
          </a:p>
        </p:txBody>
      </p:sp>
      <p:sp>
        <p:nvSpPr>
          <p:cNvPr id="6" name="Text 4"/>
          <p:cNvSpPr/>
          <p:nvPr/>
        </p:nvSpPr>
        <p:spPr>
          <a:xfrm>
            <a:off x="822960" y="4251960"/>
            <a:ext cx="7589520" cy="640080"/>
          </a:xfrm>
          <a:prstGeom prst="rect">
            <a:avLst/>
          </a:prstGeom>
          <a:noFill/>
          <a:ln/>
        </p:spPr>
        <p:txBody>
          <a:bodyPr wrap="square" lIns="0" tIns="0" rIns="0" bIns="0" rtlCol="0" anchor="ctr"/>
          <a:lstStyle/>
          <a:p>
            <a:pPr indent="0" marL="0">
              <a:lnSpc>
                <a:spcPct val="120000"/>
              </a:lnSpc>
              <a:buNone/>
            </a:pPr>
            <a:r>
              <a:rPr lang="en-US" sz="1350" dirty="0">
                <a:solidFill>
                  <a:srgbClr val="F0DCD9"/>
                </a:solidFill>
                <a:latin typeface="Calibri" pitchFamily="34" charset="0"/>
                <a:ea typeface="Calibri" pitchFamily="34" charset="-122"/>
                <a:cs typeface="Calibri" pitchFamily="34" charset="-120"/>
              </a:rPr>
              <a:t>A tactical, question-type-by-question-type system for every Reading &amp; Writing question — with space to drop in your own official practice questions as you go.</a:t>
            </a:r>
            <a:endParaRPr lang="en-US" sz="1350" dirty="0"/>
          </a:p>
        </p:txBody>
      </p:sp>
      <p:sp>
        <p:nvSpPr>
          <p:cNvPr id="7" name="Text 5"/>
          <p:cNvSpPr/>
          <p:nvPr/>
        </p:nvSpPr>
        <p:spPr>
          <a:xfrm>
            <a:off x="822960" y="6080760"/>
            <a:ext cx="7315200" cy="274320"/>
          </a:xfrm>
          <a:prstGeom prst="rect">
            <a:avLst/>
          </a:prstGeom>
          <a:noFill/>
          <a:ln/>
        </p:spPr>
        <p:txBody>
          <a:bodyPr wrap="square" lIns="0" tIns="0" rIns="0" bIns="0" rtlCol="0" anchor="ctr"/>
          <a:lstStyle/>
          <a:p>
            <a:pPr indent="0" marL="0">
              <a:buNone/>
            </a:pPr>
            <a:r>
              <a:rPr lang="en-US" sz="1050" dirty="0">
                <a:solidFill>
                  <a:srgbClr val="E8C9C4"/>
                </a:solidFill>
                <a:latin typeface="Calibri" pitchFamily="34" charset="0"/>
                <a:ea typeface="Calibri" pitchFamily="34" charset="-122"/>
                <a:cs typeface="Calibri" pitchFamily="34" charset="-120"/>
              </a:rPr>
              <a:t>Moretti Test Prep &amp; Tutoring  ·  morettitutoring.com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BEFORE WE START · OVERVIEW</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The six systems that run this deck</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Every Reading &amp; Writing question on the SAT falls into one of these buckets.</a:t>
            </a:r>
            <a:endParaRPr lang="en-US" sz="1350" dirty="0"/>
          </a:p>
        </p:txBody>
      </p:sp>
      <p:sp>
        <p:nvSpPr>
          <p:cNvPr id="5" name="Shape 3"/>
          <p:cNvSpPr/>
          <p:nvPr/>
        </p:nvSpPr>
        <p:spPr>
          <a:xfrm>
            <a:off x="640080" y="1920240"/>
            <a:ext cx="3503066" cy="1417320"/>
          </a:xfrm>
          <a:prstGeom prst="roundRect">
            <a:avLst>
              <a:gd name="adj" fmla="val 4516"/>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6" name="Shape 4"/>
          <p:cNvSpPr/>
          <p:nvPr/>
        </p:nvSpPr>
        <p:spPr>
          <a:xfrm>
            <a:off x="822960" y="2121408"/>
            <a:ext cx="118872" cy="118872"/>
          </a:xfrm>
          <a:prstGeom prst="rect">
            <a:avLst/>
          </a:prstGeom>
          <a:solidFill>
            <a:srgbClr val="C9A84C"/>
          </a:solidFill>
          <a:ln/>
        </p:spPr>
      </p:sp>
      <p:sp>
        <p:nvSpPr>
          <p:cNvPr id="7" name="Text 5"/>
          <p:cNvSpPr/>
          <p:nvPr/>
        </p:nvSpPr>
        <p:spPr>
          <a:xfrm>
            <a:off x="822960" y="2322576"/>
            <a:ext cx="3137306" cy="329184"/>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1 · Verb Questions</a:t>
            </a:r>
            <a:endParaRPr lang="en-US" sz="1300" dirty="0"/>
          </a:p>
        </p:txBody>
      </p:sp>
      <p:sp>
        <p:nvSpPr>
          <p:cNvPr id="8" name="Text 6"/>
          <p:cNvSpPr/>
          <p:nvPr/>
        </p:nvSpPr>
        <p:spPr>
          <a:xfrm>
            <a:off x="822960" y="2670048"/>
            <a:ext cx="3137306" cy="521208"/>
          </a:xfrm>
          <a:prstGeom prst="rect">
            <a:avLst/>
          </a:prstGeom>
          <a:noFill/>
          <a:ln/>
        </p:spPr>
        <p:txBody>
          <a:bodyPr wrap="square" lIns="0" tIns="0" rIns="0" bIns="0" rtlCol="0" anchor="ctr"/>
          <a:lstStyle/>
          <a:p>
            <a:pPr indent="0" marL="0">
              <a:lnSpc>
                <a:spcPct val="110000"/>
              </a:lnSpc>
              <a:buNone/>
            </a:pPr>
            <a:r>
              <a:rPr lang="en-US" sz="1080" dirty="0">
                <a:solidFill>
                  <a:srgbClr val="5F5F5F"/>
                </a:solidFill>
                <a:latin typeface="Calibri" pitchFamily="34" charset="0"/>
                <a:ea typeface="Calibri" pitchFamily="34" charset="-122"/>
                <a:cs typeface="Calibri" pitchFamily="34" charset="-120"/>
              </a:rPr>
              <a:t>~30% of grammar questions. Four shortcuts solve most of them instantly.</a:t>
            </a:r>
            <a:endParaRPr lang="en-US" sz="1080" dirty="0"/>
          </a:p>
        </p:txBody>
      </p:sp>
      <p:sp>
        <p:nvSpPr>
          <p:cNvPr id="9" name="Shape 7"/>
          <p:cNvSpPr/>
          <p:nvPr/>
        </p:nvSpPr>
        <p:spPr>
          <a:xfrm>
            <a:off x="4344314" y="1920240"/>
            <a:ext cx="3503066" cy="1417320"/>
          </a:xfrm>
          <a:prstGeom prst="roundRect">
            <a:avLst>
              <a:gd name="adj" fmla="val 4516"/>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10" name="Shape 8"/>
          <p:cNvSpPr/>
          <p:nvPr/>
        </p:nvSpPr>
        <p:spPr>
          <a:xfrm>
            <a:off x="4527194" y="2121408"/>
            <a:ext cx="118872" cy="118872"/>
          </a:xfrm>
          <a:prstGeom prst="rect">
            <a:avLst/>
          </a:prstGeom>
          <a:solidFill>
            <a:srgbClr val="C9A84C"/>
          </a:solidFill>
          <a:ln/>
        </p:spPr>
      </p:sp>
      <p:sp>
        <p:nvSpPr>
          <p:cNvPr id="11" name="Text 9"/>
          <p:cNvSpPr/>
          <p:nvPr/>
        </p:nvSpPr>
        <p:spPr>
          <a:xfrm>
            <a:off x="4527194" y="2322576"/>
            <a:ext cx="3137306" cy="329184"/>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2 · Punctuation</a:t>
            </a:r>
            <a:endParaRPr lang="en-US" sz="1300" dirty="0"/>
          </a:p>
        </p:txBody>
      </p:sp>
      <p:sp>
        <p:nvSpPr>
          <p:cNvPr id="12" name="Text 10"/>
          <p:cNvSpPr/>
          <p:nvPr/>
        </p:nvSpPr>
        <p:spPr>
          <a:xfrm>
            <a:off x="4527194" y="2670048"/>
            <a:ext cx="3137306" cy="521208"/>
          </a:xfrm>
          <a:prstGeom prst="rect">
            <a:avLst/>
          </a:prstGeom>
          <a:noFill/>
          <a:ln/>
        </p:spPr>
        <p:txBody>
          <a:bodyPr wrap="square" lIns="0" tIns="0" rIns="0" bIns="0" rtlCol="0" anchor="ctr"/>
          <a:lstStyle/>
          <a:p>
            <a:pPr indent="0" marL="0">
              <a:lnSpc>
                <a:spcPct val="110000"/>
              </a:lnSpc>
              <a:buNone/>
            </a:pPr>
            <a:r>
              <a:rPr lang="en-US" sz="1080" dirty="0">
                <a:solidFill>
                  <a:srgbClr val="5F5F5F"/>
                </a:solidFill>
                <a:latin typeface="Calibri" pitchFamily="34" charset="0"/>
                <a:ea typeface="Calibri" pitchFamily="34" charset="-122"/>
                <a:cs typeface="Calibri" pitchFamily="34" charset="-120"/>
              </a:rPr>
              <a:t>Independent clauses + six punctuation marks, checked in a strict priority order.</a:t>
            </a:r>
            <a:endParaRPr lang="en-US" sz="1080" dirty="0"/>
          </a:p>
        </p:txBody>
      </p:sp>
      <p:sp>
        <p:nvSpPr>
          <p:cNvPr id="13" name="Shape 11"/>
          <p:cNvSpPr/>
          <p:nvPr/>
        </p:nvSpPr>
        <p:spPr>
          <a:xfrm>
            <a:off x="8048549" y="1920240"/>
            <a:ext cx="3503066" cy="1417320"/>
          </a:xfrm>
          <a:prstGeom prst="roundRect">
            <a:avLst>
              <a:gd name="adj" fmla="val 4516"/>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14" name="Shape 12"/>
          <p:cNvSpPr/>
          <p:nvPr/>
        </p:nvSpPr>
        <p:spPr>
          <a:xfrm>
            <a:off x="8231429" y="2121408"/>
            <a:ext cx="118872" cy="118872"/>
          </a:xfrm>
          <a:prstGeom prst="rect">
            <a:avLst/>
          </a:prstGeom>
          <a:solidFill>
            <a:srgbClr val="C9A84C"/>
          </a:solidFill>
          <a:ln/>
        </p:spPr>
      </p:sp>
      <p:sp>
        <p:nvSpPr>
          <p:cNvPr id="15" name="Text 13"/>
          <p:cNvSpPr/>
          <p:nvPr/>
        </p:nvSpPr>
        <p:spPr>
          <a:xfrm>
            <a:off x="8231429" y="2322576"/>
            <a:ext cx="3137306" cy="329184"/>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3 · Pronouns / Modifiers / Plural-Possessive</a:t>
            </a:r>
            <a:endParaRPr lang="en-US" sz="1300" dirty="0"/>
          </a:p>
        </p:txBody>
      </p:sp>
      <p:sp>
        <p:nvSpPr>
          <p:cNvPr id="16" name="Text 14"/>
          <p:cNvSpPr/>
          <p:nvPr/>
        </p:nvSpPr>
        <p:spPr>
          <a:xfrm>
            <a:off x="8231429" y="2670048"/>
            <a:ext cx="3137306" cy="521208"/>
          </a:xfrm>
          <a:prstGeom prst="rect">
            <a:avLst/>
          </a:prstGeom>
          <a:noFill/>
          <a:ln/>
        </p:spPr>
        <p:txBody>
          <a:bodyPr wrap="square" lIns="0" tIns="0" rIns="0" bIns="0" rtlCol="0" anchor="ctr"/>
          <a:lstStyle/>
          <a:p>
            <a:pPr indent="0" marL="0">
              <a:lnSpc>
                <a:spcPct val="110000"/>
              </a:lnSpc>
              <a:buNone/>
            </a:pPr>
            <a:r>
              <a:rPr lang="en-US" sz="1080" dirty="0">
                <a:solidFill>
                  <a:srgbClr val="5F5F5F"/>
                </a:solidFill>
                <a:latin typeface="Calibri" pitchFamily="34" charset="0"/>
                <a:ea typeface="Calibri" pitchFamily="34" charset="-122"/>
                <a:cs typeface="Calibri" pitchFamily="34" charset="-120"/>
              </a:rPr>
              <a:t>~5% + ~3% + ~3% of grammar. Small systems, guaranteed accuracy.</a:t>
            </a:r>
            <a:endParaRPr lang="en-US" sz="1080" dirty="0"/>
          </a:p>
        </p:txBody>
      </p:sp>
      <p:sp>
        <p:nvSpPr>
          <p:cNvPr id="17" name="Shape 15"/>
          <p:cNvSpPr/>
          <p:nvPr/>
        </p:nvSpPr>
        <p:spPr>
          <a:xfrm>
            <a:off x="640080" y="3538728"/>
            <a:ext cx="3503066" cy="1417320"/>
          </a:xfrm>
          <a:prstGeom prst="roundRect">
            <a:avLst>
              <a:gd name="adj" fmla="val 4516"/>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18" name="Shape 16"/>
          <p:cNvSpPr/>
          <p:nvPr/>
        </p:nvSpPr>
        <p:spPr>
          <a:xfrm>
            <a:off x="822960" y="3739896"/>
            <a:ext cx="118872" cy="118872"/>
          </a:xfrm>
          <a:prstGeom prst="rect">
            <a:avLst/>
          </a:prstGeom>
          <a:solidFill>
            <a:srgbClr val="C9A84C"/>
          </a:solidFill>
          <a:ln/>
        </p:spPr>
      </p:sp>
      <p:sp>
        <p:nvSpPr>
          <p:cNvPr id="19" name="Text 17"/>
          <p:cNvSpPr/>
          <p:nvPr/>
        </p:nvSpPr>
        <p:spPr>
          <a:xfrm>
            <a:off x="822960" y="3941064"/>
            <a:ext cx="3137306" cy="329184"/>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4 · Transitions</a:t>
            </a:r>
            <a:endParaRPr lang="en-US" sz="1300" dirty="0"/>
          </a:p>
        </p:txBody>
      </p:sp>
      <p:sp>
        <p:nvSpPr>
          <p:cNvPr id="20" name="Text 18"/>
          <p:cNvSpPr/>
          <p:nvPr/>
        </p:nvSpPr>
        <p:spPr>
          <a:xfrm>
            <a:off x="822960" y="4288536"/>
            <a:ext cx="3137306" cy="521208"/>
          </a:xfrm>
          <a:prstGeom prst="rect">
            <a:avLst/>
          </a:prstGeom>
          <a:noFill/>
          <a:ln/>
        </p:spPr>
        <p:txBody>
          <a:bodyPr wrap="square" lIns="0" tIns="0" rIns="0" bIns="0" rtlCol="0" anchor="ctr"/>
          <a:lstStyle/>
          <a:p>
            <a:pPr indent="0" marL="0">
              <a:lnSpc>
                <a:spcPct val="110000"/>
              </a:lnSpc>
              <a:buNone/>
            </a:pPr>
            <a:r>
              <a:rPr lang="en-US" sz="1080" dirty="0">
                <a:solidFill>
                  <a:srgbClr val="5F5F5F"/>
                </a:solidFill>
                <a:latin typeface="Calibri" pitchFamily="34" charset="0"/>
                <a:ea typeface="Calibri" pitchFamily="34" charset="-122"/>
                <a:cs typeface="Calibri" pitchFamily="34" charset="-120"/>
              </a:rPr>
              <a:t>8 categories cover 100% of answer choices, each with a known hit rate.</a:t>
            </a:r>
            <a:endParaRPr lang="en-US" sz="1080" dirty="0"/>
          </a:p>
        </p:txBody>
      </p:sp>
      <p:sp>
        <p:nvSpPr>
          <p:cNvPr id="21" name="Shape 19"/>
          <p:cNvSpPr/>
          <p:nvPr/>
        </p:nvSpPr>
        <p:spPr>
          <a:xfrm>
            <a:off x="4344314" y="3538728"/>
            <a:ext cx="3503066" cy="1417320"/>
          </a:xfrm>
          <a:prstGeom prst="roundRect">
            <a:avLst>
              <a:gd name="adj" fmla="val 4516"/>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22" name="Shape 20"/>
          <p:cNvSpPr/>
          <p:nvPr/>
        </p:nvSpPr>
        <p:spPr>
          <a:xfrm>
            <a:off x="4527194" y="3739896"/>
            <a:ext cx="118872" cy="118872"/>
          </a:xfrm>
          <a:prstGeom prst="rect">
            <a:avLst/>
          </a:prstGeom>
          <a:solidFill>
            <a:srgbClr val="C9A84C"/>
          </a:solidFill>
          <a:ln/>
        </p:spPr>
      </p:sp>
      <p:sp>
        <p:nvSpPr>
          <p:cNvPr id="23" name="Text 21"/>
          <p:cNvSpPr/>
          <p:nvPr/>
        </p:nvSpPr>
        <p:spPr>
          <a:xfrm>
            <a:off x="4527194" y="3941064"/>
            <a:ext cx="3137306" cy="329184"/>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5 · Reading Comprehension</a:t>
            </a:r>
            <a:endParaRPr lang="en-US" sz="1300" dirty="0"/>
          </a:p>
        </p:txBody>
      </p:sp>
      <p:sp>
        <p:nvSpPr>
          <p:cNvPr id="24" name="Text 22"/>
          <p:cNvSpPr/>
          <p:nvPr/>
        </p:nvSpPr>
        <p:spPr>
          <a:xfrm>
            <a:off x="4527194" y="4288536"/>
            <a:ext cx="3137306" cy="521208"/>
          </a:xfrm>
          <a:prstGeom prst="rect">
            <a:avLst/>
          </a:prstGeom>
          <a:noFill/>
          <a:ln/>
        </p:spPr>
        <p:txBody>
          <a:bodyPr wrap="square" lIns="0" tIns="0" rIns="0" bIns="0" rtlCol="0" anchor="ctr"/>
          <a:lstStyle/>
          <a:p>
            <a:pPr indent="0" marL="0">
              <a:lnSpc>
                <a:spcPct val="110000"/>
              </a:lnSpc>
              <a:buNone/>
            </a:pPr>
            <a:r>
              <a:rPr lang="en-US" sz="1080" dirty="0">
                <a:solidFill>
                  <a:srgbClr val="5F5F5F"/>
                </a:solidFill>
                <a:latin typeface="Calibri" pitchFamily="34" charset="0"/>
                <a:ea typeface="Calibri" pitchFamily="34" charset="-122"/>
                <a:cs typeface="Calibri" pitchFamily="34" charset="-120"/>
              </a:rPr>
              <a:t>A 4-part reading process: chunk, predict the passage, predict the answer, then go word-by-word.</a:t>
            </a:r>
            <a:endParaRPr lang="en-US" sz="1080" dirty="0"/>
          </a:p>
        </p:txBody>
      </p:sp>
      <p:sp>
        <p:nvSpPr>
          <p:cNvPr id="25" name="Shape 23"/>
          <p:cNvSpPr/>
          <p:nvPr/>
        </p:nvSpPr>
        <p:spPr>
          <a:xfrm>
            <a:off x="8048549" y="3538728"/>
            <a:ext cx="3503066" cy="1417320"/>
          </a:xfrm>
          <a:prstGeom prst="roundRect">
            <a:avLst>
              <a:gd name="adj" fmla="val 4516"/>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26" name="Shape 24"/>
          <p:cNvSpPr/>
          <p:nvPr/>
        </p:nvSpPr>
        <p:spPr>
          <a:xfrm>
            <a:off x="8231429" y="3739896"/>
            <a:ext cx="118872" cy="118872"/>
          </a:xfrm>
          <a:prstGeom prst="rect">
            <a:avLst/>
          </a:prstGeom>
          <a:solidFill>
            <a:srgbClr val="C9A84C"/>
          </a:solidFill>
          <a:ln/>
        </p:spPr>
      </p:sp>
      <p:sp>
        <p:nvSpPr>
          <p:cNvPr id="27" name="Text 25"/>
          <p:cNvSpPr/>
          <p:nvPr/>
        </p:nvSpPr>
        <p:spPr>
          <a:xfrm>
            <a:off x="8231429" y="3941064"/>
            <a:ext cx="3137306" cy="329184"/>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6 · Vocabulary-in-Context</a:t>
            </a:r>
            <a:endParaRPr lang="en-US" sz="1300" dirty="0"/>
          </a:p>
        </p:txBody>
      </p:sp>
      <p:sp>
        <p:nvSpPr>
          <p:cNvPr id="28" name="Text 26"/>
          <p:cNvSpPr/>
          <p:nvPr/>
        </p:nvSpPr>
        <p:spPr>
          <a:xfrm>
            <a:off x="8231429" y="4288536"/>
            <a:ext cx="3137306" cy="521208"/>
          </a:xfrm>
          <a:prstGeom prst="rect">
            <a:avLst/>
          </a:prstGeom>
          <a:noFill/>
          <a:ln/>
        </p:spPr>
        <p:txBody>
          <a:bodyPr wrap="square" lIns="0" tIns="0" rIns="0" bIns="0" rtlCol="0" anchor="ctr"/>
          <a:lstStyle/>
          <a:p>
            <a:pPr indent="0" marL="0">
              <a:lnSpc>
                <a:spcPct val="110000"/>
              </a:lnSpc>
              <a:buNone/>
            </a:pPr>
            <a:r>
              <a:rPr lang="en-US" sz="1080" dirty="0">
                <a:solidFill>
                  <a:srgbClr val="5F5F5F"/>
                </a:solidFill>
                <a:latin typeface="Calibri" pitchFamily="34" charset="0"/>
                <a:ea typeface="Calibri" pitchFamily="34" charset="-122"/>
                <a:cs typeface="Calibri" pitchFamily="34" charset="-120"/>
              </a:rPr>
              <a:t>Build your own synonym from the text before you ever look at an answer choice.</a:t>
            </a:r>
            <a:endParaRPr lang="en-US" sz="1080" dirty="0"/>
          </a:p>
        </p:txBody>
      </p:sp>
      <p:sp>
        <p:nvSpPr>
          <p:cNvPr id="29" name="Shape 27"/>
          <p:cNvSpPr/>
          <p:nvPr/>
        </p:nvSpPr>
        <p:spPr>
          <a:xfrm>
            <a:off x="640080" y="5303520"/>
            <a:ext cx="10911535" cy="658368"/>
          </a:xfrm>
          <a:prstGeom prst="roundRect">
            <a:avLst>
              <a:gd name="adj" fmla="val 8333"/>
            </a:avLst>
          </a:prstGeom>
          <a:solidFill>
            <a:srgbClr val="FFFFFF"/>
          </a:solidFill>
          <a:ln w="15875">
            <a:solidFill>
              <a:srgbClr val="C9A84C"/>
            </a:solidFill>
            <a:prstDash val="solid"/>
          </a:ln>
        </p:spPr>
      </p:sp>
      <p:sp>
        <p:nvSpPr>
          <p:cNvPr id="30" name="Text 28"/>
          <p:cNvSpPr/>
          <p:nvPr/>
        </p:nvSpPr>
        <p:spPr>
          <a:xfrm>
            <a:off x="932688" y="5303520"/>
            <a:ext cx="10326319" cy="658368"/>
          </a:xfrm>
          <a:prstGeom prst="rect">
            <a:avLst/>
          </a:prstGeom>
          <a:noFill/>
          <a:ln/>
        </p:spPr>
        <p:txBody>
          <a:bodyPr wrap="square" lIns="0" tIns="0" rIns="0" bIns="0" rtlCol="0" anchor="ctr"/>
          <a:lstStyle/>
          <a:p>
            <a:pPr indent="0" marL="0">
              <a:lnSpc>
                <a:spcPct val="115000"/>
              </a:lnSpc>
              <a:buNone/>
            </a:pPr>
            <a:r>
              <a:rPr lang="en-US" sz="130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300" b="1" dirty="0">
                <a:solidFill>
                  <a:srgbClr val="111111"/>
                </a:solidFill>
                <a:latin typeface="Calibri" pitchFamily="34" charset="0"/>
                <a:ea typeface="Calibri" pitchFamily="34" charset="-122"/>
                <a:cs typeface="Calibri" pitchFamily="34" charset="-120"/>
              </a:rPr>
              <a:t>One more thing sits above all six: overall test strategy — accuracy beats speed, and it's fine to never touch the hardest questions. We start there.</a:t>
            </a:r>
            <a:endParaRPr lang="en-US" sz="1300" dirty="0"/>
          </a:p>
        </p:txBody>
      </p:sp>
      <p:sp>
        <p:nvSpPr>
          <p:cNvPr id="31" name="Text 29"/>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32" name="Text 30"/>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BEFORE WE START · HOW TO USE THIS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Leave room to practice as you go</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Every system slide is followed by an example slide — that's where you work.</a:t>
            </a:r>
            <a:endParaRPr lang="en-US" sz="1350" dirty="0"/>
          </a:p>
        </p:txBody>
      </p:sp>
      <p:sp>
        <p:nvSpPr>
          <p:cNvPr id="5" name="Text 3"/>
          <p:cNvSpPr/>
          <p:nvPr/>
        </p:nvSpPr>
        <p:spPr>
          <a:xfrm>
            <a:off x="640080" y="196596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01</a:t>
            </a:r>
            <a:endParaRPr lang="en-US" sz="2100" dirty="0"/>
          </a:p>
        </p:txBody>
      </p:sp>
      <p:sp>
        <p:nvSpPr>
          <p:cNvPr id="6" name="Text 4"/>
          <p:cNvSpPr/>
          <p:nvPr/>
        </p:nvSpPr>
        <p:spPr>
          <a:xfrm>
            <a:off x="1508760" y="196596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Learn the rule</a:t>
            </a:r>
            <a:endParaRPr lang="en-US" sz="1450" dirty="0"/>
          </a:p>
        </p:txBody>
      </p:sp>
      <p:sp>
        <p:nvSpPr>
          <p:cNvPr id="7" name="Text 5"/>
          <p:cNvSpPr/>
          <p:nvPr/>
        </p:nvSpPr>
        <p:spPr>
          <a:xfrm>
            <a:off x="1508760" y="2331720"/>
            <a:ext cx="10042855" cy="66751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Read the system slide once. Most rules here take one pass to understand.</a:t>
            </a:r>
            <a:endParaRPr lang="en-US" sz="1200" dirty="0"/>
          </a:p>
        </p:txBody>
      </p:sp>
      <p:sp>
        <p:nvSpPr>
          <p:cNvPr id="8" name="Text 6"/>
          <p:cNvSpPr/>
          <p:nvPr/>
        </p:nvSpPr>
        <p:spPr>
          <a:xfrm>
            <a:off x="640080" y="301752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02</a:t>
            </a:r>
            <a:endParaRPr lang="en-US" sz="2100" dirty="0"/>
          </a:p>
        </p:txBody>
      </p:sp>
      <p:sp>
        <p:nvSpPr>
          <p:cNvPr id="9" name="Text 7"/>
          <p:cNvSpPr/>
          <p:nvPr/>
        </p:nvSpPr>
        <p:spPr>
          <a:xfrm>
            <a:off x="1508760" y="301752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Drop in a real question</a:t>
            </a:r>
            <a:endParaRPr lang="en-US" sz="1450" dirty="0"/>
          </a:p>
        </p:txBody>
      </p:sp>
      <p:sp>
        <p:nvSpPr>
          <p:cNvPr id="10" name="Text 8"/>
          <p:cNvSpPr/>
          <p:nvPr/>
        </p:nvSpPr>
        <p:spPr>
          <a:xfrm>
            <a:off x="1508760" y="3383280"/>
            <a:ext cx="10042855" cy="66751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Screenshot an official College Board question into the dashed placeholder box that follows.</a:t>
            </a:r>
            <a:endParaRPr lang="en-US" sz="1200" dirty="0"/>
          </a:p>
        </p:txBody>
      </p:sp>
      <p:sp>
        <p:nvSpPr>
          <p:cNvPr id="11" name="Text 9"/>
          <p:cNvSpPr/>
          <p:nvPr/>
        </p:nvSpPr>
        <p:spPr>
          <a:xfrm>
            <a:off x="640080" y="406908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03</a:t>
            </a:r>
            <a:endParaRPr lang="en-US" sz="2100" dirty="0"/>
          </a:p>
        </p:txBody>
      </p:sp>
      <p:sp>
        <p:nvSpPr>
          <p:cNvPr id="12" name="Text 10"/>
          <p:cNvSpPr/>
          <p:nvPr/>
        </p:nvSpPr>
        <p:spPr>
          <a:xfrm>
            <a:off x="1508760" y="406908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Talk through the process out loud</a:t>
            </a:r>
            <a:endParaRPr lang="en-US" sz="1450" dirty="0"/>
          </a:p>
        </p:txBody>
      </p:sp>
      <p:sp>
        <p:nvSpPr>
          <p:cNvPr id="13" name="Text 11"/>
          <p:cNvSpPr/>
          <p:nvPr/>
        </p:nvSpPr>
        <p:spPr>
          <a:xfrm>
            <a:off x="1508760" y="4434840"/>
            <a:ext cx="10042855" cy="66751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Name each step of the flowchart as you apply it — that's what turns knowledge into speed.</a:t>
            </a:r>
            <a:endParaRPr lang="en-US" sz="1200" dirty="0"/>
          </a:p>
        </p:txBody>
      </p:sp>
      <p:sp>
        <p:nvSpPr>
          <p:cNvPr id="14" name="Text 12"/>
          <p:cNvSpPr/>
          <p:nvPr/>
        </p:nvSpPr>
        <p:spPr>
          <a:xfrm>
            <a:off x="640080" y="51206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04</a:t>
            </a:r>
            <a:endParaRPr lang="en-US" sz="2100" dirty="0"/>
          </a:p>
        </p:txBody>
      </p:sp>
      <p:sp>
        <p:nvSpPr>
          <p:cNvPr id="15" name="Text 13"/>
          <p:cNvSpPr/>
          <p:nvPr/>
        </p:nvSpPr>
        <p:spPr>
          <a:xfrm>
            <a:off x="1508760" y="51206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Recap before you move on</a:t>
            </a:r>
            <a:endParaRPr lang="en-US" sz="1450" dirty="0"/>
          </a:p>
        </p:txBody>
      </p:sp>
      <p:sp>
        <p:nvSpPr>
          <p:cNvPr id="16" name="Text 14"/>
          <p:cNvSpPr/>
          <p:nvPr/>
        </p:nvSpPr>
        <p:spPr>
          <a:xfrm>
            <a:off x="1508760" y="5486400"/>
            <a:ext cx="10042855" cy="66751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Each section ends with a checklist. If you can't recite it from memory, re-read the section first.</a:t>
            </a:r>
            <a:endParaRPr lang="en-US" sz="1200" dirty="0"/>
          </a:p>
        </p:txBody>
      </p:sp>
      <p:sp>
        <p:nvSpPr>
          <p:cNvPr id="17" name="Text 1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8" name="Text 1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0271C"/>
        </a:solidFill>
      </p:bgPr>
    </p:bg>
    <p:spTree>
      <p:nvGrpSpPr>
        <p:cNvPr id="1" name=""/>
        <p:cNvGrpSpPr/>
        <p:nvPr/>
      </p:nvGrpSpPr>
      <p:grpSpPr>
        <a:xfrm>
          <a:off x="0" y="0"/>
          <a:ext cx="0" cy="0"/>
          <a:chOff x="0" y="0"/>
          <a:chExt cx="0" cy="0"/>
        </a:xfrm>
      </p:grpSpPr>
      <p:sp>
        <p:nvSpPr>
          <p:cNvPr id="2" name="Shape 0"/>
          <p:cNvSpPr/>
          <p:nvPr/>
        </p:nvSpPr>
        <p:spPr>
          <a:xfrm>
            <a:off x="9052560" y="-2194560"/>
            <a:ext cx="5852160" cy="5852160"/>
          </a:xfrm>
          <a:prstGeom prst="ellipse">
            <a:avLst/>
          </a:prstGeom>
          <a:solidFill>
            <a:srgbClr val="FFFFFF">
              <a:alpha val="12000"/>
            </a:srgbClr>
          </a:solidFill>
          <a:ln/>
        </p:spPr>
      </p:sp>
      <p:sp>
        <p:nvSpPr>
          <p:cNvPr id="3" name="Text 1"/>
          <p:cNvSpPr/>
          <p:nvPr/>
        </p:nvSpPr>
        <p:spPr>
          <a:xfrm>
            <a:off x="822960" y="2606040"/>
            <a:ext cx="9601200" cy="310896"/>
          </a:xfrm>
          <a:prstGeom prst="rect">
            <a:avLst/>
          </a:prstGeom>
          <a:noFill/>
          <a:ln/>
        </p:spPr>
        <p:txBody>
          <a:bodyPr wrap="square" lIns="0" tIns="0" rIns="0" bIns="0" rtlCol="0" anchor="ctr"/>
          <a:lstStyle/>
          <a:p>
            <a:pPr indent="0" marL="0">
              <a:buNone/>
            </a:pPr>
            <a:r>
              <a:rPr lang="en-US" sz="1350" b="1" spc="200" kern="0" dirty="0">
                <a:solidFill>
                  <a:srgbClr val="C9A84C"/>
                </a:solidFill>
                <a:latin typeface="Calibri" pitchFamily="34" charset="0"/>
                <a:ea typeface="Calibri" pitchFamily="34" charset="-122"/>
                <a:cs typeface="Calibri" pitchFamily="34" charset="-120"/>
              </a:rPr>
              <a:t>◆ SECTION 1 OF 7</a:t>
            </a:r>
            <a:endParaRPr lang="en-US" sz="1350" dirty="0"/>
          </a:p>
        </p:txBody>
      </p:sp>
      <p:sp>
        <p:nvSpPr>
          <p:cNvPr id="4" name="Text 2"/>
          <p:cNvSpPr/>
          <p:nvPr/>
        </p:nvSpPr>
        <p:spPr>
          <a:xfrm>
            <a:off x="777240" y="2971800"/>
            <a:ext cx="10241280" cy="12344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Overall Test Strategy</a:t>
            </a:r>
            <a:endParaRPr lang="en-US" sz="4200" dirty="0"/>
          </a:p>
        </p:txBody>
      </p:sp>
      <p:sp>
        <p:nvSpPr>
          <p:cNvPr id="5" name="Text 3"/>
          <p:cNvSpPr/>
          <p:nvPr/>
        </p:nvSpPr>
        <p:spPr>
          <a:xfrm>
            <a:off x="822960" y="4160520"/>
            <a:ext cx="8778240" cy="640080"/>
          </a:xfrm>
          <a:prstGeom prst="rect">
            <a:avLst/>
          </a:prstGeom>
          <a:noFill/>
          <a:ln/>
        </p:spPr>
        <p:txBody>
          <a:bodyPr wrap="square" lIns="0" tIns="0" rIns="0" bIns="0" rtlCol="0" anchor="ctr"/>
          <a:lstStyle/>
          <a:p>
            <a:pPr indent="0" marL="0">
              <a:lnSpc>
                <a:spcPct val="120000"/>
              </a:lnSpc>
              <a:buNone/>
            </a:pPr>
            <a:r>
              <a:rPr lang="en-US" sz="1500" dirty="0">
                <a:solidFill>
                  <a:srgbClr val="F0DCD9"/>
                </a:solidFill>
                <a:latin typeface="Calibri" pitchFamily="34" charset="0"/>
                <a:ea typeface="Calibri" pitchFamily="34" charset="-122"/>
                <a:cs typeface="Calibri" pitchFamily="34" charset="-120"/>
              </a:rPr>
              <a:t>Start here. Accuracy beats speed, and you are allowed to never touch the hardest questions on the test.</a:t>
            </a:r>
            <a:endParaRPr lang="en-US" sz="1500" dirty="0"/>
          </a:p>
        </p:txBody>
      </p:sp>
      <p:sp>
        <p:nvSpPr>
          <p:cNvPr id="6" name="Text 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E8C9C4"/>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7" name="Text 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E8C9C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OVERALL STRATEGY · THE CORE MINDSET</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Accuracy matters far more than speed</a:t>
            </a:r>
            <a:endParaRPr lang="en-US" sz="2900" dirty="0"/>
          </a:p>
        </p:txBody>
      </p:sp>
      <p:sp>
        <p:nvSpPr>
          <p:cNvPr id="4" name="Shape 2"/>
          <p:cNvSpPr/>
          <p:nvPr/>
        </p:nvSpPr>
        <p:spPr>
          <a:xfrm>
            <a:off x="640080" y="1965960"/>
            <a:ext cx="10911535" cy="914400"/>
          </a:xfrm>
          <a:prstGeom prst="roundRect">
            <a:avLst>
              <a:gd name="adj" fmla="val 6000"/>
            </a:avLst>
          </a:prstGeom>
          <a:solidFill>
            <a:srgbClr val="FFFFFF"/>
          </a:solidFill>
          <a:ln w="15875">
            <a:solidFill>
              <a:srgbClr val="C9A84C"/>
            </a:solidFill>
            <a:prstDash val="solid"/>
          </a:ln>
        </p:spPr>
      </p:sp>
      <p:sp>
        <p:nvSpPr>
          <p:cNvPr id="5" name="Text 3"/>
          <p:cNvSpPr/>
          <p:nvPr/>
        </p:nvSpPr>
        <p:spPr>
          <a:xfrm>
            <a:off x="932688" y="1965960"/>
            <a:ext cx="10326319" cy="91440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Even a 770-scoring, professional SAT tutor still runs out of time on the hardest question in reading &amp; writing. The test is not designed for every question to be answerable.</a:t>
            </a:r>
            <a:endParaRPr lang="en-US" sz="1450" dirty="0"/>
          </a:p>
        </p:txBody>
      </p:sp>
      <p:sp>
        <p:nvSpPr>
          <p:cNvPr id="6" name="Text 4"/>
          <p:cNvSpPr/>
          <p:nvPr/>
        </p:nvSpPr>
        <p:spPr>
          <a:xfrm>
            <a:off x="640080" y="310896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450" dirty="0">
                <a:solidFill>
                  <a:srgbClr val="111111"/>
                </a:solidFill>
                <a:latin typeface="Calibri" pitchFamily="34" charset="0"/>
                <a:ea typeface="Calibri" pitchFamily="34" charset="-122"/>
                <a:cs typeface="Calibri" pitchFamily="34" charset="-120"/>
              </a:rPr>
              <a:t>If you try to answer every question without the skill to do it properly, you shortcut your reading and fall for traps you'd otherwise catch.</a:t>
            </a:r>
            <a:endParaRPr lang="en-US" sz="1450" dirty="0"/>
          </a:p>
          <a:p>
            <a:pPr marL="203200" indent="-203200">
              <a:lnSpc>
                <a:spcPct val="115000"/>
              </a:lnSpc>
              <a:spcAft>
                <a:spcPts val="800"/>
              </a:spcAft>
              <a:buSzPct val="100000"/>
              <a:buChar char="•"/>
            </a:pPr>
            <a:r>
              <a:rPr lang="en-US" sz="1450" dirty="0">
                <a:solidFill>
                  <a:srgbClr val="111111"/>
                </a:solidFill>
                <a:latin typeface="Calibri" pitchFamily="34" charset="0"/>
                <a:ea typeface="Calibri" pitchFamily="34" charset="-122"/>
                <a:cs typeface="Calibri" pitchFamily="34" charset="-120"/>
              </a:rPr>
              <a:t>College Board has spent 99 years engineering wrong answers that look right to someone who skimmed — the hard questions are where this bites hardest.</a:t>
            </a:r>
            <a:endParaRPr lang="en-US" sz="1450" dirty="0"/>
          </a:p>
          <a:p>
            <a:pPr marL="203200" indent="-203200">
              <a:lnSpc>
                <a:spcPct val="115000"/>
              </a:lnSpc>
              <a:spcAft>
                <a:spcPts val="800"/>
              </a:spcAft>
              <a:buSzPct val="100000"/>
              <a:buChar char="•"/>
            </a:pPr>
            <a:r>
              <a:rPr lang="en-US" sz="1450" dirty="0">
                <a:solidFill>
                  <a:srgbClr val="111111"/>
                </a:solidFill>
                <a:latin typeface="Calibri" pitchFamily="34" charset="0"/>
                <a:ea typeface="Calibri" pitchFamily="34" charset="-122"/>
                <a:cs typeface="Calibri" pitchFamily="34" charset="-120"/>
              </a:rPr>
              <a:t>Give yourself permission to skip the questions that take the longest, and spend that time getting everything else 100% right instead.</a:t>
            </a:r>
            <a:endParaRPr lang="en-US" sz="145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OVERALL STRATEGY · WHY SKIPPING WORKS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Skipping the hardest questions makes the whole test easier</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Removing the longest-taking questions removes the entire reason the module felt hard.</a:t>
            </a:r>
            <a:endParaRPr lang="en-US" sz="1350" dirty="0"/>
          </a:p>
        </p:txBody>
      </p:sp>
      <p:sp>
        <p:nvSpPr>
          <p:cNvPr id="5" name="Text 3"/>
          <p:cNvSpPr/>
          <p:nvPr/>
        </p:nvSpPr>
        <p:spPr>
          <a:xfrm>
            <a:off x="640080" y="192024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450" dirty="0">
                <a:solidFill>
                  <a:srgbClr val="111111"/>
                </a:solidFill>
                <a:latin typeface="Calibri" pitchFamily="34" charset="0"/>
                <a:ea typeface="Calibri" pitchFamily="34" charset="-122"/>
                <a:cs typeface="Calibri" pitchFamily="34" charset="-120"/>
              </a:rPr>
              <a:t>What's usually left after skipping: grammar, transitions, bullet-point synthesis, and vocab questions — all short and fast.</a:t>
            </a:r>
            <a:endParaRPr lang="en-US" sz="1450" dirty="0"/>
          </a:p>
          <a:p>
            <a:pPr marL="203200" indent="-203200">
              <a:lnSpc>
                <a:spcPct val="115000"/>
              </a:lnSpc>
              <a:spcAft>
                <a:spcPts val="800"/>
              </a:spcAft>
              <a:buSzPct val="100000"/>
              <a:buChar char="•"/>
            </a:pPr>
            <a:r>
              <a:rPr lang="en-US" sz="1450" dirty="0">
                <a:solidFill>
                  <a:srgbClr val="111111"/>
                </a:solidFill>
                <a:latin typeface="Calibri" pitchFamily="34" charset="0"/>
                <a:ea typeface="Calibri" pitchFamily="34" charset="-122"/>
                <a:cs typeface="Calibri" pitchFamily="34" charset="-120"/>
              </a:rPr>
              <a:t>You get back real, meaningful time (often 10+ minutes per module) to spend making sure every remaining question is airtight.</a:t>
            </a:r>
            <a:endParaRPr lang="en-US" sz="1450" dirty="0"/>
          </a:p>
          <a:p>
            <a:pPr marL="203200" indent="-203200">
              <a:lnSpc>
                <a:spcPct val="115000"/>
              </a:lnSpc>
              <a:spcAft>
                <a:spcPts val="800"/>
              </a:spcAft>
              <a:buSzPct val="100000"/>
              <a:buChar char="•"/>
            </a:pPr>
            <a:r>
              <a:rPr lang="en-US" sz="1450" dirty="0">
                <a:solidFill>
                  <a:srgbClr val="111111"/>
                </a:solidFill>
                <a:latin typeface="Calibri" pitchFamily="34" charset="0"/>
                <a:ea typeface="Calibri" pitchFamily="34" charset="-122"/>
                <a:cs typeface="Calibri" pitchFamily="34" charset="-120"/>
              </a:rPr>
              <a:t>Worst case, you guess on the questions you skipped — a 25% shot is still better than the sub-25% you'd get by rushing them anyway.</a:t>
            </a:r>
            <a:endParaRPr lang="en-US" sz="1450" dirty="0"/>
          </a:p>
        </p:txBody>
      </p:sp>
      <p:sp>
        <p:nvSpPr>
          <p:cNvPr id="6" name="Text 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7" name="Text 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OVERALL STRATEGY · THE SKIP CHART</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How many questions to leave blank</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A starting guide — adjust up or down based on how much time you actually have left.</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11535" cy="914400"/>
        </p:xfrm>
        <a:graphic>
          <a:graphicData uri="http://schemas.openxmlformats.org/drawingml/2006/table">
            <a:tbl>
              <a:tblPr/>
              <a:tblGrid>
                <a:gridCol w="3637178"/>
                <a:gridCol w="3637178"/>
                <a:gridCol w="3637178"/>
              </a:tblGrid>
              <a:tr h="30632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R&amp;W Score</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Skip in Module 1</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Skip in Module 2 (hard)</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r>
              <a:tr h="306324">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520 or below</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9  (1 if Module 2 is easy)</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306324">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530–550</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r h="306324">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560–580</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306324">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590–620</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r h="306324">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630–640</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306324">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650–660</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r h="306324">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670–690</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306324">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700–730</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r h="306324">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740+</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5029200"/>
            <a:ext cx="10911535" cy="777240"/>
          </a:xfrm>
          <a:prstGeom prst="roundRect">
            <a:avLst>
              <a:gd name="adj" fmla="val 7059"/>
            </a:avLst>
          </a:prstGeom>
          <a:solidFill>
            <a:srgbClr val="FFFFFF"/>
          </a:solidFill>
          <a:ln w="15875">
            <a:solidFill>
              <a:srgbClr val="C9A84C"/>
            </a:solidFill>
            <a:prstDash val="solid"/>
          </a:ln>
        </p:spPr>
      </p:sp>
      <p:sp>
        <p:nvSpPr>
          <p:cNvPr id="7" name="Text 4"/>
          <p:cNvSpPr/>
          <p:nvPr/>
        </p:nvSpPr>
        <p:spPr>
          <a:xfrm>
            <a:off x="932688" y="5029200"/>
            <a:ext cx="10326319" cy="77724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Never try this strategy for the first time on an official test. Run it on at least one full practice test first, and be ready to skip a question the moment it's taking too long.</a:t>
            </a:r>
            <a:endParaRPr lang="en-US" sz="1450" dirty="0"/>
          </a:p>
        </p:txBody>
      </p:sp>
      <p:sp>
        <p:nvSpPr>
          <p:cNvPr id="8"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9"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OVERALL STRATEGY · VERIFYING ANSWERS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Every word in the right answer is in the text</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There's always exactly one defensible right answer — use that to double-check yourself.</a:t>
            </a:r>
            <a:endParaRPr lang="en-US" sz="1350" dirty="0"/>
          </a:p>
        </p:txBody>
      </p:sp>
      <p:sp>
        <p:nvSpPr>
          <p:cNvPr id="5" name="Text 3"/>
          <p:cNvSpPr/>
          <p:nvPr/>
        </p:nvSpPr>
        <p:spPr>
          <a:xfrm>
            <a:off x="640080" y="19202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01</a:t>
            </a:r>
            <a:endParaRPr lang="en-US" sz="2100" dirty="0"/>
          </a:p>
        </p:txBody>
      </p:sp>
      <p:sp>
        <p:nvSpPr>
          <p:cNvPr id="6" name="Text 4"/>
          <p:cNvSpPr/>
          <p:nvPr/>
        </p:nvSpPr>
        <p:spPr>
          <a:xfrm>
            <a:off x="1508760" y="19202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Read every answer choice, not just the one you like.</a:t>
            </a:r>
            <a:endParaRPr lang="en-US" sz="1450" dirty="0"/>
          </a:p>
        </p:txBody>
      </p:sp>
      <p:sp>
        <p:nvSpPr>
          <p:cNvPr id="7" name="Text 5"/>
          <p:cNvSpPr/>
          <p:nvPr/>
        </p:nvSpPr>
        <p:spPr>
          <a:xfrm>
            <a:off x="1508760" y="228600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Eliminate a choice the instant one word isn't supported by the passage.</a:t>
            </a:r>
            <a:endParaRPr lang="en-US" sz="1200" dirty="0"/>
          </a:p>
        </p:txBody>
      </p:sp>
      <p:sp>
        <p:nvSpPr>
          <p:cNvPr id="8" name="Text 6"/>
          <p:cNvSpPr/>
          <p:nvPr/>
        </p:nvSpPr>
        <p:spPr>
          <a:xfrm>
            <a:off x="640080" y="288036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02</a:t>
            </a:r>
            <a:endParaRPr lang="en-US" sz="2100" dirty="0"/>
          </a:p>
        </p:txBody>
      </p:sp>
      <p:sp>
        <p:nvSpPr>
          <p:cNvPr id="9" name="Text 7"/>
          <p:cNvSpPr/>
          <p:nvPr/>
        </p:nvSpPr>
        <p:spPr>
          <a:xfrm>
            <a:off x="1508760" y="288036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For your final pick, confirm every single word is backed by the text.</a:t>
            </a:r>
            <a:endParaRPr lang="en-US" sz="1450" dirty="0"/>
          </a:p>
        </p:txBody>
      </p:sp>
      <p:sp>
        <p:nvSpPr>
          <p:cNvPr id="10" name="Text 8"/>
          <p:cNvSpPr/>
          <p:nvPr/>
        </p:nvSpPr>
        <p:spPr>
          <a:xfrm>
            <a:off x="1508760" y="324612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Not just the general idea — the specific wording.</a:t>
            </a:r>
            <a:endParaRPr lang="en-US" sz="1200" dirty="0"/>
          </a:p>
        </p:txBody>
      </p:sp>
      <p:sp>
        <p:nvSpPr>
          <p:cNvPr id="11" name="Text 9"/>
          <p:cNvSpPr/>
          <p:nvPr/>
        </p:nvSpPr>
        <p:spPr>
          <a:xfrm>
            <a:off x="640080" y="384048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03</a:t>
            </a:r>
            <a:endParaRPr lang="en-US" sz="2100" dirty="0"/>
          </a:p>
        </p:txBody>
      </p:sp>
      <p:sp>
        <p:nvSpPr>
          <p:cNvPr id="12" name="Text 10"/>
          <p:cNvSpPr/>
          <p:nvPr/>
        </p:nvSpPr>
        <p:spPr>
          <a:xfrm>
            <a:off x="1508760" y="384048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Remember: to get a question wrong, you have to be wrong twice.</a:t>
            </a:r>
            <a:endParaRPr lang="en-US" sz="1450" dirty="0"/>
          </a:p>
        </p:txBody>
      </p:sp>
      <p:sp>
        <p:nvSpPr>
          <p:cNvPr id="13" name="Text 11"/>
          <p:cNvSpPr/>
          <p:nvPr/>
        </p:nvSpPr>
        <p:spPr>
          <a:xfrm>
            <a:off x="1508760" y="420624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You wrongly eliminated the right answer AND wrongly accepted a wrong one. That's hard to do if you're careful.</a:t>
            </a:r>
            <a:endParaRPr lang="en-US" sz="1200" dirty="0"/>
          </a:p>
        </p:txBody>
      </p:sp>
      <p:sp>
        <p:nvSpPr>
          <p:cNvPr id="14" name="Text 12"/>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5" name="Text 13"/>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OVERALL STRATEGY · VERIFICATION EXAMPLE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verify every word against the text</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READING QUESTION TO VERIFY</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For each answer choice, point to the exact word or phrase in the passage that supports (or contradicts) it.</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OVERALL STRATEGY · BEFORE TEST DAY</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Three things to keep in mind</a:t>
            </a:r>
            <a:endParaRPr lang="en-US" sz="2900" dirty="0"/>
          </a:p>
        </p:txBody>
      </p:sp>
      <p:sp>
        <p:nvSpPr>
          <p:cNvPr id="4" name="Shape 2"/>
          <p:cNvSpPr/>
          <p:nvPr/>
        </p:nvSpPr>
        <p:spPr>
          <a:xfrm>
            <a:off x="640080" y="1965960"/>
            <a:ext cx="3490874" cy="1737360"/>
          </a:xfrm>
          <a:prstGeom prst="roundRect">
            <a:avLst>
              <a:gd name="adj" fmla="val 3684"/>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5" name="Shape 3"/>
          <p:cNvSpPr/>
          <p:nvPr/>
        </p:nvSpPr>
        <p:spPr>
          <a:xfrm>
            <a:off x="822960" y="2167128"/>
            <a:ext cx="118872" cy="118872"/>
          </a:xfrm>
          <a:prstGeom prst="rect">
            <a:avLst/>
          </a:prstGeom>
          <a:solidFill>
            <a:srgbClr val="C9A84C"/>
          </a:solidFill>
          <a:ln/>
        </p:spPr>
      </p:sp>
      <p:sp>
        <p:nvSpPr>
          <p:cNvPr id="6" name="Text 4"/>
          <p:cNvSpPr/>
          <p:nvPr/>
        </p:nvSpPr>
        <p:spPr>
          <a:xfrm>
            <a:off x="822960" y="2368296"/>
            <a:ext cx="3125114" cy="329184"/>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Don't feel relaxed</a:t>
            </a:r>
            <a:endParaRPr lang="en-US" sz="1300" dirty="0"/>
          </a:p>
        </p:txBody>
      </p:sp>
      <p:sp>
        <p:nvSpPr>
          <p:cNvPr id="7" name="Text 5"/>
          <p:cNvSpPr/>
          <p:nvPr/>
        </p:nvSpPr>
        <p:spPr>
          <a:xfrm>
            <a:off x="822960" y="2715768"/>
            <a:ext cx="3125114" cy="841248"/>
          </a:xfrm>
          <a:prstGeom prst="rect">
            <a:avLst/>
          </a:prstGeom>
          <a:noFill/>
          <a:ln/>
        </p:spPr>
        <p:txBody>
          <a:bodyPr wrap="square" lIns="0" tIns="0" rIns="0" bIns="0" rtlCol="0" anchor="ctr"/>
          <a:lstStyle/>
          <a:p>
            <a:pPr indent="0" marL="0">
              <a:lnSpc>
                <a:spcPct val="110000"/>
              </a:lnSpc>
              <a:buNone/>
            </a:pPr>
            <a:r>
              <a:rPr lang="en-US" sz="1080" dirty="0">
                <a:solidFill>
                  <a:srgbClr val="5F5F5F"/>
                </a:solidFill>
                <a:latin typeface="Calibri" pitchFamily="34" charset="0"/>
                <a:ea typeface="Calibri" pitchFamily="34" charset="-122"/>
                <a:cs typeface="Calibri" pitchFamily="34" charset="-120"/>
              </a:rPr>
              <a:t>Extra time back is a reward for effort on the questions you DO answer, not a reason to coast — stay locked in on every word.</a:t>
            </a:r>
            <a:endParaRPr lang="en-US" sz="1080" dirty="0"/>
          </a:p>
        </p:txBody>
      </p:sp>
      <p:sp>
        <p:nvSpPr>
          <p:cNvPr id="8" name="Shape 6"/>
          <p:cNvSpPr/>
          <p:nvPr/>
        </p:nvSpPr>
        <p:spPr>
          <a:xfrm>
            <a:off x="4350410" y="1965960"/>
            <a:ext cx="3490874" cy="1737360"/>
          </a:xfrm>
          <a:prstGeom prst="roundRect">
            <a:avLst>
              <a:gd name="adj" fmla="val 3684"/>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9" name="Shape 7"/>
          <p:cNvSpPr/>
          <p:nvPr/>
        </p:nvSpPr>
        <p:spPr>
          <a:xfrm>
            <a:off x="4533290" y="2167128"/>
            <a:ext cx="118872" cy="118872"/>
          </a:xfrm>
          <a:prstGeom prst="rect">
            <a:avLst/>
          </a:prstGeom>
          <a:solidFill>
            <a:srgbClr val="C9A84C"/>
          </a:solidFill>
          <a:ln/>
        </p:spPr>
      </p:sp>
      <p:sp>
        <p:nvSpPr>
          <p:cNvPr id="10" name="Text 8"/>
          <p:cNvSpPr/>
          <p:nvPr/>
        </p:nvSpPr>
        <p:spPr>
          <a:xfrm>
            <a:off x="4533290" y="2368296"/>
            <a:ext cx="3125114" cy="329184"/>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Skip fast, not eventually</a:t>
            </a:r>
            <a:endParaRPr lang="en-US" sz="1300" dirty="0"/>
          </a:p>
        </p:txBody>
      </p:sp>
      <p:sp>
        <p:nvSpPr>
          <p:cNvPr id="11" name="Text 9"/>
          <p:cNvSpPr/>
          <p:nvPr/>
        </p:nvSpPr>
        <p:spPr>
          <a:xfrm>
            <a:off x="4533290" y="2715768"/>
            <a:ext cx="3125114" cy="841248"/>
          </a:xfrm>
          <a:prstGeom prst="rect">
            <a:avLst/>
          </a:prstGeom>
          <a:noFill/>
          <a:ln/>
        </p:spPr>
        <p:txBody>
          <a:bodyPr wrap="square" lIns="0" tIns="0" rIns="0" bIns="0" rtlCol="0" anchor="ctr"/>
          <a:lstStyle/>
          <a:p>
            <a:pPr indent="0" marL="0">
              <a:lnSpc>
                <a:spcPct val="110000"/>
              </a:lnSpc>
              <a:buNone/>
            </a:pPr>
            <a:r>
              <a:rPr lang="en-US" sz="1080" dirty="0">
                <a:solidFill>
                  <a:srgbClr val="5F5F5F"/>
                </a:solidFill>
                <a:latin typeface="Calibri" pitchFamily="34" charset="0"/>
                <a:ea typeface="Calibri" pitchFamily="34" charset="-122"/>
                <a:cs typeface="Calibri" pitchFamily="34" charset="-120"/>
              </a:rPr>
              <a:t>At every moment, work on whichever remaining question takes the least time. Never sink 10 minutes into one item.</a:t>
            </a:r>
            <a:endParaRPr lang="en-US" sz="1080" dirty="0"/>
          </a:p>
        </p:txBody>
      </p:sp>
      <p:sp>
        <p:nvSpPr>
          <p:cNvPr id="12" name="Shape 10"/>
          <p:cNvSpPr/>
          <p:nvPr/>
        </p:nvSpPr>
        <p:spPr>
          <a:xfrm>
            <a:off x="8060741" y="1965960"/>
            <a:ext cx="3490874" cy="1737360"/>
          </a:xfrm>
          <a:prstGeom prst="roundRect">
            <a:avLst>
              <a:gd name="adj" fmla="val 3684"/>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13" name="Shape 11"/>
          <p:cNvSpPr/>
          <p:nvPr/>
        </p:nvSpPr>
        <p:spPr>
          <a:xfrm>
            <a:off x="8243621" y="2167128"/>
            <a:ext cx="118872" cy="118872"/>
          </a:xfrm>
          <a:prstGeom prst="rect">
            <a:avLst/>
          </a:prstGeom>
          <a:solidFill>
            <a:srgbClr val="C9A84C"/>
          </a:solidFill>
          <a:ln/>
        </p:spPr>
      </p:sp>
      <p:sp>
        <p:nvSpPr>
          <p:cNvPr id="14" name="Text 12"/>
          <p:cNvSpPr/>
          <p:nvPr/>
        </p:nvSpPr>
        <p:spPr>
          <a:xfrm>
            <a:off x="8243621" y="2368296"/>
            <a:ext cx="3125114" cy="329184"/>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Never debut a new strategy on test day</a:t>
            </a:r>
            <a:endParaRPr lang="en-US" sz="1300" dirty="0"/>
          </a:p>
        </p:txBody>
      </p:sp>
      <p:sp>
        <p:nvSpPr>
          <p:cNvPr id="15" name="Text 13"/>
          <p:cNvSpPr/>
          <p:nvPr/>
        </p:nvSpPr>
        <p:spPr>
          <a:xfrm>
            <a:off x="8243621" y="2715768"/>
            <a:ext cx="3125114" cy="841248"/>
          </a:xfrm>
          <a:prstGeom prst="rect">
            <a:avLst/>
          </a:prstGeom>
          <a:noFill/>
          <a:ln/>
        </p:spPr>
        <p:txBody>
          <a:bodyPr wrap="square" lIns="0" tIns="0" rIns="0" bIns="0" rtlCol="0" anchor="ctr"/>
          <a:lstStyle/>
          <a:p>
            <a:pPr indent="0" marL="0">
              <a:lnSpc>
                <a:spcPct val="110000"/>
              </a:lnSpc>
              <a:buNone/>
            </a:pPr>
            <a:r>
              <a:rPr lang="en-US" sz="1080" dirty="0">
                <a:solidFill>
                  <a:srgbClr val="5F5F5F"/>
                </a:solidFill>
                <a:latin typeface="Calibri" pitchFamily="34" charset="0"/>
                <a:ea typeface="Calibri" pitchFamily="34" charset="-122"/>
                <a:cs typeface="Calibri" pitchFamily="34" charset="-120"/>
              </a:rPr>
              <a:t>Run this system on at least one full practice test first so it feels automatic before it counts.</a:t>
            </a:r>
            <a:endParaRPr lang="en-US" sz="1080" dirty="0"/>
          </a:p>
        </p:txBody>
      </p:sp>
      <p:sp>
        <p:nvSpPr>
          <p:cNvPr id="16" name="Shape 14"/>
          <p:cNvSpPr/>
          <p:nvPr/>
        </p:nvSpPr>
        <p:spPr>
          <a:xfrm>
            <a:off x="640080" y="4069080"/>
            <a:ext cx="10911535" cy="868680"/>
          </a:xfrm>
          <a:prstGeom prst="roundRect">
            <a:avLst>
              <a:gd name="adj" fmla="val 6316"/>
            </a:avLst>
          </a:prstGeom>
          <a:solidFill>
            <a:srgbClr val="FFFFFF"/>
          </a:solidFill>
          <a:ln w="15875">
            <a:solidFill>
              <a:srgbClr val="C9A84C"/>
            </a:solidFill>
            <a:prstDash val="solid"/>
          </a:ln>
        </p:spPr>
      </p:sp>
      <p:sp>
        <p:nvSpPr>
          <p:cNvPr id="17" name="Text 15"/>
          <p:cNvSpPr/>
          <p:nvPr/>
        </p:nvSpPr>
        <p:spPr>
          <a:xfrm>
            <a:off x="932688" y="4069080"/>
            <a:ext cx="10326319" cy="86868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You now have the mindset. The next sections are the exact systems you'll apply it to — starting with verbs.</a:t>
            </a:r>
            <a:endParaRPr lang="en-US" sz="1450" dirty="0"/>
          </a:p>
        </p:txBody>
      </p:sp>
      <p:sp>
        <p:nvSpPr>
          <p:cNvPr id="18" name="Text 1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9" name="Text 1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B0271C"/>
        </a:solidFill>
      </p:bgPr>
    </p:bg>
    <p:spTree>
      <p:nvGrpSpPr>
        <p:cNvPr id="1" name=""/>
        <p:cNvGrpSpPr/>
        <p:nvPr/>
      </p:nvGrpSpPr>
      <p:grpSpPr>
        <a:xfrm>
          <a:off x="0" y="0"/>
          <a:ext cx="0" cy="0"/>
          <a:chOff x="0" y="0"/>
          <a:chExt cx="0" cy="0"/>
        </a:xfrm>
      </p:grpSpPr>
      <p:sp>
        <p:nvSpPr>
          <p:cNvPr id="2" name="Shape 0"/>
          <p:cNvSpPr/>
          <p:nvPr/>
        </p:nvSpPr>
        <p:spPr>
          <a:xfrm>
            <a:off x="9052560" y="-2194560"/>
            <a:ext cx="5852160" cy="5852160"/>
          </a:xfrm>
          <a:prstGeom prst="ellipse">
            <a:avLst/>
          </a:prstGeom>
          <a:solidFill>
            <a:srgbClr val="FFFFFF">
              <a:alpha val="12000"/>
            </a:srgbClr>
          </a:solidFill>
          <a:ln/>
        </p:spPr>
      </p:sp>
      <p:sp>
        <p:nvSpPr>
          <p:cNvPr id="3" name="Text 1"/>
          <p:cNvSpPr/>
          <p:nvPr/>
        </p:nvSpPr>
        <p:spPr>
          <a:xfrm>
            <a:off x="822960" y="2606040"/>
            <a:ext cx="9601200" cy="310896"/>
          </a:xfrm>
          <a:prstGeom prst="rect">
            <a:avLst/>
          </a:prstGeom>
          <a:noFill/>
          <a:ln/>
        </p:spPr>
        <p:txBody>
          <a:bodyPr wrap="square" lIns="0" tIns="0" rIns="0" bIns="0" rtlCol="0" anchor="ctr"/>
          <a:lstStyle/>
          <a:p>
            <a:pPr indent="0" marL="0">
              <a:buNone/>
            </a:pPr>
            <a:r>
              <a:rPr lang="en-US" sz="1350" b="1" spc="200" kern="0" dirty="0">
                <a:solidFill>
                  <a:srgbClr val="C9A84C"/>
                </a:solidFill>
                <a:latin typeface="Calibri" pitchFamily="34" charset="0"/>
                <a:ea typeface="Calibri" pitchFamily="34" charset="-122"/>
                <a:cs typeface="Calibri" pitchFamily="34" charset="-120"/>
              </a:rPr>
              <a:t>◆ SECTION 2 OF 7</a:t>
            </a:r>
            <a:endParaRPr lang="en-US" sz="1350" dirty="0"/>
          </a:p>
        </p:txBody>
      </p:sp>
      <p:sp>
        <p:nvSpPr>
          <p:cNvPr id="4" name="Text 2"/>
          <p:cNvSpPr/>
          <p:nvPr/>
        </p:nvSpPr>
        <p:spPr>
          <a:xfrm>
            <a:off x="777240" y="2971800"/>
            <a:ext cx="10241280" cy="12344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Verb Questions</a:t>
            </a:r>
            <a:endParaRPr lang="en-US" sz="4200" dirty="0"/>
          </a:p>
        </p:txBody>
      </p:sp>
      <p:sp>
        <p:nvSpPr>
          <p:cNvPr id="5" name="Text 3"/>
          <p:cNvSpPr/>
          <p:nvPr/>
        </p:nvSpPr>
        <p:spPr>
          <a:xfrm>
            <a:off x="822960" y="4160520"/>
            <a:ext cx="8778240" cy="640080"/>
          </a:xfrm>
          <a:prstGeom prst="rect">
            <a:avLst/>
          </a:prstGeom>
          <a:noFill/>
          <a:ln/>
        </p:spPr>
        <p:txBody>
          <a:bodyPr wrap="square" lIns="0" tIns="0" rIns="0" bIns="0" rtlCol="0" anchor="ctr"/>
          <a:lstStyle/>
          <a:p>
            <a:pPr indent="0" marL="0">
              <a:lnSpc>
                <a:spcPct val="120000"/>
              </a:lnSpc>
              <a:buNone/>
            </a:pPr>
            <a:r>
              <a:rPr lang="en-US" sz="1500" dirty="0">
                <a:solidFill>
                  <a:srgbClr val="F0DCD9"/>
                </a:solidFill>
                <a:latin typeface="Calibri" pitchFamily="34" charset="0"/>
                <a:ea typeface="Calibri" pitchFamily="34" charset="-122"/>
                <a:cs typeface="Calibri" pitchFamily="34" charset="-120"/>
              </a:rPr>
              <a:t>~30% of all SAT grammar questions — and the majority solve almost instantly once you know the flowchart.</a:t>
            </a:r>
            <a:endParaRPr lang="en-US" sz="1500" dirty="0"/>
          </a:p>
        </p:txBody>
      </p:sp>
      <p:sp>
        <p:nvSpPr>
          <p:cNvPr id="6" name="Text 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E8C9C4"/>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7" name="Text 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E8C9C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DEFINITION</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What counts as a “verb question”</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Use the verb flowchart only when the answer choices are pure verb variations.</a:t>
            </a:r>
            <a:endParaRPr lang="en-US" sz="1350" dirty="0"/>
          </a:p>
        </p:txBody>
      </p:sp>
      <p:sp>
        <p:nvSpPr>
          <p:cNvPr id="5" name="Shape 3"/>
          <p:cNvSpPr/>
          <p:nvPr/>
        </p:nvSpPr>
        <p:spPr>
          <a:xfrm>
            <a:off x="640080" y="1965960"/>
            <a:ext cx="5318608" cy="2834640"/>
          </a:xfrm>
          <a:prstGeom prst="roundRect">
            <a:avLst>
              <a:gd name="adj" fmla="val 2258"/>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6" name="Text 4"/>
          <p:cNvSpPr/>
          <p:nvPr/>
        </p:nvSpPr>
        <p:spPr>
          <a:xfrm>
            <a:off x="877824"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 This is a verb question</a:t>
            </a:r>
            <a:endParaRPr lang="en-US" sz="1450" dirty="0"/>
          </a:p>
        </p:txBody>
      </p:sp>
      <p:sp>
        <p:nvSpPr>
          <p:cNvPr id="7" name="Text 5"/>
          <p:cNvSpPr/>
          <p:nvPr/>
        </p:nvSpPr>
        <p:spPr>
          <a:xfrm>
            <a:off x="877824" y="2551176"/>
            <a:ext cx="4843120" cy="206654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All four answer choices are just different forms of the same verb (e.g., refer / referred / referring / to refer).</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Adverbs next to the verb are fine — they don't change the classification.</a:t>
            </a:r>
            <a:endParaRPr lang="en-US" sz="1200" dirty="0"/>
          </a:p>
        </p:txBody>
      </p:sp>
      <p:sp>
        <p:nvSpPr>
          <p:cNvPr id="8" name="Shape 6"/>
          <p:cNvSpPr/>
          <p:nvPr/>
        </p:nvSpPr>
        <p:spPr>
          <a:xfrm>
            <a:off x="6233008" y="1965960"/>
            <a:ext cx="5318608" cy="2834640"/>
          </a:xfrm>
          <a:prstGeom prst="roundRect">
            <a:avLst>
              <a:gd name="adj" fmla="val 2258"/>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9" name="Text 7"/>
          <p:cNvSpPr/>
          <p:nvPr/>
        </p:nvSpPr>
        <p:spPr>
          <a:xfrm>
            <a:off x="6470752"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 This is NOT a verb question</a:t>
            </a:r>
            <a:endParaRPr lang="en-US" sz="1450" dirty="0"/>
          </a:p>
        </p:txBody>
      </p:sp>
      <p:sp>
        <p:nvSpPr>
          <p:cNvPr id="10" name="Text 8"/>
          <p:cNvSpPr/>
          <p:nvPr/>
        </p:nvSpPr>
        <p:spPr>
          <a:xfrm>
            <a:off x="6470752" y="2551176"/>
            <a:ext cx="4843120" cy="206654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If any answer choices differ in punctuation (a comma in A/B but not C/D), treat it as a punctuation question first.</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Only fall back to verb logic as a tiebreaker if punctuation rules don't settle it.</a:t>
            </a:r>
            <a:endParaRPr lang="en-US" sz="1200" dirty="0"/>
          </a:p>
        </p:txBody>
      </p:sp>
      <p:sp>
        <p:nvSpPr>
          <p:cNvPr id="11" name="Shape 9"/>
          <p:cNvSpPr/>
          <p:nvPr/>
        </p:nvSpPr>
        <p:spPr>
          <a:xfrm>
            <a:off x="640080" y="5029200"/>
            <a:ext cx="10911535" cy="777240"/>
          </a:xfrm>
          <a:prstGeom prst="roundRect">
            <a:avLst>
              <a:gd name="adj" fmla="val 7059"/>
            </a:avLst>
          </a:prstGeom>
          <a:solidFill>
            <a:srgbClr val="FFFFFF"/>
          </a:solidFill>
          <a:ln w="15875">
            <a:solidFill>
              <a:srgbClr val="C9A84C"/>
            </a:solidFill>
            <a:prstDash val="solid"/>
          </a:ln>
        </p:spPr>
      </p:sp>
      <p:sp>
        <p:nvSpPr>
          <p:cNvPr id="12" name="Text 10"/>
          <p:cNvSpPr/>
          <p:nvPr/>
        </p:nvSpPr>
        <p:spPr>
          <a:xfrm>
            <a:off x="932688" y="5029200"/>
            <a:ext cx="10326319" cy="77724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This section assumes you already know the punctuation system (Section 5). A few ideas — main verbs, independent clauses — are shared between both.</a:t>
            </a:r>
            <a:endParaRPr lang="en-US" sz="1450" dirty="0"/>
          </a:p>
        </p:txBody>
      </p:sp>
      <p:sp>
        <p:nvSpPr>
          <p:cNvPr id="13" name="Text 11"/>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4" name="Text 12"/>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THE BIG PICTURE</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700" b="1" dirty="0">
                <a:solidFill>
                  <a:srgbClr val="111111"/>
                </a:solidFill>
                <a:latin typeface="Cambria" pitchFamily="34" charset="0"/>
                <a:ea typeface="Cambria" pitchFamily="34" charset="-122"/>
                <a:cs typeface="Cambria" pitchFamily="34" charset="-120"/>
              </a:rPr>
              <a:t>The verb-question flowchart</a:t>
            </a:r>
            <a:endParaRPr lang="en-US" sz="27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One decision tree, checked top to bottom, solves every verb question on the SAT.</a:t>
            </a:r>
            <a:endParaRPr lang="en-US" sz="1350" dirty="0"/>
          </a:p>
        </p:txBody>
      </p:sp>
      <p:sp>
        <p:nvSpPr>
          <p:cNvPr id="5" name="Shape 3"/>
          <p:cNvSpPr/>
          <p:nvPr/>
        </p:nvSpPr>
        <p:spPr>
          <a:xfrm>
            <a:off x="640080" y="1755648"/>
            <a:ext cx="10911535" cy="420624"/>
          </a:xfrm>
          <a:prstGeom prst="roundRect">
            <a:avLst>
              <a:gd name="adj" fmla="val 11957"/>
            </a:avLst>
          </a:prstGeom>
          <a:solidFill>
            <a:srgbClr val="C9A84C"/>
          </a:solidFill>
          <a:ln w="15875">
            <a:solidFill>
              <a:srgbClr val="C9A84C"/>
            </a:solidFill>
            <a:prstDash val="solid"/>
          </a:ln>
        </p:spPr>
      </p:sp>
      <p:sp>
        <p:nvSpPr>
          <p:cNvPr id="6" name="Text 4"/>
          <p:cNvSpPr/>
          <p:nvPr/>
        </p:nvSpPr>
        <p:spPr>
          <a:xfrm>
            <a:off x="768096" y="1755648"/>
            <a:ext cx="10655503" cy="420624"/>
          </a:xfrm>
          <a:prstGeom prst="rect">
            <a:avLst/>
          </a:prstGeom>
          <a:noFill/>
          <a:ln/>
        </p:spPr>
        <p:txBody>
          <a:bodyPr wrap="square" lIns="0" tIns="0" rIns="0" bIns="0" rtlCol="0" anchor="ctr"/>
          <a:lstStyle/>
          <a:p>
            <a:pPr algn="ctr" indent="0" marL="0">
              <a:lnSpc>
                <a:spcPct val="103000"/>
              </a:lnSpc>
              <a:buNone/>
            </a:pPr>
            <a:r>
              <a:rPr lang="en-US" sz="1100" b="1" dirty="0">
                <a:solidFill>
                  <a:srgbClr val="111111"/>
                </a:solidFill>
                <a:latin typeface="Calibri" pitchFamily="34" charset="0"/>
                <a:ea typeface="Calibri" pitchFamily="34" charset="-122"/>
                <a:cs typeface="Calibri" pitchFamily="34" charset="-120"/>
              </a:rPr>
              <a:t>THE PROCESS TO SOLVE ALL VERB QUESTIONS (30% of SAT grammar questions)</a:t>
            </a:r>
            <a:endParaRPr lang="en-US" sz="1100" dirty="0"/>
          </a:p>
        </p:txBody>
      </p:sp>
      <p:sp>
        <p:nvSpPr>
          <p:cNvPr id="7" name="Shape 5"/>
          <p:cNvSpPr/>
          <p:nvPr/>
        </p:nvSpPr>
        <p:spPr>
          <a:xfrm>
            <a:off x="3086100" y="2176272"/>
            <a:ext cx="0" cy="182880"/>
          </a:xfrm>
          <a:prstGeom prst="line">
            <a:avLst/>
          </a:prstGeom>
          <a:noFill/>
          <a:ln w="15875">
            <a:solidFill>
              <a:srgbClr val="111111"/>
            </a:solidFill>
            <a:prstDash val="solid"/>
            <a:tailEnd type="triangle"/>
          </a:ln>
        </p:spPr>
      </p:sp>
      <p:sp>
        <p:nvSpPr>
          <p:cNvPr id="8" name="Shape 6"/>
          <p:cNvSpPr/>
          <p:nvPr/>
        </p:nvSpPr>
        <p:spPr>
          <a:xfrm>
            <a:off x="640080" y="2359152"/>
            <a:ext cx="4892040" cy="548640"/>
          </a:xfrm>
          <a:prstGeom prst="roundRect">
            <a:avLst>
              <a:gd name="adj" fmla="val 9167"/>
            </a:avLst>
          </a:prstGeom>
          <a:solidFill>
            <a:srgbClr val="FFFFFF"/>
          </a:solidFill>
          <a:ln w="15875">
            <a:solidFill>
              <a:srgbClr val="C9A84C"/>
            </a:solidFill>
            <a:prstDash val="solid"/>
          </a:ln>
        </p:spPr>
      </p:sp>
      <p:sp>
        <p:nvSpPr>
          <p:cNvPr id="9" name="Text 7"/>
          <p:cNvSpPr/>
          <p:nvPr/>
        </p:nvSpPr>
        <p:spPr>
          <a:xfrm>
            <a:off x="768096" y="2359152"/>
            <a:ext cx="4636008" cy="548640"/>
          </a:xfrm>
          <a:prstGeom prst="rect">
            <a:avLst/>
          </a:prstGeom>
          <a:noFill/>
          <a:ln/>
        </p:spPr>
        <p:txBody>
          <a:bodyPr wrap="square" lIns="0" tIns="0" rIns="0" bIns="0" rtlCol="0" anchor="ctr"/>
          <a:lstStyle/>
          <a:p>
            <a:pPr algn="ctr" indent="0" marL="0">
              <a:lnSpc>
                <a:spcPct val="103000"/>
              </a:lnSpc>
              <a:buNone/>
            </a:pPr>
            <a:r>
              <a:rPr lang="en-US" sz="1000" b="1" dirty="0">
                <a:solidFill>
                  <a:srgbClr val="111111"/>
                </a:solidFill>
                <a:latin typeface="Calibri" pitchFamily="34" charset="0"/>
                <a:ea typeface="Calibri" pitchFamily="34" charset="-122"/>
                <a:cs typeface="Calibri" pitchFamily="34" charset="-120"/>
              </a:rPr>
              <a:t>Right after the blank, is there a “by,” “as,” or “to” without a verb directly after?</a:t>
            </a:r>
            <a:endParaRPr lang="en-US" sz="1000" dirty="0"/>
          </a:p>
        </p:txBody>
      </p:sp>
      <p:sp>
        <p:nvSpPr>
          <p:cNvPr id="10" name="Shape 8"/>
          <p:cNvSpPr/>
          <p:nvPr/>
        </p:nvSpPr>
        <p:spPr>
          <a:xfrm>
            <a:off x="5852160" y="2359152"/>
            <a:ext cx="5699455" cy="548640"/>
          </a:xfrm>
          <a:prstGeom prst="roundRect">
            <a:avLst>
              <a:gd name="adj" fmla="val 9167"/>
            </a:avLst>
          </a:prstGeom>
          <a:solidFill>
            <a:srgbClr val="B0271C"/>
          </a:solidFill>
          <a:ln w="15875">
            <a:solidFill>
              <a:srgbClr val="333333"/>
            </a:solidFill>
            <a:prstDash val="solid"/>
          </a:ln>
        </p:spPr>
      </p:sp>
      <p:sp>
        <p:nvSpPr>
          <p:cNvPr id="11" name="Text 9"/>
          <p:cNvSpPr/>
          <p:nvPr/>
        </p:nvSpPr>
        <p:spPr>
          <a:xfrm>
            <a:off x="5980176" y="2359152"/>
            <a:ext cx="5443423" cy="548640"/>
          </a:xfrm>
          <a:prstGeom prst="rect">
            <a:avLst/>
          </a:prstGeom>
          <a:noFill/>
          <a:ln/>
        </p:spPr>
        <p:txBody>
          <a:bodyPr wrap="square" lIns="0" tIns="0" rIns="0" bIns="0" rtlCol="0" anchor="ctr"/>
          <a:lstStyle/>
          <a:p>
            <a:pPr algn="ctr" indent="0" marL="0">
              <a:lnSpc>
                <a:spcPct val="103000"/>
              </a:lnSpc>
              <a:buNone/>
            </a:pPr>
            <a:r>
              <a:rPr lang="en-US" sz="1050" b="1" dirty="0">
                <a:solidFill>
                  <a:srgbClr val="FFFFFF"/>
                </a:solidFill>
                <a:latin typeface="Calibri" pitchFamily="34" charset="0"/>
                <a:ea typeface="Calibri" pitchFamily="34" charset="-122"/>
                <a:cs typeface="Calibri" pitchFamily="34" charset="-120"/>
              </a:rPr>
              <a:t>Pick the ‑ed answer choice.</a:t>
            </a:r>
            <a:endParaRPr lang="en-US" sz="1050" dirty="0"/>
          </a:p>
          <a:p>
            <a:pPr algn="ctr" indent="0" marL="0">
              <a:lnSpc>
                <a:spcPct val="103000"/>
              </a:lnSpc>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
        <p:nvSpPr>
          <p:cNvPr id="12" name="Shape 10"/>
          <p:cNvSpPr/>
          <p:nvPr/>
        </p:nvSpPr>
        <p:spPr>
          <a:xfrm>
            <a:off x="5532120" y="2633472"/>
            <a:ext cx="320040" cy="0"/>
          </a:xfrm>
          <a:prstGeom prst="line">
            <a:avLst/>
          </a:prstGeom>
          <a:noFill/>
          <a:ln w="15875">
            <a:solidFill>
              <a:srgbClr val="111111"/>
            </a:solidFill>
            <a:prstDash val="solid"/>
            <a:tailEnd type="triangle"/>
          </a:ln>
        </p:spPr>
      </p:sp>
      <p:sp>
        <p:nvSpPr>
          <p:cNvPr id="13" name="Text 11"/>
          <p:cNvSpPr/>
          <p:nvPr/>
        </p:nvSpPr>
        <p:spPr>
          <a:xfrm>
            <a:off x="5417820" y="2359152"/>
            <a:ext cx="548640" cy="219456"/>
          </a:xfrm>
          <a:prstGeom prst="rect">
            <a:avLst/>
          </a:prstGeom>
          <a:noFill/>
          <a:ln/>
        </p:spPr>
        <p:txBody>
          <a:bodyPr wrap="square" lIns="0" tIns="0" rIns="0" bIns="0" rtlCol="0" anchor="ctr"/>
          <a:lstStyle/>
          <a:p>
            <a:pPr algn="ctr" indent="0" marL="0">
              <a:buNone/>
            </a:pPr>
            <a:r>
              <a:rPr lang="en-US" sz="950" b="1" i="1" dirty="0">
                <a:solidFill>
                  <a:srgbClr val="8A6A28"/>
                </a:solidFill>
                <a:latin typeface="Calibri" pitchFamily="34" charset="0"/>
                <a:ea typeface="Calibri" pitchFamily="34" charset="-122"/>
                <a:cs typeface="Calibri" pitchFamily="34" charset="-120"/>
              </a:rPr>
              <a:t>Yes</a:t>
            </a:r>
            <a:endParaRPr lang="en-US" sz="950" dirty="0"/>
          </a:p>
        </p:txBody>
      </p:sp>
      <p:sp>
        <p:nvSpPr>
          <p:cNvPr id="14" name="Shape 12"/>
          <p:cNvSpPr/>
          <p:nvPr/>
        </p:nvSpPr>
        <p:spPr>
          <a:xfrm>
            <a:off x="3086100" y="2907792"/>
            <a:ext cx="0" cy="146304"/>
          </a:xfrm>
          <a:prstGeom prst="line">
            <a:avLst/>
          </a:prstGeom>
          <a:noFill/>
          <a:ln w="15875">
            <a:solidFill>
              <a:srgbClr val="111111"/>
            </a:solidFill>
            <a:prstDash val="solid"/>
            <a:tailEnd type="triangle"/>
          </a:ln>
        </p:spPr>
      </p:sp>
      <p:sp>
        <p:nvSpPr>
          <p:cNvPr id="15" name="Text 13"/>
          <p:cNvSpPr/>
          <p:nvPr/>
        </p:nvSpPr>
        <p:spPr>
          <a:xfrm>
            <a:off x="3140964" y="2852928"/>
            <a:ext cx="548640" cy="237744"/>
          </a:xfrm>
          <a:prstGeom prst="rect">
            <a:avLst/>
          </a:prstGeom>
          <a:noFill/>
          <a:ln/>
        </p:spPr>
        <p:txBody>
          <a:bodyPr wrap="square" lIns="0" tIns="0" rIns="0" bIns="0" rtlCol="0" anchor="ctr"/>
          <a:lstStyle/>
          <a:p>
            <a:pPr indent="0" marL="0">
              <a:buNone/>
            </a:pPr>
            <a:r>
              <a:rPr lang="en-US" sz="950" b="1" i="1" dirty="0">
                <a:solidFill>
                  <a:srgbClr val="8A6A28"/>
                </a:solidFill>
                <a:latin typeface="Calibri" pitchFamily="34" charset="0"/>
                <a:ea typeface="Calibri" pitchFamily="34" charset="-122"/>
                <a:cs typeface="Calibri" pitchFamily="34" charset="-120"/>
              </a:rPr>
              <a:t>No · 93%</a:t>
            </a:r>
            <a:endParaRPr lang="en-US" sz="950" dirty="0"/>
          </a:p>
        </p:txBody>
      </p:sp>
      <p:sp>
        <p:nvSpPr>
          <p:cNvPr id="16" name="Shape 14"/>
          <p:cNvSpPr/>
          <p:nvPr/>
        </p:nvSpPr>
        <p:spPr>
          <a:xfrm>
            <a:off x="640080" y="3054096"/>
            <a:ext cx="4892040" cy="548640"/>
          </a:xfrm>
          <a:prstGeom prst="roundRect">
            <a:avLst>
              <a:gd name="adj" fmla="val 9167"/>
            </a:avLst>
          </a:prstGeom>
          <a:solidFill>
            <a:srgbClr val="FFFFFF"/>
          </a:solidFill>
          <a:ln w="15875">
            <a:solidFill>
              <a:srgbClr val="C9A84C"/>
            </a:solidFill>
            <a:prstDash val="solid"/>
          </a:ln>
        </p:spPr>
      </p:sp>
      <p:sp>
        <p:nvSpPr>
          <p:cNvPr id="17" name="Text 15"/>
          <p:cNvSpPr/>
          <p:nvPr/>
        </p:nvSpPr>
        <p:spPr>
          <a:xfrm>
            <a:off x="768096" y="3054096"/>
            <a:ext cx="4636008" cy="548640"/>
          </a:xfrm>
          <a:prstGeom prst="rect">
            <a:avLst/>
          </a:prstGeom>
          <a:noFill/>
          <a:ln/>
        </p:spPr>
        <p:txBody>
          <a:bodyPr wrap="square" lIns="0" tIns="0" rIns="0" bIns="0" rtlCol="0" anchor="ctr"/>
          <a:lstStyle/>
          <a:p>
            <a:pPr algn="ctr" indent="0" marL="0">
              <a:lnSpc>
                <a:spcPct val="103000"/>
              </a:lnSpc>
              <a:buNone/>
            </a:pPr>
            <a:r>
              <a:rPr lang="en-US" sz="1100" b="1" dirty="0">
                <a:solidFill>
                  <a:srgbClr val="111111"/>
                </a:solidFill>
                <a:latin typeface="Calibri" pitchFamily="34" charset="0"/>
                <a:ea typeface="Calibri" pitchFamily="34" charset="-122"/>
                <a:cs typeface="Calibri" pitchFamily="34" charset="-120"/>
              </a:rPr>
              <a:t>Is it one of the 3 answer choice shortcuts?</a:t>
            </a:r>
            <a:endParaRPr lang="en-US" sz="1100" dirty="0"/>
          </a:p>
        </p:txBody>
      </p:sp>
      <p:sp>
        <p:nvSpPr>
          <p:cNvPr id="18" name="Shape 16"/>
          <p:cNvSpPr/>
          <p:nvPr/>
        </p:nvSpPr>
        <p:spPr>
          <a:xfrm>
            <a:off x="5852160" y="3054096"/>
            <a:ext cx="5699455" cy="548640"/>
          </a:xfrm>
          <a:prstGeom prst="roundRect">
            <a:avLst>
              <a:gd name="adj" fmla="val 9167"/>
            </a:avLst>
          </a:prstGeom>
          <a:solidFill>
            <a:srgbClr val="B0271C"/>
          </a:solidFill>
          <a:ln w="15875">
            <a:solidFill>
              <a:srgbClr val="333333"/>
            </a:solidFill>
            <a:prstDash val="solid"/>
          </a:ln>
        </p:spPr>
      </p:sp>
      <p:sp>
        <p:nvSpPr>
          <p:cNvPr id="19" name="Text 17"/>
          <p:cNvSpPr/>
          <p:nvPr/>
        </p:nvSpPr>
        <p:spPr>
          <a:xfrm>
            <a:off x="5980176" y="3054096"/>
            <a:ext cx="5443423" cy="548640"/>
          </a:xfrm>
          <a:prstGeom prst="rect">
            <a:avLst/>
          </a:prstGeom>
          <a:noFill/>
          <a:ln/>
        </p:spPr>
        <p:txBody>
          <a:bodyPr wrap="square" lIns="0" tIns="0" rIns="0" bIns="0" rtlCol="0" anchor="ctr"/>
          <a:lstStyle/>
          <a:p>
            <a:pPr algn="ctr" indent="0" marL="0">
              <a:lnSpc>
                <a:spcPct val="103000"/>
              </a:lnSpc>
              <a:buNone/>
            </a:pPr>
            <a:r>
              <a:rPr lang="en-US" sz="950" b="1" dirty="0">
                <a:solidFill>
                  <a:srgbClr val="FFFFFF"/>
                </a:solidFill>
                <a:latin typeface="Calibri" pitchFamily="34" charset="0"/>
                <a:ea typeface="Calibri" pitchFamily="34" charset="-122"/>
                <a:cs typeface="Calibri" pitchFamily="34" charset="-120"/>
              </a:rPr>
              <a:t>Pick the odd one out — or look for context clues for past, present, or future tense.</a:t>
            </a:r>
            <a:endParaRPr lang="en-US" sz="950" dirty="0"/>
          </a:p>
          <a:p>
            <a:pPr algn="ctr" indent="0" marL="0">
              <a:lnSpc>
                <a:spcPct val="103000"/>
              </a:lnSpc>
              <a:buNone/>
            </a:pPr>
            <a:r>
              <a:rPr lang="en-US" sz="950" b="1" dirty="0">
                <a:solidFill>
                  <a:srgbClr val="FFFFFF"/>
                </a:solidFill>
                <a:latin typeface="Calibri" pitchFamily="34" charset="0"/>
                <a:ea typeface="Calibri" pitchFamily="34" charset="-122"/>
                <a:cs typeface="Calibri" pitchFamily="34" charset="-120"/>
              </a:rPr>
              <a:t>45%</a:t>
            </a:r>
            <a:endParaRPr lang="en-US" sz="950" dirty="0"/>
          </a:p>
        </p:txBody>
      </p:sp>
      <p:sp>
        <p:nvSpPr>
          <p:cNvPr id="20" name="Shape 18"/>
          <p:cNvSpPr/>
          <p:nvPr/>
        </p:nvSpPr>
        <p:spPr>
          <a:xfrm>
            <a:off x="5532120" y="3328416"/>
            <a:ext cx="320040" cy="0"/>
          </a:xfrm>
          <a:prstGeom prst="line">
            <a:avLst/>
          </a:prstGeom>
          <a:noFill/>
          <a:ln w="15875">
            <a:solidFill>
              <a:srgbClr val="111111"/>
            </a:solidFill>
            <a:prstDash val="solid"/>
            <a:tailEnd type="triangle"/>
          </a:ln>
        </p:spPr>
      </p:sp>
      <p:sp>
        <p:nvSpPr>
          <p:cNvPr id="21" name="Text 19"/>
          <p:cNvSpPr/>
          <p:nvPr/>
        </p:nvSpPr>
        <p:spPr>
          <a:xfrm>
            <a:off x="5417820" y="3054096"/>
            <a:ext cx="548640" cy="219456"/>
          </a:xfrm>
          <a:prstGeom prst="rect">
            <a:avLst/>
          </a:prstGeom>
          <a:noFill/>
          <a:ln/>
        </p:spPr>
        <p:txBody>
          <a:bodyPr wrap="square" lIns="0" tIns="0" rIns="0" bIns="0" rtlCol="0" anchor="ctr"/>
          <a:lstStyle/>
          <a:p>
            <a:pPr algn="ctr" indent="0" marL="0">
              <a:buNone/>
            </a:pPr>
            <a:r>
              <a:rPr lang="en-US" sz="950" b="1" i="1" dirty="0">
                <a:solidFill>
                  <a:srgbClr val="8A6A28"/>
                </a:solidFill>
                <a:latin typeface="Calibri" pitchFamily="34" charset="0"/>
                <a:ea typeface="Calibri" pitchFamily="34" charset="-122"/>
                <a:cs typeface="Calibri" pitchFamily="34" charset="-120"/>
              </a:rPr>
              <a:t>Yes</a:t>
            </a:r>
            <a:endParaRPr lang="en-US" sz="950" dirty="0"/>
          </a:p>
        </p:txBody>
      </p:sp>
      <p:sp>
        <p:nvSpPr>
          <p:cNvPr id="22" name="Shape 20"/>
          <p:cNvSpPr/>
          <p:nvPr/>
        </p:nvSpPr>
        <p:spPr>
          <a:xfrm>
            <a:off x="3086100" y="3602736"/>
            <a:ext cx="0" cy="146304"/>
          </a:xfrm>
          <a:prstGeom prst="line">
            <a:avLst/>
          </a:prstGeom>
          <a:noFill/>
          <a:ln w="15875">
            <a:solidFill>
              <a:srgbClr val="111111"/>
            </a:solidFill>
            <a:prstDash val="solid"/>
            <a:tailEnd type="triangle"/>
          </a:ln>
        </p:spPr>
      </p:sp>
      <p:sp>
        <p:nvSpPr>
          <p:cNvPr id="23" name="Text 21"/>
          <p:cNvSpPr/>
          <p:nvPr/>
        </p:nvSpPr>
        <p:spPr>
          <a:xfrm>
            <a:off x="3140964" y="3547872"/>
            <a:ext cx="548640" cy="237744"/>
          </a:xfrm>
          <a:prstGeom prst="rect">
            <a:avLst/>
          </a:prstGeom>
          <a:noFill/>
          <a:ln/>
        </p:spPr>
        <p:txBody>
          <a:bodyPr wrap="square" lIns="0" tIns="0" rIns="0" bIns="0" rtlCol="0" anchor="ctr"/>
          <a:lstStyle/>
          <a:p>
            <a:pPr indent="0" marL="0">
              <a:buNone/>
            </a:pPr>
            <a:r>
              <a:rPr lang="en-US" sz="950" b="1" i="1" dirty="0">
                <a:solidFill>
                  <a:srgbClr val="8A6A28"/>
                </a:solidFill>
                <a:latin typeface="Calibri" pitchFamily="34" charset="0"/>
                <a:ea typeface="Calibri" pitchFamily="34" charset="-122"/>
                <a:cs typeface="Calibri" pitchFamily="34" charset="-120"/>
              </a:rPr>
              <a:t>No · 48%</a:t>
            </a:r>
            <a:endParaRPr lang="en-US" sz="950" dirty="0"/>
          </a:p>
        </p:txBody>
      </p:sp>
      <p:sp>
        <p:nvSpPr>
          <p:cNvPr id="24" name="Shape 22"/>
          <p:cNvSpPr/>
          <p:nvPr/>
        </p:nvSpPr>
        <p:spPr>
          <a:xfrm>
            <a:off x="640080" y="3749040"/>
            <a:ext cx="4892040" cy="731520"/>
          </a:xfrm>
          <a:prstGeom prst="roundRect">
            <a:avLst>
              <a:gd name="adj" fmla="val 6875"/>
            </a:avLst>
          </a:prstGeom>
          <a:solidFill>
            <a:srgbClr val="FFFFFF"/>
          </a:solidFill>
          <a:ln w="15875">
            <a:solidFill>
              <a:srgbClr val="C9A84C"/>
            </a:solidFill>
            <a:prstDash val="solid"/>
          </a:ln>
        </p:spPr>
      </p:sp>
      <p:sp>
        <p:nvSpPr>
          <p:cNvPr id="25" name="Text 23"/>
          <p:cNvSpPr/>
          <p:nvPr/>
        </p:nvSpPr>
        <p:spPr>
          <a:xfrm>
            <a:off x="768096" y="3749040"/>
            <a:ext cx="4636008" cy="731520"/>
          </a:xfrm>
          <a:prstGeom prst="rect">
            <a:avLst/>
          </a:prstGeom>
          <a:noFill/>
          <a:ln/>
        </p:spPr>
        <p:txBody>
          <a:bodyPr wrap="square" lIns="0" tIns="0" rIns="0" bIns="0" rtlCol="0" anchor="ctr"/>
          <a:lstStyle/>
          <a:p>
            <a:pPr algn="ctr" indent="0" marL="0">
              <a:lnSpc>
                <a:spcPct val="103000"/>
              </a:lnSpc>
              <a:buNone/>
            </a:pPr>
            <a:r>
              <a:rPr lang="en-US" sz="950" b="1" dirty="0">
                <a:solidFill>
                  <a:srgbClr val="111111"/>
                </a:solidFill>
                <a:latin typeface="Calibri" pitchFamily="34" charset="0"/>
                <a:ea typeface="Calibri" pitchFamily="34" charset="-122"/>
                <a:cs typeface="Calibri" pitchFamily="34" charset="-120"/>
              </a:rPr>
              <a:t>Read the sentence the blank is in. Is there a main verb already in the sentence? (Watch out for lists.)</a:t>
            </a:r>
            <a:endParaRPr lang="en-US" sz="950" dirty="0"/>
          </a:p>
        </p:txBody>
      </p:sp>
      <p:sp>
        <p:nvSpPr>
          <p:cNvPr id="26" name="Shape 24"/>
          <p:cNvSpPr/>
          <p:nvPr/>
        </p:nvSpPr>
        <p:spPr>
          <a:xfrm>
            <a:off x="5852160" y="3749040"/>
            <a:ext cx="5699455" cy="731520"/>
          </a:xfrm>
          <a:prstGeom prst="roundRect">
            <a:avLst>
              <a:gd name="adj" fmla="val 6875"/>
            </a:avLst>
          </a:prstGeom>
          <a:solidFill>
            <a:srgbClr val="B0271C"/>
          </a:solidFill>
          <a:ln w="15875">
            <a:solidFill>
              <a:srgbClr val="333333"/>
            </a:solidFill>
            <a:prstDash val="solid"/>
          </a:ln>
        </p:spPr>
      </p:sp>
      <p:sp>
        <p:nvSpPr>
          <p:cNvPr id="27" name="Text 25"/>
          <p:cNvSpPr/>
          <p:nvPr/>
        </p:nvSpPr>
        <p:spPr>
          <a:xfrm>
            <a:off x="5980176" y="3749040"/>
            <a:ext cx="5443423" cy="731520"/>
          </a:xfrm>
          <a:prstGeom prst="rect">
            <a:avLst/>
          </a:prstGeom>
          <a:noFill/>
          <a:ln/>
        </p:spPr>
        <p:txBody>
          <a:bodyPr wrap="square" lIns="0" tIns="0" rIns="0" bIns="0" rtlCol="0" anchor="ctr"/>
          <a:lstStyle/>
          <a:p>
            <a:pPr algn="ctr" indent="0" marL="0">
              <a:lnSpc>
                <a:spcPct val="103000"/>
              </a:lnSpc>
              <a:buNone/>
            </a:pPr>
            <a:r>
              <a:rPr lang="en-US" sz="900" b="1" dirty="0">
                <a:solidFill>
                  <a:srgbClr val="FFFFFF"/>
                </a:solidFill>
                <a:latin typeface="Calibri" pitchFamily="34" charset="0"/>
                <a:ea typeface="Calibri" pitchFamily="34" charset="-122"/>
                <a:cs typeface="Calibri" pitchFamily="34" charset="-120"/>
              </a:rPr>
              <a:t>Pick the non-main verb. Multiple non-main choices? Is the blank in a nonessential element? If yes, pick ‑ing. If no, pick “to ___.”</a:t>
            </a:r>
            <a:endParaRPr lang="en-US" sz="900" dirty="0"/>
          </a:p>
          <a:p>
            <a:pPr algn="ctr" indent="0" marL="0">
              <a:lnSpc>
                <a:spcPct val="103000"/>
              </a:lnSpc>
              <a:buNone/>
            </a:pPr>
            <a:r>
              <a:rPr lang="en-US" sz="900" b="1" dirty="0">
                <a:solidFill>
                  <a:srgbClr val="FFFFFF"/>
                </a:solidFill>
                <a:latin typeface="Calibri" pitchFamily="34" charset="0"/>
                <a:ea typeface="Calibri" pitchFamily="34" charset="-122"/>
                <a:cs typeface="Calibri" pitchFamily="34" charset="-120"/>
              </a:rPr>
              <a:t>24%</a:t>
            </a:r>
            <a:endParaRPr lang="en-US" sz="900" dirty="0"/>
          </a:p>
        </p:txBody>
      </p:sp>
      <p:sp>
        <p:nvSpPr>
          <p:cNvPr id="28" name="Shape 26"/>
          <p:cNvSpPr/>
          <p:nvPr/>
        </p:nvSpPr>
        <p:spPr>
          <a:xfrm>
            <a:off x="5532120" y="4114800"/>
            <a:ext cx="320040" cy="0"/>
          </a:xfrm>
          <a:prstGeom prst="line">
            <a:avLst/>
          </a:prstGeom>
          <a:noFill/>
          <a:ln w="15875">
            <a:solidFill>
              <a:srgbClr val="111111"/>
            </a:solidFill>
            <a:prstDash val="solid"/>
            <a:tailEnd type="triangle"/>
          </a:ln>
        </p:spPr>
      </p:sp>
      <p:sp>
        <p:nvSpPr>
          <p:cNvPr id="29" name="Text 27"/>
          <p:cNvSpPr/>
          <p:nvPr/>
        </p:nvSpPr>
        <p:spPr>
          <a:xfrm>
            <a:off x="5417820" y="3840480"/>
            <a:ext cx="548640" cy="219456"/>
          </a:xfrm>
          <a:prstGeom prst="rect">
            <a:avLst/>
          </a:prstGeom>
          <a:noFill/>
          <a:ln/>
        </p:spPr>
        <p:txBody>
          <a:bodyPr wrap="square" lIns="0" tIns="0" rIns="0" bIns="0" rtlCol="0" anchor="ctr"/>
          <a:lstStyle/>
          <a:p>
            <a:pPr algn="ctr" indent="0" marL="0">
              <a:buNone/>
            </a:pPr>
            <a:r>
              <a:rPr lang="en-US" sz="950" b="1" i="1" dirty="0">
                <a:solidFill>
                  <a:srgbClr val="8A6A28"/>
                </a:solidFill>
                <a:latin typeface="Calibri" pitchFamily="34" charset="0"/>
                <a:ea typeface="Calibri" pitchFamily="34" charset="-122"/>
                <a:cs typeface="Calibri" pitchFamily="34" charset="-120"/>
              </a:rPr>
              <a:t>Yes</a:t>
            </a:r>
            <a:endParaRPr lang="en-US" sz="950" dirty="0"/>
          </a:p>
        </p:txBody>
      </p:sp>
      <p:sp>
        <p:nvSpPr>
          <p:cNvPr id="30" name="Shape 28"/>
          <p:cNvSpPr/>
          <p:nvPr/>
        </p:nvSpPr>
        <p:spPr>
          <a:xfrm>
            <a:off x="3086100" y="4480560"/>
            <a:ext cx="0" cy="146304"/>
          </a:xfrm>
          <a:prstGeom prst="line">
            <a:avLst/>
          </a:prstGeom>
          <a:noFill/>
          <a:ln w="15875">
            <a:solidFill>
              <a:srgbClr val="111111"/>
            </a:solidFill>
            <a:prstDash val="solid"/>
            <a:tailEnd type="triangle"/>
          </a:ln>
        </p:spPr>
      </p:sp>
      <p:sp>
        <p:nvSpPr>
          <p:cNvPr id="31" name="Text 29"/>
          <p:cNvSpPr/>
          <p:nvPr/>
        </p:nvSpPr>
        <p:spPr>
          <a:xfrm>
            <a:off x="3140964" y="4425696"/>
            <a:ext cx="548640" cy="237744"/>
          </a:xfrm>
          <a:prstGeom prst="rect">
            <a:avLst/>
          </a:prstGeom>
          <a:noFill/>
          <a:ln/>
        </p:spPr>
        <p:txBody>
          <a:bodyPr wrap="square" lIns="0" tIns="0" rIns="0" bIns="0" rtlCol="0" anchor="ctr"/>
          <a:lstStyle/>
          <a:p>
            <a:pPr indent="0" marL="0">
              <a:buNone/>
            </a:pPr>
            <a:r>
              <a:rPr lang="en-US" sz="950" b="1" i="1" dirty="0">
                <a:solidFill>
                  <a:srgbClr val="8A6A28"/>
                </a:solidFill>
                <a:latin typeface="Calibri" pitchFamily="34" charset="0"/>
                <a:ea typeface="Calibri" pitchFamily="34" charset="-122"/>
                <a:cs typeface="Calibri" pitchFamily="34" charset="-120"/>
              </a:rPr>
              <a:t>No · 31%</a:t>
            </a:r>
            <a:endParaRPr lang="en-US" sz="950" dirty="0"/>
          </a:p>
        </p:txBody>
      </p:sp>
      <p:sp>
        <p:nvSpPr>
          <p:cNvPr id="32" name="Shape 30"/>
          <p:cNvSpPr/>
          <p:nvPr/>
        </p:nvSpPr>
        <p:spPr>
          <a:xfrm>
            <a:off x="640080" y="4626864"/>
            <a:ext cx="4892040" cy="548640"/>
          </a:xfrm>
          <a:prstGeom prst="roundRect">
            <a:avLst>
              <a:gd name="adj" fmla="val 9167"/>
            </a:avLst>
          </a:prstGeom>
          <a:solidFill>
            <a:srgbClr val="FFFFFF"/>
          </a:solidFill>
          <a:ln w="15875">
            <a:solidFill>
              <a:srgbClr val="C9A84C"/>
            </a:solidFill>
            <a:prstDash val="solid"/>
          </a:ln>
        </p:spPr>
      </p:sp>
      <p:sp>
        <p:nvSpPr>
          <p:cNvPr id="33" name="Text 31"/>
          <p:cNvSpPr/>
          <p:nvPr/>
        </p:nvSpPr>
        <p:spPr>
          <a:xfrm>
            <a:off x="768096" y="4626864"/>
            <a:ext cx="4636008" cy="548640"/>
          </a:xfrm>
          <a:prstGeom prst="rect">
            <a:avLst/>
          </a:prstGeom>
          <a:noFill/>
          <a:ln/>
        </p:spPr>
        <p:txBody>
          <a:bodyPr wrap="square" lIns="0" tIns="0" rIns="0" bIns="0" rtlCol="0" anchor="ctr"/>
          <a:lstStyle/>
          <a:p>
            <a:pPr algn="ctr" indent="0" marL="0">
              <a:lnSpc>
                <a:spcPct val="103000"/>
              </a:lnSpc>
              <a:buNone/>
            </a:pPr>
            <a:r>
              <a:rPr lang="en-US" sz="1050" b="1" dirty="0">
                <a:solidFill>
                  <a:srgbClr val="111111"/>
                </a:solidFill>
                <a:latin typeface="Calibri" pitchFamily="34" charset="0"/>
                <a:ea typeface="Calibri" pitchFamily="34" charset="-122"/>
                <a:cs typeface="Calibri" pitchFamily="34" charset="-120"/>
              </a:rPr>
              <a:t>Is there a singular/plural version of the same word?</a:t>
            </a:r>
            <a:endParaRPr lang="en-US" sz="1050" dirty="0"/>
          </a:p>
        </p:txBody>
      </p:sp>
      <p:sp>
        <p:nvSpPr>
          <p:cNvPr id="34" name="Shape 32"/>
          <p:cNvSpPr/>
          <p:nvPr/>
        </p:nvSpPr>
        <p:spPr>
          <a:xfrm>
            <a:off x="5852160" y="4626864"/>
            <a:ext cx="5699455" cy="548640"/>
          </a:xfrm>
          <a:prstGeom prst="roundRect">
            <a:avLst>
              <a:gd name="adj" fmla="val 9167"/>
            </a:avLst>
          </a:prstGeom>
          <a:solidFill>
            <a:srgbClr val="B0271C"/>
          </a:solidFill>
          <a:ln w="15875">
            <a:solidFill>
              <a:srgbClr val="333333"/>
            </a:solidFill>
            <a:prstDash val="solid"/>
          </a:ln>
        </p:spPr>
      </p:sp>
      <p:sp>
        <p:nvSpPr>
          <p:cNvPr id="35" name="Text 33"/>
          <p:cNvSpPr/>
          <p:nvPr/>
        </p:nvSpPr>
        <p:spPr>
          <a:xfrm>
            <a:off x="5980176" y="4626864"/>
            <a:ext cx="5443423" cy="548640"/>
          </a:xfrm>
          <a:prstGeom prst="rect">
            <a:avLst/>
          </a:prstGeom>
          <a:noFill/>
          <a:ln/>
        </p:spPr>
        <p:txBody>
          <a:bodyPr wrap="square" lIns="0" tIns="0" rIns="0" bIns="0" rtlCol="0" anchor="ctr"/>
          <a:lstStyle/>
          <a:p>
            <a:pPr algn="ctr" indent="0" marL="0">
              <a:lnSpc>
                <a:spcPct val="103000"/>
              </a:lnSpc>
              <a:buNone/>
            </a:pPr>
            <a:r>
              <a:rPr lang="en-US" sz="950" b="1" dirty="0">
                <a:solidFill>
                  <a:srgbClr val="FFFFFF"/>
                </a:solidFill>
                <a:latin typeface="Calibri" pitchFamily="34" charset="0"/>
                <a:ea typeface="Calibri" pitchFamily="34" charset="-122"/>
                <a:cs typeface="Calibri" pitchFamily="34" charset="-120"/>
              </a:rPr>
              <a:t>Figure out if the subject is singular or plural, and pick the corresponding answer.</a:t>
            </a:r>
            <a:endParaRPr lang="en-US" sz="950" dirty="0"/>
          </a:p>
          <a:p>
            <a:pPr algn="ctr" indent="0" marL="0">
              <a:lnSpc>
                <a:spcPct val="103000"/>
              </a:lnSpc>
              <a:buNone/>
            </a:pPr>
            <a:r>
              <a:rPr lang="en-US" sz="950" b="1" dirty="0">
                <a:solidFill>
                  <a:srgbClr val="FFFFFF"/>
                </a:solidFill>
                <a:latin typeface="Calibri" pitchFamily="34" charset="0"/>
                <a:ea typeface="Calibri" pitchFamily="34" charset="-122"/>
                <a:cs typeface="Calibri" pitchFamily="34" charset="-120"/>
              </a:rPr>
              <a:t>27%</a:t>
            </a:r>
            <a:endParaRPr lang="en-US" sz="950" dirty="0"/>
          </a:p>
        </p:txBody>
      </p:sp>
      <p:sp>
        <p:nvSpPr>
          <p:cNvPr id="36" name="Shape 34"/>
          <p:cNvSpPr/>
          <p:nvPr/>
        </p:nvSpPr>
        <p:spPr>
          <a:xfrm>
            <a:off x="5532120" y="4901184"/>
            <a:ext cx="320040" cy="0"/>
          </a:xfrm>
          <a:prstGeom prst="line">
            <a:avLst/>
          </a:prstGeom>
          <a:noFill/>
          <a:ln w="15875">
            <a:solidFill>
              <a:srgbClr val="111111"/>
            </a:solidFill>
            <a:prstDash val="solid"/>
            <a:tailEnd type="triangle"/>
          </a:ln>
        </p:spPr>
      </p:sp>
      <p:sp>
        <p:nvSpPr>
          <p:cNvPr id="37" name="Text 35"/>
          <p:cNvSpPr/>
          <p:nvPr/>
        </p:nvSpPr>
        <p:spPr>
          <a:xfrm>
            <a:off x="5417820" y="4626864"/>
            <a:ext cx="548640" cy="219456"/>
          </a:xfrm>
          <a:prstGeom prst="rect">
            <a:avLst/>
          </a:prstGeom>
          <a:noFill/>
          <a:ln/>
        </p:spPr>
        <p:txBody>
          <a:bodyPr wrap="square" lIns="0" tIns="0" rIns="0" bIns="0" rtlCol="0" anchor="ctr"/>
          <a:lstStyle/>
          <a:p>
            <a:pPr algn="ctr" indent="0" marL="0">
              <a:buNone/>
            </a:pPr>
            <a:r>
              <a:rPr lang="en-US" sz="950" b="1" i="1" dirty="0">
                <a:solidFill>
                  <a:srgbClr val="8A6A28"/>
                </a:solidFill>
                <a:latin typeface="Calibri" pitchFamily="34" charset="0"/>
                <a:ea typeface="Calibri" pitchFamily="34" charset="-122"/>
                <a:cs typeface="Calibri" pitchFamily="34" charset="-120"/>
              </a:rPr>
              <a:t>Yes</a:t>
            </a:r>
            <a:endParaRPr lang="en-US" sz="950" dirty="0"/>
          </a:p>
        </p:txBody>
      </p:sp>
      <p:sp>
        <p:nvSpPr>
          <p:cNvPr id="38" name="Shape 36"/>
          <p:cNvSpPr/>
          <p:nvPr/>
        </p:nvSpPr>
        <p:spPr>
          <a:xfrm>
            <a:off x="3086100" y="5175504"/>
            <a:ext cx="0" cy="128016"/>
          </a:xfrm>
          <a:prstGeom prst="line">
            <a:avLst/>
          </a:prstGeom>
          <a:noFill/>
          <a:ln w="15875">
            <a:solidFill>
              <a:srgbClr val="111111"/>
            </a:solidFill>
            <a:prstDash val="solid"/>
            <a:tailEnd type="triangle"/>
          </a:ln>
        </p:spPr>
      </p:sp>
      <p:sp>
        <p:nvSpPr>
          <p:cNvPr id="39" name="Text 37"/>
          <p:cNvSpPr/>
          <p:nvPr/>
        </p:nvSpPr>
        <p:spPr>
          <a:xfrm>
            <a:off x="3140964" y="5111496"/>
            <a:ext cx="548640" cy="237744"/>
          </a:xfrm>
          <a:prstGeom prst="rect">
            <a:avLst/>
          </a:prstGeom>
          <a:noFill/>
          <a:ln/>
        </p:spPr>
        <p:txBody>
          <a:bodyPr wrap="square" lIns="0" tIns="0" rIns="0" bIns="0" rtlCol="0" anchor="ctr"/>
          <a:lstStyle/>
          <a:p>
            <a:pPr indent="0" marL="0">
              <a:buNone/>
            </a:pPr>
            <a:r>
              <a:rPr lang="en-US" sz="950" b="1" i="1" dirty="0">
                <a:solidFill>
                  <a:srgbClr val="8A6A28"/>
                </a:solidFill>
                <a:latin typeface="Calibri" pitchFamily="34" charset="0"/>
                <a:ea typeface="Calibri" pitchFamily="34" charset="-122"/>
                <a:cs typeface="Calibri" pitchFamily="34" charset="-120"/>
              </a:rPr>
              <a:t>No · 4%</a:t>
            </a:r>
            <a:endParaRPr lang="en-US" sz="950" dirty="0"/>
          </a:p>
        </p:txBody>
      </p:sp>
      <p:sp>
        <p:nvSpPr>
          <p:cNvPr id="40" name="Shape 38"/>
          <p:cNvSpPr/>
          <p:nvPr/>
        </p:nvSpPr>
        <p:spPr>
          <a:xfrm>
            <a:off x="640080" y="5303520"/>
            <a:ext cx="10911535" cy="457200"/>
          </a:xfrm>
          <a:prstGeom prst="roundRect">
            <a:avLst>
              <a:gd name="adj" fmla="val 11000"/>
            </a:avLst>
          </a:prstGeom>
          <a:solidFill>
            <a:srgbClr val="111111"/>
          </a:solidFill>
          <a:ln w="15875">
            <a:solidFill>
              <a:srgbClr val="111111"/>
            </a:solidFill>
            <a:prstDash val="solid"/>
          </a:ln>
        </p:spPr>
      </p:sp>
      <p:sp>
        <p:nvSpPr>
          <p:cNvPr id="41" name="Text 39"/>
          <p:cNvSpPr/>
          <p:nvPr/>
        </p:nvSpPr>
        <p:spPr>
          <a:xfrm>
            <a:off x="768096" y="5303520"/>
            <a:ext cx="10655503" cy="457200"/>
          </a:xfrm>
          <a:prstGeom prst="rect">
            <a:avLst/>
          </a:prstGeom>
          <a:noFill/>
          <a:ln/>
        </p:spPr>
        <p:txBody>
          <a:bodyPr wrap="square" lIns="0" tIns="0" rIns="0" bIns="0" rtlCol="0" anchor="ctr"/>
          <a:lstStyle/>
          <a:p>
            <a:pPr algn="ctr" indent="0" marL="0">
              <a:lnSpc>
                <a:spcPct val="103000"/>
              </a:lnSpc>
              <a:buNone/>
            </a:pPr>
            <a:r>
              <a:rPr lang="en-US" sz="1050" b="1" dirty="0">
                <a:solidFill>
                  <a:srgbClr val="FFFFFF"/>
                </a:solidFill>
                <a:latin typeface="Calibri" pitchFamily="34" charset="0"/>
                <a:ea typeface="Calibri" pitchFamily="34" charset="-122"/>
                <a:cs typeface="Calibri" pitchFamily="34" charset="-120"/>
              </a:rPr>
              <a:t>Look for context clues to see if the answer is past, present, or future tense.</a:t>
            </a:r>
            <a:endParaRPr lang="en-US" sz="1050" dirty="0"/>
          </a:p>
        </p:txBody>
      </p:sp>
      <p:sp>
        <p:nvSpPr>
          <p:cNvPr id="42" name="Text 40"/>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43" name="Text 41"/>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SHORTCUT 1</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By / As / To — the instant “-ed” pick</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7% of verb questions. 100% accuracy. Solved before you even read the sentence.</a:t>
            </a:r>
            <a:endParaRPr lang="en-US" sz="1350" dirty="0"/>
          </a:p>
        </p:txBody>
      </p:sp>
      <p:sp>
        <p:nvSpPr>
          <p:cNvPr id="5" name="Text 3"/>
          <p:cNvSpPr/>
          <p:nvPr/>
        </p:nvSpPr>
        <p:spPr>
          <a:xfrm>
            <a:off x="640080" y="19202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01</a:t>
            </a:r>
            <a:endParaRPr lang="en-US" sz="2100" dirty="0"/>
          </a:p>
        </p:txBody>
      </p:sp>
      <p:sp>
        <p:nvSpPr>
          <p:cNvPr id="6" name="Text 4"/>
          <p:cNvSpPr/>
          <p:nvPr/>
        </p:nvSpPr>
        <p:spPr>
          <a:xfrm>
            <a:off x="1508760" y="19202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Look at the two words right after the blank.</a:t>
            </a:r>
            <a:endParaRPr lang="en-US" sz="1450" dirty="0"/>
          </a:p>
        </p:txBody>
      </p:sp>
      <p:sp>
        <p:nvSpPr>
          <p:cNvPr id="7" name="Text 5"/>
          <p:cNvSpPr/>
          <p:nvPr/>
        </p:nvSpPr>
        <p:spPr>
          <a:xfrm>
            <a:off x="1508760" y="228600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Check whether the first of the two is by, as, or to.</a:t>
            </a:r>
            <a:endParaRPr lang="en-US" sz="1200" dirty="0"/>
          </a:p>
        </p:txBody>
      </p:sp>
      <p:sp>
        <p:nvSpPr>
          <p:cNvPr id="8" name="Text 6"/>
          <p:cNvSpPr/>
          <p:nvPr/>
        </p:nvSpPr>
        <p:spPr>
          <a:xfrm>
            <a:off x="640080" y="288036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02</a:t>
            </a:r>
            <a:endParaRPr lang="en-US" sz="2100" dirty="0"/>
          </a:p>
        </p:txBody>
      </p:sp>
      <p:sp>
        <p:nvSpPr>
          <p:cNvPr id="9" name="Text 7"/>
          <p:cNvSpPr/>
          <p:nvPr/>
        </p:nvSpPr>
        <p:spPr>
          <a:xfrm>
            <a:off x="1508760" y="288036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Check the second word is not a verb.</a:t>
            </a:r>
            <a:endParaRPr lang="en-US" sz="1450" dirty="0"/>
          </a:p>
        </p:txBody>
      </p:sp>
      <p:sp>
        <p:nvSpPr>
          <p:cNvPr id="10" name="Text 8"/>
          <p:cNvSpPr/>
          <p:nvPr/>
        </p:nvSpPr>
        <p:spPr>
          <a:xfrm>
            <a:off x="1508760" y="324612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If a verb follows immediately, the shortcut doesn't apply — move to the next shortcut instead.</a:t>
            </a:r>
            <a:endParaRPr lang="en-US" sz="1200" dirty="0"/>
          </a:p>
        </p:txBody>
      </p:sp>
      <p:sp>
        <p:nvSpPr>
          <p:cNvPr id="11" name="Text 9"/>
          <p:cNvSpPr/>
          <p:nvPr/>
        </p:nvSpPr>
        <p:spPr>
          <a:xfrm>
            <a:off x="640080" y="384048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03</a:t>
            </a:r>
            <a:endParaRPr lang="en-US" sz="2100" dirty="0"/>
          </a:p>
        </p:txBody>
      </p:sp>
      <p:sp>
        <p:nvSpPr>
          <p:cNvPr id="12" name="Text 10"/>
          <p:cNvSpPr/>
          <p:nvPr/>
        </p:nvSpPr>
        <p:spPr>
          <a:xfrm>
            <a:off x="1508760" y="384048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Pick the answer choice starting with the ‑ed form.</a:t>
            </a:r>
            <a:endParaRPr lang="en-US" sz="1450" dirty="0"/>
          </a:p>
        </p:txBody>
      </p:sp>
      <p:sp>
        <p:nvSpPr>
          <p:cNvPr id="13" name="Text 11"/>
          <p:cNvSpPr/>
          <p:nvPr/>
        </p:nvSpPr>
        <p:spPr>
          <a:xfrm>
            <a:off x="1508760" y="420624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Only look at the FIRST verb of each answer choice — ignore adverbs and anything after it (“I tweet to” counts as one verb).</a:t>
            </a:r>
            <a:endParaRPr lang="en-US" sz="1200" dirty="0"/>
          </a:p>
        </p:txBody>
      </p:sp>
      <p:sp>
        <p:nvSpPr>
          <p:cNvPr id="14" name="Shape 12"/>
          <p:cNvSpPr/>
          <p:nvPr/>
        </p:nvSpPr>
        <p:spPr>
          <a:xfrm>
            <a:off x="640080" y="5074920"/>
            <a:ext cx="10911535" cy="777240"/>
          </a:xfrm>
          <a:prstGeom prst="roundRect">
            <a:avLst>
              <a:gd name="adj" fmla="val 7059"/>
            </a:avLst>
          </a:prstGeom>
          <a:solidFill>
            <a:srgbClr val="FFFFFF"/>
          </a:solidFill>
          <a:ln w="15875">
            <a:solidFill>
              <a:srgbClr val="C9A84C"/>
            </a:solidFill>
            <a:prstDash val="solid"/>
          </a:ln>
        </p:spPr>
      </p:sp>
      <p:sp>
        <p:nvSpPr>
          <p:cNvPr id="15" name="Text 13"/>
          <p:cNvSpPr/>
          <p:nvPr/>
        </p:nvSpPr>
        <p:spPr>
          <a:xfrm>
            <a:off x="932688" y="5074920"/>
            <a:ext cx="10326319" cy="77724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Why it works: the SAT is testing whether the -ed word functions as a participle — you don't need to know that to use the shortcut.</a:t>
            </a:r>
            <a:endParaRPr lang="en-US" sz="1450" dirty="0"/>
          </a:p>
        </p:txBody>
      </p:sp>
      <p:sp>
        <p:nvSpPr>
          <p:cNvPr id="16" name="Text 1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7" name="Text 1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SHORTCUT 1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By / As / To</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“BY / AS / TO” VERB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Check the two words after the blank, confirm no verb follows immediately, then pick the -ed choice.</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SHORTCUT 2</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Verbs are the opposite of nouns</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The foundation for the 3-to-1 Singular/Plural shortcut (15% of verb questions).</a:t>
            </a:r>
            <a:endParaRPr lang="en-US" sz="1350" dirty="0"/>
          </a:p>
        </p:txBody>
      </p:sp>
      <p:sp>
        <p:nvSpPr>
          <p:cNvPr id="5" name="Text 3"/>
          <p:cNvSpPr/>
          <p:nvPr/>
        </p:nvSpPr>
        <p:spPr>
          <a:xfrm>
            <a:off x="640080" y="1874520"/>
            <a:ext cx="5212080"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Nouns: adding an -s makes them plural (student → students).</a:t>
            </a:r>
            <a:endParaRPr lang="en-US" sz="1350" dirty="0"/>
          </a:p>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Verbs: adding an -s makes them singular, not plural (take → takes).</a:t>
            </a:r>
            <a:endParaRPr lang="en-US" sz="1350" dirty="0"/>
          </a:p>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Test: “the students takes/take the SAT” — students is plural, so pick the verb with no -s: take.</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309360" y="1874520"/>
          <a:ext cx="4599432" cy="914400"/>
        </p:xfrm>
        <a:graphic>
          <a:graphicData uri="http://schemas.openxmlformats.org/drawingml/2006/table">
            <a:tbl>
              <a:tblPr/>
              <a:tblGrid>
                <a:gridCol w="2299716"/>
                <a:gridCol w="2299716"/>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Singular</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Plural</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r>
              <a:tr h="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is</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are</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has</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have</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r h="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was</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were</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bl>
          </a:graphicData>
        </a:graphic>
      </p:graphicFrame>
      <p:sp>
        <p:nvSpPr>
          <p:cNvPr id="7" name="Shape 4"/>
          <p:cNvSpPr/>
          <p:nvPr/>
        </p:nvSpPr>
        <p:spPr>
          <a:xfrm>
            <a:off x="640080" y="4846320"/>
            <a:ext cx="10911535" cy="914400"/>
          </a:xfrm>
          <a:prstGeom prst="roundRect">
            <a:avLst>
              <a:gd name="adj" fmla="val 6000"/>
            </a:avLst>
          </a:prstGeom>
          <a:solidFill>
            <a:srgbClr val="FFFFFF"/>
          </a:solidFill>
          <a:ln w="15875">
            <a:solidFill>
              <a:srgbClr val="C9A84C"/>
            </a:solidFill>
            <a:prstDash val="solid"/>
          </a:ln>
        </p:spPr>
      </p:sp>
      <p:sp>
        <p:nvSpPr>
          <p:cNvPr id="8" name="Text 5"/>
          <p:cNvSpPr/>
          <p:nvPr/>
        </p:nvSpPr>
        <p:spPr>
          <a:xfrm>
            <a:off x="932688" y="4846320"/>
            <a:ext cx="10326319" cy="91440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Watch out: words that already end in -s (focus) don't follow the normal rule — focus is plural, focuses is singular. This is rare, but it exists.</a:t>
            </a:r>
            <a:endParaRPr lang="en-US" sz="1450" dirty="0"/>
          </a:p>
        </p:txBody>
      </p:sp>
      <p:sp>
        <p:nvSpPr>
          <p:cNvPr id="9" name="Text 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0" name="Text 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SHORTCUT 2</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3-to-1 Singular/Plural</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Look only at the answer choices — find the odd one out.</a:t>
            </a:r>
            <a:endParaRPr lang="en-US" sz="1350" dirty="0"/>
          </a:p>
        </p:txBody>
      </p:sp>
      <p:sp>
        <p:nvSpPr>
          <p:cNvPr id="5" name="Text 3"/>
          <p:cNvSpPr/>
          <p:nvPr/>
        </p:nvSpPr>
        <p:spPr>
          <a:xfrm>
            <a:off x="640080" y="187452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01</a:t>
            </a:r>
            <a:endParaRPr lang="en-US" sz="2100" dirty="0"/>
          </a:p>
        </p:txBody>
      </p:sp>
      <p:sp>
        <p:nvSpPr>
          <p:cNvPr id="6" name="Text 4"/>
          <p:cNvSpPr/>
          <p:nvPr/>
        </p:nvSpPr>
        <p:spPr>
          <a:xfrm>
            <a:off x="1508760" y="187452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Look only at the first verb of every answer choice.</a:t>
            </a:r>
            <a:endParaRPr lang="en-US" sz="1450" dirty="0"/>
          </a:p>
        </p:txBody>
      </p:sp>
      <p:sp>
        <p:nvSpPr>
          <p:cNvPr id="7" name="Text 5"/>
          <p:cNvSpPr/>
          <p:nvPr/>
        </p:nvSpPr>
        <p:spPr>
          <a:xfrm>
            <a:off x="1508760" y="224028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Ignore adverbs and any second verb.</a:t>
            </a:r>
            <a:endParaRPr lang="en-US" sz="1200" dirty="0"/>
          </a:p>
        </p:txBody>
      </p:sp>
      <p:sp>
        <p:nvSpPr>
          <p:cNvPr id="8" name="Text 6"/>
          <p:cNvSpPr/>
          <p:nvPr/>
        </p:nvSpPr>
        <p:spPr>
          <a:xfrm>
            <a:off x="640080" y="28346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02</a:t>
            </a:r>
            <a:endParaRPr lang="en-US" sz="2100" dirty="0"/>
          </a:p>
        </p:txBody>
      </p:sp>
      <p:sp>
        <p:nvSpPr>
          <p:cNvPr id="9" name="Text 7"/>
          <p:cNvSpPr/>
          <p:nvPr/>
        </p:nvSpPr>
        <p:spPr>
          <a:xfrm>
            <a:off x="1508760" y="28346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Classify each as singular or plural.</a:t>
            </a:r>
            <a:endParaRPr lang="en-US" sz="1450" dirty="0"/>
          </a:p>
        </p:txBody>
      </p:sp>
      <p:sp>
        <p:nvSpPr>
          <p:cNvPr id="10" name="Text 8"/>
          <p:cNvSpPr/>
          <p:nvPr/>
        </p:nvSpPr>
        <p:spPr>
          <a:xfrm>
            <a:off x="1508760" y="320040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This only works on plain present-tense verbs — not on -ing, to-, or past-tense forms.</a:t>
            </a:r>
            <a:endParaRPr lang="en-US" sz="1200" dirty="0"/>
          </a:p>
        </p:txBody>
      </p:sp>
      <p:sp>
        <p:nvSpPr>
          <p:cNvPr id="11" name="Text 9"/>
          <p:cNvSpPr/>
          <p:nvPr/>
        </p:nvSpPr>
        <p:spPr>
          <a:xfrm>
            <a:off x="640080" y="379476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03</a:t>
            </a:r>
            <a:endParaRPr lang="en-US" sz="2100" dirty="0"/>
          </a:p>
        </p:txBody>
      </p:sp>
      <p:sp>
        <p:nvSpPr>
          <p:cNvPr id="12" name="Text 10"/>
          <p:cNvSpPr/>
          <p:nvPr/>
        </p:nvSpPr>
        <p:spPr>
          <a:xfrm>
            <a:off x="1508760" y="379476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If it's 3-to-1 (three plural / one singular, or vice versa), the odd one out is always correct.</a:t>
            </a:r>
            <a:endParaRPr lang="en-US" sz="1450" dirty="0"/>
          </a:p>
        </p:txBody>
      </p:sp>
      <p:sp>
        <p:nvSpPr>
          <p:cNvPr id="13" name="Text 11"/>
          <p:cNvSpPr/>
          <p:nvPr/>
        </p:nvSpPr>
        <p:spPr>
          <a:xfrm>
            <a:off x="1508760" y="416052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100% accuracy, every time it applies.</a:t>
            </a:r>
            <a:endParaRPr lang="en-US" sz="1200" dirty="0"/>
          </a:p>
        </p:txBody>
      </p:sp>
      <p:sp>
        <p:nvSpPr>
          <p:cNvPr id="14" name="Shape 12"/>
          <p:cNvSpPr/>
          <p:nvPr/>
        </p:nvSpPr>
        <p:spPr>
          <a:xfrm>
            <a:off x="640080" y="5074920"/>
            <a:ext cx="10911535" cy="777240"/>
          </a:xfrm>
          <a:prstGeom prst="roundRect">
            <a:avLst>
              <a:gd name="adj" fmla="val 7059"/>
            </a:avLst>
          </a:prstGeom>
          <a:solidFill>
            <a:srgbClr val="FFFFFF"/>
          </a:solidFill>
          <a:ln w="15875">
            <a:solidFill>
              <a:srgbClr val="C9A84C"/>
            </a:solidFill>
            <a:prstDash val="solid"/>
          </a:ln>
        </p:spPr>
      </p:sp>
      <p:sp>
        <p:nvSpPr>
          <p:cNvPr id="15" name="Text 13"/>
          <p:cNvSpPr/>
          <p:nvPr/>
        </p:nvSpPr>
        <p:spPr>
          <a:xfrm>
            <a:off x="932688" y="5074920"/>
            <a:ext cx="10326319" cy="77724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Fastest tell: two or more “helping verbs” (is/are, has/have, was/were) among the choices is a strong signal this is a 3-to-1 question.</a:t>
            </a:r>
            <a:endParaRPr lang="en-US" sz="1450" dirty="0"/>
          </a:p>
        </p:txBody>
      </p:sp>
      <p:sp>
        <p:nvSpPr>
          <p:cNvPr id="16" name="Text 1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7" name="Text 1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SHORTCUT 2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3-to-1 Singular/Plural</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3-TO-1 SINGULAR/PLURAL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Classify each answer choice's first verb as singular or plural, then pick the odd one out.</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SHORTCUT 3</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3 ING/TO — the other odd-one-out</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12% of verb questions. Works one direction only.</a:t>
            </a:r>
            <a:endParaRPr lang="en-US" sz="1350" dirty="0"/>
          </a:p>
        </p:txBody>
      </p:sp>
      <p:sp>
        <p:nvSpPr>
          <p:cNvPr id="5" name="Text 3"/>
          <p:cNvSpPr/>
          <p:nvPr/>
        </p:nvSpPr>
        <p:spPr>
          <a:xfrm>
            <a:off x="640080" y="192024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If three answer choices are -ing forms or to-forms, and one choice is neither — pick the one that's neither.</a:t>
            </a:r>
            <a:endParaRPr lang="en-US" sz="1500" dirty="0"/>
          </a:p>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This does NOT reverse: it must be 3 ing/to-forms and 1 other. It can't be 3-other-1-ing/to.</a:t>
            </a:r>
            <a:endParaRPr lang="en-US" sz="1500" dirty="0"/>
          </a:p>
        </p:txBody>
      </p:sp>
      <p:sp>
        <p:nvSpPr>
          <p:cNvPr id="6" name="Shape 4"/>
          <p:cNvSpPr/>
          <p:nvPr/>
        </p:nvSpPr>
        <p:spPr>
          <a:xfrm>
            <a:off x="640080" y="3291840"/>
            <a:ext cx="10911535" cy="822960"/>
          </a:xfrm>
          <a:prstGeom prst="roundRect">
            <a:avLst>
              <a:gd name="adj" fmla="val 6667"/>
            </a:avLst>
          </a:prstGeom>
          <a:solidFill>
            <a:srgbClr val="FFFFFF"/>
          </a:solidFill>
          <a:ln w="15875">
            <a:solidFill>
              <a:srgbClr val="C9A84C"/>
            </a:solidFill>
            <a:prstDash val="solid"/>
          </a:ln>
        </p:spPr>
      </p:sp>
      <p:sp>
        <p:nvSpPr>
          <p:cNvPr id="7" name="Text 5"/>
          <p:cNvSpPr/>
          <p:nvPr/>
        </p:nvSpPr>
        <p:spPr>
          <a:xfrm>
            <a:off x="932688" y="3291840"/>
            <a:ext cx="10326319" cy="82296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Why it works: -ing and to- forms are automatically non-main verbs. The SAT is really testing “does this sentence need a main verb,” and this shortcut lets you skip straight to the answer.</a:t>
            </a:r>
            <a:endParaRPr lang="en-US" sz="1450" dirty="0"/>
          </a:p>
        </p:txBody>
      </p:sp>
      <p:sp>
        <p:nvSpPr>
          <p:cNvPr id="8" name="Text 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9" name="Text 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SHORTCUT 3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3 ING/TO</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3 ING/TO VERB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Find the three -ing or to- answer choices, then pick the one answer choice that's neither.</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SHORTCUT 4</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The word “will” signals tense</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18% of verb questions — a past/present/future question, solved by reading for context.</a:t>
            </a:r>
            <a:endParaRPr lang="en-US" sz="1350" dirty="0"/>
          </a:p>
        </p:txBody>
      </p:sp>
      <p:sp>
        <p:nvSpPr>
          <p:cNvPr id="5" name="Text 3"/>
          <p:cNvSpPr/>
          <p:nvPr/>
        </p:nvSpPr>
        <p:spPr>
          <a:xfrm>
            <a:off x="640080" y="19202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01</a:t>
            </a:r>
            <a:endParaRPr lang="en-US" sz="2100" dirty="0"/>
          </a:p>
        </p:txBody>
      </p:sp>
      <p:sp>
        <p:nvSpPr>
          <p:cNvPr id="6" name="Text 4"/>
          <p:cNvSpPr/>
          <p:nvPr/>
        </p:nvSpPr>
        <p:spPr>
          <a:xfrm>
            <a:off x="1508760" y="19202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See “will” in the answer choices? This is a tense question.</a:t>
            </a:r>
            <a:endParaRPr lang="en-US" sz="1450" dirty="0"/>
          </a:p>
        </p:txBody>
      </p:sp>
      <p:sp>
        <p:nvSpPr>
          <p:cNvPr id="7" name="Text 5"/>
          <p:cNvSpPr/>
          <p:nvPr/>
        </p:nvSpPr>
        <p:spPr>
          <a:xfrm>
            <a:off x="1508760" y="2286000"/>
            <a:ext cx="10042855" cy="53035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These almost always appear in the easier first module.</a:t>
            </a:r>
            <a:endParaRPr lang="en-US" sz="1200" dirty="0"/>
          </a:p>
        </p:txBody>
      </p:sp>
      <p:sp>
        <p:nvSpPr>
          <p:cNvPr id="8" name="Text 6"/>
          <p:cNvSpPr/>
          <p:nvPr/>
        </p:nvSpPr>
        <p:spPr>
          <a:xfrm>
            <a:off x="640080" y="28346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02</a:t>
            </a:r>
            <a:endParaRPr lang="en-US" sz="2100" dirty="0"/>
          </a:p>
        </p:txBody>
      </p:sp>
      <p:sp>
        <p:nvSpPr>
          <p:cNvPr id="9" name="Text 7"/>
          <p:cNvSpPr/>
          <p:nvPr/>
        </p:nvSpPr>
        <p:spPr>
          <a:xfrm>
            <a:off x="1508760" y="28346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Read for context clues to find the tense.</a:t>
            </a:r>
            <a:endParaRPr lang="en-US" sz="1450" dirty="0"/>
          </a:p>
        </p:txBody>
      </p:sp>
      <p:sp>
        <p:nvSpPr>
          <p:cNvPr id="10" name="Text 8"/>
          <p:cNvSpPr/>
          <p:nvPr/>
        </p:nvSpPr>
        <p:spPr>
          <a:xfrm>
            <a:off x="1508760" y="3200400"/>
            <a:ext cx="10042855" cy="53035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Dates, “has happened,” “will predict,” etc. tell you past, present, or future.</a:t>
            </a:r>
            <a:endParaRPr lang="en-US" sz="1200" dirty="0"/>
          </a:p>
        </p:txBody>
      </p:sp>
      <p:sp>
        <p:nvSpPr>
          <p:cNvPr id="11" name="Text 9"/>
          <p:cNvSpPr/>
          <p:nvPr/>
        </p:nvSpPr>
        <p:spPr>
          <a:xfrm>
            <a:off x="640080" y="37490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03</a:t>
            </a:r>
            <a:endParaRPr lang="en-US" sz="2100" dirty="0"/>
          </a:p>
        </p:txBody>
      </p:sp>
      <p:sp>
        <p:nvSpPr>
          <p:cNvPr id="12" name="Text 10"/>
          <p:cNvSpPr/>
          <p:nvPr/>
        </p:nvSpPr>
        <p:spPr>
          <a:xfrm>
            <a:off x="1508760" y="37490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Rarely: check parallelism.</a:t>
            </a:r>
            <a:endParaRPr lang="en-US" sz="1450" dirty="0"/>
          </a:p>
        </p:txBody>
      </p:sp>
      <p:sp>
        <p:nvSpPr>
          <p:cNvPr id="13" name="Text 11"/>
          <p:cNvSpPr/>
          <p:nvPr/>
        </p:nvSpPr>
        <p:spPr>
          <a:xfrm>
            <a:off x="1508760" y="4114800"/>
            <a:ext cx="10042855" cy="53035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A nearby verb only sets the tense of the blank if it's logically describing the same action — don't just copy the nearest verb's tense blindly.</a:t>
            </a:r>
            <a:endParaRPr lang="en-US" sz="1200" dirty="0"/>
          </a:p>
        </p:txBody>
      </p:sp>
      <p:sp>
        <p:nvSpPr>
          <p:cNvPr id="14" name="Text 12"/>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5" name="Text 13"/>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SHORTCUT 4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Tense (Past / Present / Future)</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TENSE / “WILL” VERB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Read for context clues, decide the tense, and — if needed — check parallelism with a nearby verb.</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THE FALLBACK PROCESS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Finding the main verb</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The single most important skill in all of SAT grammar — it also powers punctuation questions.</a:t>
            </a:r>
            <a:endParaRPr lang="en-US" sz="1350" dirty="0"/>
          </a:p>
        </p:txBody>
      </p:sp>
      <p:sp>
        <p:nvSpPr>
          <p:cNvPr id="5" name="Text 3"/>
          <p:cNvSpPr/>
          <p:nvPr/>
        </p:nvSpPr>
        <p:spPr>
          <a:xfrm>
            <a:off x="640080" y="1920240"/>
            <a:ext cx="5212080"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Every sentence has exactly one main verb: the main action the subject performs.</a:t>
            </a:r>
            <a:endParaRPr lang="en-US" sz="1350" dirty="0"/>
          </a:p>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The subject is always at the start of the sentence, once you strip out extra information.</a:t>
            </a:r>
            <a:endParaRPr lang="en-US" sz="1350" dirty="0"/>
          </a:p>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The main verb sits right where the subject ends.</a:t>
            </a:r>
            <a:endParaRPr lang="en-US" sz="1350" dirty="0"/>
          </a:p>
        </p:txBody>
      </p:sp>
      <p:sp>
        <p:nvSpPr>
          <p:cNvPr id="6" name="Shape 4"/>
          <p:cNvSpPr/>
          <p:nvPr/>
        </p:nvSpPr>
        <p:spPr>
          <a:xfrm>
            <a:off x="6309360" y="1920240"/>
            <a:ext cx="4599432" cy="2926080"/>
          </a:xfrm>
          <a:prstGeom prst="roundRect">
            <a:avLst>
              <a:gd name="adj" fmla="val 1875"/>
            </a:avLst>
          </a:prstGeom>
          <a:solidFill>
            <a:srgbClr val="FFFFFF"/>
          </a:solidFill>
          <a:ln w="15875">
            <a:solidFill>
              <a:srgbClr val="C9A84C"/>
            </a:solidFill>
            <a:prstDash val="solid"/>
          </a:ln>
        </p:spPr>
      </p:sp>
      <p:sp>
        <p:nvSpPr>
          <p:cNvPr id="7" name="Text 5"/>
          <p:cNvSpPr/>
          <p:nvPr/>
        </p:nvSpPr>
        <p:spPr>
          <a:xfrm>
            <a:off x="6601968" y="1920240"/>
            <a:ext cx="4014216" cy="2926080"/>
          </a:xfrm>
          <a:prstGeom prst="rect">
            <a:avLst/>
          </a:prstGeom>
          <a:noFill/>
          <a:ln/>
        </p:spPr>
        <p:txBody>
          <a:bodyPr wrap="square" lIns="0" tIns="0" rIns="0" bIns="0" rtlCol="0" anchor="ctr"/>
          <a:lstStyle/>
          <a:p>
            <a:pPr indent="0" marL="0">
              <a:lnSpc>
                <a:spcPct val="115000"/>
              </a:lnSpc>
              <a:buNone/>
            </a:pPr>
            <a:r>
              <a:rPr lang="en-US" sz="12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250" b="1" dirty="0">
                <a:solidFill>
                  <a:srgbClr val="111111"/>
                </a:solidFill>
                <a:latin typeface="Calibri" pitchFamily="34" charset="0"/>
                <a:ea typeface="Calibri" pitchFamily="34" charset="-122"/>
                <a:cs typeface="Calibri" pitchFamily="34" charset="-120"/>
              </a:rPr>
              <a:t>“I jumped across the river, running through the forest.” Jumped is the main verb — running is additional information about how you jumped, not the main action.</a:t>
            </a:r>
            <a:endParaRPr lang="en-US" sz="1250" dirty="0"/>
          </a:p>
        </p:txBody>
      </p:sp>
      <p:sp>
        <p:nvSpPr>
          <p:cNvPr id="8" name="Shape 6"/>
          <p:cNvSpPr/>
          <p:nvPr/>
        </p:nvSpPr>
        <p:spPr>
          <a:xfrm>
            <a:off x="640080" y="5074920"/>
            <a:ext cx="10911535" cy="777240"/>
          </a:xfrm>
          <a:prstGeom prst="roundRect">
            <a:avLst>
              <a:gd name="adj" fmla="val 7059"/>
            </a:avLst>
          </a:prstGeom>
          <a:solidFill>
            <a:srgbClr val="FFFFFF"/>
          </a:solidFill>
          <a:ln w="15875">
            <a:solidFill>
              <a:srgbClr val="C9A84C"/>
            </a:solidFill>
            <a:prstDash val="solid"/>
          </a:ln>
        </p:spPr>
      </p:sp>
      <p:sp>
        <p:nvSpPr>
          <p:cNvPr id="9" name="Text 7"/>
          <p:cNvSpPr/>
          <p:nvPr/>
        </p:nvSpPr>
        <p:spPr>
          <a:xfrm>
            <a:off x="932688" y="5074920"/>
            <a:ext cx="10326319" cy="77724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On the SAT, treat a semicolon as a period and a comma+FANBOYS as a period when finding “the sentence the blank is in.”</a:t>
            </a:r>
            <a:endParaRPr lang="en-US" sz="1450" dirty="0"/>
          </a:p>
        </p:txBody>
      </p:sp>
      <p:sp>
        <p:nvSpPr>
          <p:cNvPr id="10" name="Text 8"/>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1" name="Text 9"/>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MAIN VERBS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Two forms are automatically non-main verbs</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Hidden non-main verbs also live inside nouns and inside additional information.</a:t>
            </a:r>
            <a:endParaRPr lang="en-US" sz="1350" dirty="0"/>
          </a:p>
        </p:txBody>
      </p:sp>
      <p:sp>
        <p:nvSpPr>
          <p:cNvPr id="5" name="Shape 3"/>
          <p:cNvSpPr/>
          <p:nvPr/>
        </p:nvSpPr>
        <p:spPr>
          <a:xfrm>
            <a:off x="640080" y="1920240"/>
            <a:ext cx="5318608" cy="2286000"/>
          </a:xfrm>
          <a:prstGeom prst="roundRect">
            <a:avLst>
              <a:gd name="adj" fmla="val 2800"/>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6" name="Text 4"/>
          <p:cNvSpPr/>
          <p:nvPr/>
        </p:nvSpPr>
        <p:spPr>
          <a:xfrm>
            <a:off x="877824" y="208483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Always non-main</a:t>
            </a:r>
            <a:endParaRPr lang="en-US" sz="1450" dirty="0"/>
          </a:p>
        </p:txBody>
      </p:sp>
      <p:sp>
        <p:nvSpPr>
          <p:cNvPr id="7" name="Text 5"/>
          <p:cNvSpPr/>
          <p:nvPr/>
        </p:nvSpPr>
        <p:spPr>
          <a:xfrm>
            <a:off x="877824" y="2505456"/>
            <a:ext cx="4843120" cy="151790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-ing verbs (running, developing)</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to + verb (to run, to develop)</a:t>
            </a:r>
            <a:endParaRPr lang="en-US" sz="1200" dirty="0"/>
          </a:p>
        </p:txBody>
      </p:sp>
      <p:sp>
        <p:nvSpPr>
          <p:cNvPr id="8" name="Shape 6"/>
          <p:cNvSpPr/>
          <p:nvPr/>
        </p:nvSpPr>
        <p:spPr>
          <a:xfrm>
            <a:off x="6233008" y="1920240"/>
            <a:ext cx="5318608" cy="2286000"/>
          </a:xfrm>
          <a:prstGeom prst="roundRect">
            <a:avLst>
              <a:gd name="adj" fmla="val 2800"/>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9" name="Text 7"/>
          <p:cNvSpPr/>
          <p:nvPr/>
        </p:nvSpPr>
        <p:spPr>
          <a:xfrm>
            <a:off x="6470752" y="208483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Sometimes non-main</a:t>
            </a:r>
            <a:endParaRPr lang="en-US" sz="1450" dirty="0"/>
          </a:p>
        </p:txBody>
      </p:sp>
      <p:sp>
        <p:nvSpPr>
          <p:cNvPr id="10" name="Text 8"/>
          <p:cNvSpPr/>
          <p:nvPr/>
        </p:nvSpPr>
        <p:spPr>
          <a:xfrm>
            <a:off x="6470752" y="2505456"/>
            <a:ext cx="4843120" cy="151790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A verb inside the subject noun itself (“determining whether X was true required practice” — was is inside the noun)</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A verb inside additional information (“the boy who ran across the street fell” — ran is extra info about the boy)</a:t>
            </a:r>
            <a:endParaRPr lang="en-US" sz="1200" dirty="0"/>
          </a:p>
        </p:txBody>
      </p:sp>
      <p:sp>
        <p:nvSpPr>
          <p:cNvPr id="11" name="Shape 9"/>
          <p:cNvSpPr/>
          <p:nvPr/>
        </p:nvSpPr>
        <p:spPr>
          <a:xfrm>
            <a:off x="640080" y="4434840"/>
            <a:ext cx="10911535" cy="868680"/>
          </a:xfrm>
          <a:prstGeom prst="roundRect">
            <a:avLst>
              <a:gd name="adj" fmla="val 6316"/>
            </a:avLst>
          </a:prstGeom>
          <a:solidFill>
            <a:srgbClr val="FFFFFF"/>
          </a:solidFill>
          <a:ln w="15875">
            <a:solidFill>
              <a:srgbClr val="C9A84C"/>
            </a:solidFill>
            <a:prstDash val="solid"/>
          </a:ln>
        </p:spPr>
      </p:sp>
      <p:sp>
        <p:nvSpPr>
          <p:cNvPr id="12" name="Text 10"/>
          <p:cNvSpPr/>
          <p:nvPr/>
        </p:nvSpPr>
        <p:spPr>
          <a:xfrm>
            <a:off x="932688" y="4434840"/>
            <a:ext cx="10326319" cy="868680"/>
          </a:xfrm>
          <a:prstGeom prst="rect">
            <a:avLst/>
          </a:prstGeom>
          <a:noFill/>
          <a:ln/>
        </p:spPr>
        <p:txBody>
          <a:bodyPr wrap="square" lIns="0" tIns="0" rIns="0" bIns="0" rtlCol="0" anchor="ctr"/>
          <a:lstStyle/>
          <a:p>
            <a:pPr indent="0" marL="0">
              <a:lnSpc>
                <a:spcPct val="115000"/>
              </a:lnSpc>
              <a:buNone/>
            </a:pPr>
            <a:r>
              <a:rPr lang="en-US" sz="120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200" b="1" dirty="0">
                <a:solidFill>
                  <a:srgbClr val="111111"/>
                </a:solidFill>
                <a:latin typeface="Calibri" pitchFamily="34" charset="0"/>
                <a:ea typeface="Calibri" pitchFamily="34" charset="-122"/>
                <a:cs typeface="Calibri" pitchFamily="34" charset="-120"/>
              </a:rPr>
              <a:t>“Whether you paid attention in math class or not is irrelevant when you have the Desmos calculator” — is is the main verb; paid is inside the subject; have is inside additional information.</a:t>
            </a:r>
            <a:endParaRPr lang="en-US" sz="1200" dirty="0"/>
          </a:p>
        </p:txBody>
      </p:sp>
      <p:sp>
        <p:nvSpPr>
          <p:cNvPr id="13" name="Text 11"/>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4" name="Text 12"/>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PICKING THE RIGHT VERB</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Is there already a main verb?</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This single question decides which half of the flowchart you're in.</a:t>
            </a:r>
            <a:endParaRPr lang="en-US" sz="1350" dirty="0"/>
          </a:p>
        </p:txBody>
      </p:sp>
      <p:sp>
        <p:nvSpPr>
          <p:cNvPr id="5" name="Shape 3"/>
          <p:cNvSpPr/>
          <p:nvPr/>
        </p:nvSpPr>
        <p:spPr>
          <a:xfrm>
            <a:off x="640080" y="1920240"/>
            <a:ext cx="5318608" cy="2743200"/>
          </a:xfrm>
          <a:prstGeom prst="roundRect">
            <a:avLst>
              <a:gd name="adj" fmla="val 2333"/>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6" name="Text 4"/>
          <p:cNvSpPr/>
          <p:nvPr/>
        </p:nvSpPr>
        <p:spPr>
          <a:xfrm>
            <a:off x="877824" y="208483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Yes, a main verb exists</a:t>
            </a:r>
            <a:endParaRPr lang="en-US" sz="1450" dirty="0"/>
          </a:p>
        </p:txBody>
      </p:sp>
      <p:sp>
        <p:nvSpPr>
          <p:cNvPr id="7" name="Text 5"/>
          <p:cNvSpPr/>
          <p:nvPr/>
        </p:nvSpPr>
        <p:spPr>
          <a:xfrm>
            <a:off x="877824" y="2505456"/>
            <a:ext cx="4843120" cy="197510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The sentence can only have ONE main verb.</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Pick the answer choice that is NOT a main verb (an -ing or to- form).</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Two non-main choices tied? If the blank sits inside a comma sandwich (non-essential element), pick the -ing form. If not, pick the to- form.</a:t>
            </a:r>
            <a:endParaRPr lang="en-US" sz="1200" dirty="0"/>
          </a:p>
        </p:txBody>
      </p:sp>
      <p:sp>
        <p:nvSpPr>
          <p:cNvPr id="8" name="Shape 6"/>
          <p:cNvSpPr/>
          <p:nvPr/>
        </p:nvSpPr>
        <p:spPr>
          <a:xfrm>
            <a:off x="6233008" y="1920240"/>
            <a:ext cx="5318608" cy="2743200"/>
          </a:xfrm>
          <a:prstGeom prst="roundRect">
            <a:avLst>
              <a:gd name="adj" fmla="val 2333"/>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9" name="Text 7"/>
          <p:cNvSpPr/>
          <p:nvPr/>
        </p:nvSpPr>
        <p:spPr>
          <a:xfrm>
            <a:off x="6470752" y="208483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No main verb yet</a:t>
            </a:r>
            <a:endParaRPr lang="en-US" sz="1450" dirty="0"/>
          </a:p>
        </p:txBody>
      </p:sp>
      <p:sp>
        <p:nvSpPr>
          <p:cNvPr id="10" name="Text 8"/>
          <p:cNvSpPr/>
          <p:nvPr/>
        </p:nvSpPr>
        <p:spPr>
          <a:xfrm>
            <a:off x="6470752" y="2505456"/>
            <a:ext cx="4843120" cy="197510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You must add one — pick an answer choice that IS a main verb.</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Decide which flavor: is there a singular/plural version of the same word among the choices? If yes, it's a singular/plural question. If no, it's a past/present/future question.</a:t>
            </a:r>
            <a:endParaRPr lang="en-US" sz="1200" dirty="0"/>
          </a:p>
        </p:txBody>
      </p:sp>
      <p:sp>
        <p:nvSpPr>
          <p:cNvPr id="11" name="Shape 9"/>
          <p:cNvSpPr/>
          <p:nvPr/>
        </p:nvSpPr>
        <p:spPr>
          <a:xfrm>
            <a:off x="640080" y="4892040"/>
            <a:ext cx="10911535" cy="914400"/>
          </a:xfrm>
          <a:prstGeom prst="roundRect">
            <a:avLst>
              <a:gd name="adj" fmla="val 6000"/>
            </a:avLst>
          </a:prstGeom>
          <a:solidFill>
            <a:srgbClr val="FFFFFF"/>
          </a:solidFill>
          <a:ln w="15875">
            <a:solidFill>
              <a:srgbClr val="C9A84C"/>
            </a:solidFill>
            <a:prstDash val="solid"/>
          </a:ln>
        </p:spPr>
      </p:sp>
      <p:sp>
        <p:nvSpPr>
          <p:cNvPr id="12" name="Text 10"/>
          <p:cNvSpPr/>
          <p:nvPr/>
        </p:nvSpPr>
        <p:spPr>
          <a:xfrm>
            <a:off x="932688" y="4892040"/>
            <a:ext cx="10326319" cy="91440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“Had” = the past of the past. Use it only when two events both happened in the past and you need to mark which one happened first (“the train had left” before “I arrived”).</a:t>
            </a:r>
            <a:endParaRPr lang="en-US" sz="1450" dirty="0"/>
          </a:p>
        </p:txBody>
      </p:sp>
      <p:sp>
        <p:nvSpPr>
          <p:cNvPr id="13" name="Text 11"/>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4" name="Text 12"/>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SINGULAR/PLURAL DEEP DIVE</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Five traps in finding the real subject</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Once you're picking a main verb from scratch, the SAT hides the true subject in predictable ways.</a:t>
            </a:r>
            <a:endParaRPr lang="en-US" sz="13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11535" cy="914400"/>
        </p:xfrm>
        <a:graphic>
          <a:graphicData uri="http://schemas.openxmlformats.org/drawingml/2006/table">
            <a:tbl>
              <a:tblPr/>
              <a:tblGrid>
                <a:gridCol w="3637178"/>
                <a:gridCol w="3637178"/>
                <a:gridCol w="3637178"/>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Rule</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r>
              <a:tr h="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“X and Y”</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Plural — unless it's “as well as / along with,” which stays singular.</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A state's voting record and polling data → plural (determine)</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“[thing] of [thing]”</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Look at the word before “of,” not after it.</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The shape of the ears → singular (is), not ears</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r h="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Collective nouns</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The group itself is singular, no matter what's inside it.</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A flock of birds → singular</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“Each one” / “each ___”</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Always singular.</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Each one of the participants → singular</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r h="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Subject after the verb</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Ask what's really doing the action — it can follow the verb.</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Along the coastline stand several ruins → plural (ruins act)</a:t>
                      </a:r>
                      <a:endParaRPr lang="en-US" sz="11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4343400"/>
            <a:ext cx="10911535" cy="777240"/>
          </a:xfrm>
          <a:prstGeom prst="roundRect">
            <a:avLst>
              <a:gd name="adj" fmla="val 7059"/>
            </a:avLst>
          </a:prstGeom>
          <a:solidFill>
            <a:srgbClr val="FFFFFF"/>
          </a:solidFill>
          <a:ln w="15875">
            <a:solidFill>
              <a:srgbClr val="C9A84C"/>
            </a:solidFill>
            <a:prstDash val="solid"/>
          </a:ln>
        </p:spPr>
      </p:sp>
      <p:sp>
        <p:nvSpPr>
          <p:cNvPr id="7" name="Text 4"/>
          <p:cNvSpPr/>
          <p:nvPr/>
        </p:nvSpPr>
        <p:spPr>
          <a:xfrm>
            <a:off x="932688" y="4343400"/>
            <a:ext cx="10326319" cy="777240"/>
          </a:xfrm>
          <a:prstGeom prst="rect">
            <a:avLst/>
          </a:prstGeom>
          <a:noFill/>
          <a:ln/>
        </p:spPr>
        <p:txBody>
          <a:bodyPr wrap="square" lIns="0" tIns="0" rIns="0" bIns="0" rtlCol="0" anchor="ctr"/>
          <a:lstStyle/>
          <a:p>
            <a:pPr indent="0" marL="0">
              <a:lnSpc>
                <a:spcPct val="115000"/>
              </a:lnSpc>
              <a:buNone/>
            </a:pPr>
            <a:r>
              <a:rPr lang="en-US" sz="13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350" b="1" dirty="0">
                <a:solidFill>
                  <a:srgbClr val="111111"/>
                </a:solidFill>
                <a:latin typeface="Calibri" pitchFamily="34" charset="0"/>
                <a:ea typeface="Calibri" pitchFamily="34" charset="-122"/>
                <a:cs typeface="Calibri" pitchFamily="34" charset="-120"/>
              </a:rPr>
              <a:t>The fix for all five: stop and ask “what is actually doing the action?” — don't just grab the closest noun.</a:t>
            </a:r>
            <a:endParaRPr lang="en-US" sz="1350" dirty="0"/>
          </a:p>
        </p:txBody>
      </p:sp>
      <p:sp>
        <p:nvSpPr>
          <p:cNvPr id="8" name="Text 5"/>
          <p:cNvSpPr/>
          <p:nvPr/>
        </p:nvSpPr>
        <p:spPr>
          <a:xfrm>
            <a:off x="640080" y="5349240"/>
            <a:ext cx="10911535" cy="2743200"/>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These five traps only come up once you've fallen through all four instant shortcuts — treat them as your last line of defense, not your default approach.</a:t>
            </a:r>
            <a:endParaRPr lang="en-US" sz="1300" dirty="0"/>
          </a:p>
        </p:txBody>
      </p:sp>
      <p:sp>
        <p:nvSpPr>
          <p:cNvPr id="9" name="Text 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0" name="Text 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HEADS UP</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One outdated question type to skip</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A small housekeeping note before practice.</a:t>
            </a:r>
            <a:endParaRPr lang="en-US" sz="1350" dirty="0"/>
          </a:p>
        </p:txBody>
      </p:sp>
      <p:sp>
        <p:nvSpPr>
          <p:cNvPr id="5" name="Text 3"/>
          <p:cNvSpPr/>
          <p:nvPr/>
        </p:nvSpPr>
        <p:spPr>
          <a:xfrm>
            <a:off x="640080" y="196596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600" dirty="0">
                <a:solidFill>
                  <a:srgbClr val="111111"/>
                </a:solidFill>
                <a:latin typeface="Calibri" pitchFamily="34" charset="0"/>
                <a:ea typeface="Calibri" pitchFamily="34" charset="-122"/>
                <a:cs typeface="Calibri" pitchFamily="34" charset="-120"/>
              </a:rPr>
              <a:t>Two verb-question formats from the 2023 pre-digital SAT are still sitting in the College Board question bank.</a:t>
            </a:r>
            <a:endParaRPr lang="en-US" sz="1600" dirty="0"/>
          </a:p>
          <a:p>
            <a:pPr marL="203200" indent="-203200">
              <a:lnSpc>
                <a:spcPct val="115000"/>
              </a:lnSpc>
              <a:spcAft>
                <a:spcPts val="800"/>
              </a:spcAft>
              <a:buSzPct val="100000"/>
              <a:buChar char="•"/>
            </a:pPr>
            <a:r>
              <a:rPr lang="en-US" sz="1600" dirty="0">
                <a:solidFill>
                  <a:srgbClr val="111111"/>
                </a:solidFill>
                <a:latin typeface="Calibri" pitchFamily="34" charset="0"/>
                <a:ea typeface="Calibri" pitchFamily="34" charset="-122"/>
                <a:cs typeface="Calibri" pitchFamily="34" charset="-120"/>
              </a:rPr>
              <a:t>Not a single official digital SAT test has used this format since the test went digital.</a:t>
            </a:r>
            <a:endParaRPr lang="en-US" sz="1600" dirty="0"/>
          </a:p>
          <a:p>
            <a:pPr marL="203200" indent="-203200">
              <a:lnSpc>
                <a:spcPct val="115000"/>
              </a:lnSpc>
              <a:spcAft>
                <a:spcPts val="800"/>
              </a:spcAft>
              <a:buSzPct val="100000"/>
              <a:buChar char="•"/>
            </a:pPr>
            <a:r>
              <a:rPr lang="en-US" sz="1600" dirty="0">
                <a:solidFill>
                  <a:srgbClr val="111111"/>
                </a:solidFill>
                <a:latin typeface="Calibri" pitchFamily="34" charset="0"/>
                <a:ea typeface="Calibri" pitchFamily="34" charset="-122"/>
                <a:cs typeface="Calibri" pitchFamily="34" charset="-120"/>
              </a:rPr>
              <a:t>If you see one while practicing in the question bank, skip it — it isn't representative of the real test.</a:t>
            </a:r>
            <a:endParaRPr lang="en-US" sz="1600" dirty="0"/>
          </a:p>
        </p:txBody>
      </p:sp>
      <p:sp>
        <p:nvSpPr>
          <p:cNvPr id="6" name="Text 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7" name="Text 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full flowchart, question 1</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MIXED VERB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Walk the full flowchart out loud: verb question? shortcut? main verb already present? pick accordingly.</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full flowchart, question 2</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MIXED VERB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Walk the full flowchart out loud: verb question? shortcut? main verb already present? pick accordingly.</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full flowchart, question 3</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MIXED VERB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Walk the full flowchart out loud: verb question? shortcut? main verb already present? pick accordingly.</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VERB QUESTIONS · RECAP</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Verb questions — the full checklist</a:t>
            </a:r>
            <a:endParaRPr lang="en-US" sz="2900" dirty="0"/>
          </a:p>
        </p:txBody>
      </p:sp>
      <p:sp>
        <p:nvSpPr>
          <p:cNvPr id="4" name="Text 2"/>
          <p:cNvSpPr/>
          <p:nvPr/>
        </p:nvSpPr>
        <p:spPr>
          <a:xfrm>
            <a:off x="640080" y="1874520"/>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5" name="Text 3"/>
          <p:cNvSpPr/>
          <p:nvPr/>
        </p:nvSpPr>
        <p:spPr>
          <a:xfrm>
            <a:off x="969264" y="1874520"/>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Is it actually a verb question (no punctuation differences)?</a:t>
            </a:r>
            <a:endParaRPr lang="en-US" sz="1250" dirty="0"/>
          </a:p>
        </p:txBody>
      </p:sp>
      <p:sp>
        <p:nvSpPr>
          <p:cNvPr id="6" name="Text 4"/>
          <p:cNvSpPr/>
          <p:nvPr/>
        </p:nvSpPr>
        <p:spPr>
          <a:xfrm>
            <a:off x="6278728" y="1874520"/>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6607912" y="1874520"/>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Shortcut 1 — by/as/to right after the blank, no verb following?</a:t>
            </a:r>
            <a:endParaRPr lang="en-US" sz="1250" dirty="0"/>
          </a:p>
        </p:txBody>
      </p:sp>
      <p:sp>
        <p:nvSpPr>
          <p:cNvPr id="8" name="Text 6"/>
          <p:cNvSpPr/>
          <p:nvPr/>
        </p:nvSpPr>
        <p:spPr>
          <a:xfrm>
            <a:off x="640080" y="2441448"/>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969264" y="2441448"/>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Shortcut 2 — 3-to-1 singular/plural among the choices?</a:t>
            </a:r>
            <a:endParaRPr lang="en-US" sz="1250" dirty="0"/>
          </a:p>
        </p:txBody>
      </p:sp>
      <p:sp>
        <p:nvSpPr>
          <p:cNvPr id="10" name="Text 8"/>
          <p:cNvSpPr/>
          <p:nvPr/>
        </p:nvSpPr>
        <p:spPr>
          <a:xfrm>
            <a:off x="6278728" y="2441448"/>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6607912" y="2441448"/>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Shortcut 3 — three -ing/to- forms and one that isn't?</a:t>
            </a:r>
            <a:endParaRPr lang="en-US" sz="1250" dirty="0"/>
          </a:p>
        </p:txBody>
      </p:sp>
      <p:sp>
        <p:nvSpPr>
          <p:cNvPr id="12" name="Text 10"/>
          <p:cNvSpPr/>
          <p:nvPr/>
        </p:nvSpPr>
        <p:spPr>
          <a:xfrm>
            <a:off x="640080" y="3008376"/>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969264" y="3008376"/>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Shortcut 4 — does “will” appear? Read for tense context.</a:t>
            </a:r>
            <a:endParaRPr lang="en-US" sz="1250" dirty="0"/>
          </a:p>
        </p:txBody>
      </p:sp>
      <p:sp>
        <p:nvSpPr>
          <p:cNvPr id="14" name="Text 12"/>
          <p:cNvSpPr/>
          <p:nvPr/>
        </p:nvSpPr>
        <p:spPr>
          <a:xfrm>
            <a:off x="6278728" y="3008376"/>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6607912" y="3008376"/>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No shortcut fits — find the sentence's subject and main verb.</a:t>
            </a:r>
            <a:endParaRPr lang="en-US" sz="1250" dirty="0"/>
          </a:p>
        </p:txBody>
      </p:sp>
      <p:sp>
        <p:nvSpPr>
          <p:cNvPr id="16" name="Text 14"/>
          <p:cNvSpPr/>
          <p:nvPr/>
        </p:nvSpPr>
        <p:spPr>
          <a:xfrm>
            <a:off x="640080" y="3575304"/>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969264" y="3575304"/>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Main verb already there? Pick the non-main verb choice.</a:t>
            </a:r>
            <a:endParaRPr lang="en-US" sz="1250" dirty="0"/>
          </a:p>
        </p:txBody>
      </p:sp>
      <p:sp>
        <p:nvSpPr>
          <p:cNvPr id="18" name="Text 16"/>
          <p:cNvSpPr/>
          <p:nvPr/>
        </p:nvSpPr>
        <p:spPr>
          <a:xfrm>
            <a:off x="6278728" y="3575304"/>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6607912" y="3575304"/>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No main verb yet? Decide singular/plural vs. tense, then pick.</a:t>
            </a:r>
            <a:endParaRPr lang="en-US" sz="1250" dirty="0"/>
          </a:p>
        </p:txBody>
      </p:sp>
      <p:sp>
        <p:nvSpPr>
          <p:cNvPr id="20" name="Text 18"/>
          <p:cNvSpPr/>
          <p:nvPr/>
        </p:nvSpPr>
        <p:spPr>
          <a:xfrm>
            <a:off x="640080" y="4142232"/>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969264" y="4142232"/>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Watch for the 5 singular/plural traps (and/of/collective/each/reversed order).</a:t>
            </a:r>
            <a:endParaRPr lang="en-US" sz="1250" dirty="0"/>
          </a:p>
        </p:txBody>
      </p:sp>
      <p:sp>
        <p:nvSpPr>
          <p:cNvPr id="22" name="Text 20"/>
          <p:cNvSpPr/>
          <p:nvPr/>
        </p:nvSpPr>
        <p:spPr>
          <a:xfrm>
            <a:off x="6278728" y="4142232"/>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23" name="Text 21"/>
          <p:cNvSpPr/>
          <p:nvPr/>
        </p:nvSpPr>
        <p:spPr>
          <a:xfrm>
            <a:off x="6607912" y="4142232"/>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Use “had” only to mark which of two past events happened first.</a:t>
            </a:r>
            <a:endParaRPr lang="en-US" sz="1250" dirty="0"/>
          </a:p>
        </p:txBody>
      </p:sp>
      <p:sp>
        <p:nvSpPr>
          <p:cNvPr id="24" name="Text 22"/>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25" name="Text 23"/>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B0271C"/>
        </a:solidFill>
      </p:bgPr>
    </p:bg>
    <p:spTree>
      <p:nvGrpSpPr>
        <p:cNvPr id="1" name=""/>
        <p:cNvGrpSpPr/>
        <p:nvPr/>
      </p:nvGrpSpPr>
      <p:grpSpPr>
        <a:xfrm>
          <a:off x="0" y="0"/>
          <a:ext cx="0" cy="0"/>
          <a:chOff x="0" y="0"/>
          <a:chExt cx="0" cy="0"/>
        </a:xfrm>
      </p:grpSpPr>
      <p:sp>
        <p:nvSpPr>
          <p:cNvPr id="2" name="Shape 0"/>
          <p:cNvSpPr/>
          <p:nvPr/>
        </p:nvSpPr>
        <p:spPr>
          <a:xfrm>
            <a:off x="9052560" y="-2194560"/>
            <a:ext cx="5852160" cy="5852160"/>
          </a:xfrm>
          <a:prstGeom prst="ellipse">
            <a:avLst/>
          </a:prstGeom>
          <a:solidFill>
            <a:srgbClr val="FFFFFF">
              <a:alpha val="12000"/>
            </a:srgbClr>
          </a:solidFill>
          <a:ln/>
        </p:spPr>
      </p:sp>
      <p:sp>
        <p:nvSpPr>
          <p:cNvPr id="3" name="Text 1"/>
          <p:cNvSpPr/>
          <p:nvPr/>
        </p:nvSpPr>
        <p:spPr>
          <a:xfrm>
            <a:off x="822960" y="2606040"/>
            <a:ext cx="9601200" cy="310896"/>
          </a:xfrm>
          <a:prstGeom prst="rect">
            <a:avLst/>
          </a:prstGeom>
          <a:noFill/>
          <a:ln/>
        </p:spPr>
        <p:txBody>
          <a:bodyPr wrap="square" lIns="0" tIns="0" rIns="0" bIns="0" rtlCol="0" anchor="ctr"/>
          <a:lstStyle/>
          <a:p>
            <a:pPr indent="0" marL="0">
              <a:buNone/>
            </a:pPr>
            <a:r>
              <a:rPr lang="en-US" sz="1350" b="1" spc="200" kern="0" dirty="0">
                <a:solidFill>
                  <a:srgbClr val="C9A84C"/>
                </a:solidFill>
                <a:latin typeface="Calibri" pitchFamily="34" charset="0"/>
                <a:ea typeface="Calibri" pitchFamily="34" charset="-122"/>
                <a:cs typeface="Calibri" pitchFamily="34" charset="-120"/>
              </a:rPr>
              <a:t>◆ SECTION 3 OF 7</a:t>
            </a:r>
            <a:endParaRPr lang="en-US" sz="1350" dirty="0"/>
          </a:p>
        </p:txBody>
      </p:sp>
      <p:sp>
        <p:nvSpPr>
          <p:cNvPr id="4" name="Text 2"/>
          <p:cNvSpPr/>
          <p:nvPr/>
        </p:nvSpPr>
        <p:spPr>
          <a:xfrm>
            <a:off x="777240" y="2971800"/>
            <a:ext cx="10241280" cy="12344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Reading Comprehension</a:t>
            </a:r>
            <a:endParaRPr lang="en-US" sz="4200" dirty="0"/>
          </a:p>
        </p:txBody>
      </p:sp>
      <p:sp>
        <p:nvSpPr>
          <p:cNvPr id="5" name="Text 3"/>
          <p:cNvSpPr/>
          <p:nvPr/>
        </p:nvSpPr>
        <p:spPr>
          <a:xfrm>
            <a:off x="822960" y="4160520"/>
            <a:ext cx="8778240" cy="640080"/>
          </a:xfrm>
          <a:prstGeom prst="rect">
            <a:avLst/>
          </a:prstGeom>
          <a:noFill/>
          <a:ln/>
        </p:spPr>
        <p:txBody>
          <a:bodyPr wrap="square" lIns="0" tIns="0" rIns="0" bIns="0" rtlCol="0" anchor="ctr"/>
          <a:lstStyle/>
          <a:p>
            <a:pPr indent="0" marL="0">
              <a:lnSpc>
                <a:spcPct val="120000"/>
              </a:lnSpc>
              <a:buNone/>
            </a:pPr>
            <a:r>
              <a:rPr lang="en-US" sz="1500" dirty="0">
                <a:solidFill>
                  <a:srgbClr val="F0DCD9"/>
                </a:solidFill>
                <a:latin typeface="Calibri" pitchFamily="34" charset="0"/>
                <a:ea typeface="Calibri" pitchFamily="34" charset="-122"/>
                <a:cs typeface="Calibri" pitchFamily="34" charset="-120"/>
              </a:rPr>
              <a:t>The dense, hard-module passages — solved with a repeatable 4-part reading process, not raw talent.</a:t>
            </a:r>
            <a:endParaRPr lang="en-US" sz="1500" dirty="0"/>
          </a:p>
        </p:txBody>
      </p:sp>
      <p:sp>
        <p:nvSpPr>
          <p:cNvPr id="6" name="Text 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E8C9C4"/>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7" name="Text 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E8C9C4"/>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READING COMPREHENSION · THE PROCESS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Two phases, four habits</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Reading the passage (3 habits) and going through the answer choices (1 habit).</a:t>
            </a:r>
            <a:endParaRPr lang="en-US" sz="1350" dirty="0"/>
          </a:p>
        </p:txBody>
      </p:sp>
      <p:sp>
        <p:nvSpPr>
          <p:cNvPr id="5" name="Text 3"/>
          <p:cNvSpPr/>
          <p:nvPr/>
        </p:nvSpPr>
        <p:spPr>
          <a:xfrm>
            <a:off x="640080" y="19202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01</a:t>
            </a:r>
            <a:endParaRPr lang="en-US" sz="2100" dirty="0"/>
          </a:p>
        </p:txBody>
      </p:sp>
      <p:sp>
        <p:nvSpPr>
          <p:cNvPr id="6" name="Text 4"/>
          <p:cNvSpPr/>
          <p:nvPr/>
        </p:nvSpPr>
        <p:spPr>
          <a:xfrm>
            <a:off x="1508760" y="19202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1 · Chunking</a:t>
            </a:r>
            <a:endParaRPr lang="en-US" sz="1450" dirty="0"/>
          </a:p>
        </p:txBody>
      </p:sp>
      <p:sp>
        <p:nvSpPr>
          <p:cNvPr id="7" name="Text 5"/>
          <p:cNvSpPr/>
          <p:nvPr/>
        </p:nvSpPr>
        <p:spPr>
          <a:xfrm>
            <a:off x="1508760" y="2286000"/>
            <a:ext cx="10042855" cy="62179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Understand every 3–5 words before moving to the next chunk. Never let confusion carry forward.</a:t>
            </a:r>
            <a:endParaRPr lang="en-US" sz="1200" dirty="0"/>
          </a:p>
        </p:txBody>
      </p:sp>
      <p:sp>
        <p:nvSpPr>
          <p:cNvPr id="8" name="Text 6"/>
          <p:cNvSpPr/>
          <p:nvPr/>
        </p:nvSpPr>
        <p:spPr>
          <a:xfrm>
            <a:off x="640080" y="292608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02</a:t>
            </a:r>
            <a:endParaRPr lang="en-US" sz="2100" dirty="0"/>
          </a:p>
        </p:txBody>
      </p:sp>
      <p:sp>
        <p:nvSpPr>
          <p:cNvPr id="9" name="Text 7"/>
          <p:cNvSpPr/>
          <p:nvPr/>
        </p:nvSpPr>
        <p:spPr>
          <a:xfrm>
            <a:off x="1508760" y="292608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2 · Predicting the passage</a:t>
            </a:r>
            <a:endParaRPr lang="en-US" sz="1450" dirty="0"/>
          </a:p>
        </p:txBody>
      </p:sp>
      <p:sp>
        <p:nvSpPr>
          <p:cNvPr id="10" name="Text 8"/>
          <p:cNvSpPr/>
          <p:nvPr/>
        </p:nvSpPr>
        <p:spPr>
          <a:xfrm>
            <a:off x="1508760" y="3291840"/>
            <a:ext cx="10042855" cy="62179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While reading, constantly guess where the logic is heading next.</a:t>
            </a:r>
            <a:endParaRPr lang="en-US" sz="1200" dirty="0"/>
          </a:p>
        </p:txBody>
      </p:sp>
      <p:sp>
        <p:nvSpPr>
          <p:cNvPr id="11" name="Text 9"/>
          <p:cNvSpPr/>
          <p:nvPr/>
        </p:nvSpPr>
        <p:spPr>
          <a:xfrm>
            <a:off x="640080" y="393192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03</a:t>
            </a:r>
            <a:endParaRPr lang="en-US" sz="2100" dirty="0"/>
          </a:p>
        </p:txBody>
      </p:sp>
      <p:sp>
        <p:nvSpPr>
          <p:cNvPr id="12" name="Text 10"/>
          <p:cNvSpPr/>
          <p:nvPr/>
        </p:nvSpPr>
        <p:spPr>
          <a:xfrm>
            <a:off x="1508760" y="393192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3 · Predicting the answer</a:t>
            </a:r>
            <a:endParaRPr lang="en-US" sz="1450" dirty="0"/>
          </a:p>
        </p:txBody>
      </p:sp>
      <p:sp>
        <p:nvSpPr>
          <p:cNvPr id="13" name="Text 11"/>
          <p:cNvSpPr/>
          <p:nvPr/>
        </p:nvSpPr>
        <p:spPr>
          <a:xfrm>
            <a:off x="1508760" y="4297680"/>
            <a:ext cx="10042855" cy="62179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Before you look at any answer choice, form your own idea of what the correct answer should say.</a:t>
            </a:r>
            <a:endParaRPr lang="en-US" sz="1200" dirty="0"/>
          </a:p>
        </p:txBody>
      </p:sp>
      <p:sp>
        <p:nvSpPr>
          <p:cNvPr id="14" name="Text 12"/>
          <p:cNvSpPr/>
          <p:nvPr/>
        </p:nvSpPr>
        <p:spPr>
          <a:xfrm>
            <a:off x="640080" y="493776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04</a:t>
            </a:r>
            <a:endParaRPr lang="en-US" sz="2100" dirty="0"/>
          </a:p>
        </p:txBody>
      </p:sp>
      <p:sp>
        <p:nvSpPr>
          <p:cNvPr id="15" name="Text 13"/>
          <p:cNvSpPr/>
          <p:nvPr/>
        </p:nvSpPr>
        <p:spPr>
          <a:xfrm>
            <a:off x="1508760" y="493776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4 · Word-by-word through choices</a:t>
            </a:r>
            <a:endParaRPr lang="en-US" sz="1450" dirty="0"/>
          </a:p>
        </p:txBody>
      </p:sp>
      <p:sp>
        <p:nvSpPr>
          <p:cNvPr id="16" name="Text 14"/>
          <p:cNvSpPr/>
          <p:nvPr/>
        </p:nvSpPr>
        <p:spPr>
          <a:xfrm>
            <a:off x="1508760" y="5303520"/>
            <a:ext cx="10042855" cy="62179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Read one word at a time and ask “still correct so far?” The instant a word doesn't match the text, it's wrong.</a:t>
            </a:r>
            <a:endParaRPr lang="en-US" sz="1200" dirty="0"/>
          </a:p>
        </p:txBody>
      </p:sp>
      <p:sp>
        <p:nvSpPr>
          <p:cNvPr id="17" name="Text 1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8" name="Text 1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READING COMPREHENSION · CHUNKING &amp; PREDICTION</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Never move on confused</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Predicting the passage is how you check that you actually understood the last chunk.</a:t>
            </a:r>
            <a:endParaRPr lang="en-US" sz="1350" dirty="0"/>
          </a:p>
        </p:txBody>
      </p:sp>
      <p:sp>
        <p:nvSpPr>
          <p:cNvPr id="5" name="Text 3"/>
          <p:cNvSpPr/>
          <p:nvPr/>
        </p:nvSpPr>
        <p:spPr>
          <a:xfrm>
            <a:off x="640080" y="192024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If a chunk doesn't click immediately, stop — reread just that chunk, restate it in your own words, and connect it to what came before.</a:t>
            </a:r>
            <a:endParaRPr lang="en-US" sz="1500" dirty="0"/>
          </a:p>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Then predict what's coming next. Being wrong is fine and expected — the act of predicting is what forces real understanding.</a:t>
            </a:r>
            <a:endParaRPr lang="en-US" sz="1500" dirty="0"/>
          </a:p>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This replaces “remembering” the passage: if you can predict what's next, you understood — and you'll retain it without extra effort.</a:t>
            </a:r>
            <a:endParaRPr lang="en-US" sz="1500" dirty="0"/>
          </a:p>
        </p:txBody>
      </p:sp>
      <p:sp>
        <p:nvSpPr>
          <p:cNvPr id="6" name="Shape 4"/>
          <p:cNvSpPr/>
          <p:nvPr/>
        </p:nvSpPr>
        <p:spPr>
          <a:xfrm>
            <a:off x="640080" y="3977640"/>
            <a:ext cx="10911535" cy="914400"/>
          </a:xfrm>
          <a:prstGeom prst="roundRect">
            <a:avLst>
              <a:gd name="adj" fmla="val 6000"/>
            </a:avLst>
          </a:prstGeom>
          <a:solidFill>
            <a:srgbClr val="FFFFFF"/>
          </a:solidFill>
          <a:ln w="15875">
            <a:solidFill>
              <a:srgbClr val="C9A84C"/>
            </a:solidFill>
            <a:prstDash val="solid"/>
          </a:ln>
        </p:spPr>
      </p:sp>
      <p:sp>
        <p:nvSpPr>
          <p:cNvPr id="7" name="Text 5"/>
          <p:cNvSpPr/>
          <p:nvPr/>
        </p:nvSpPr>
        <p:spPr>
          <a:xfrm>
            <a:off x="932688" y="3977640"/>
            <a:ext cx="10326319" cy="91440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Test yourself: at the two-thirds mark of any passage, stop and recite the main points from memory. If you can't, you were skimming, not chunking.</a:t>
            </a:r>
            <a:endParaRPr lang="en-US" sz="1450" dirty="0"/>
          </a:p>
        </p:txBody>
      </p:sp>
      <p:sp>
        <p:nvSpPr>
          <p:cNvPr id="8" name="Text 6"/>
          <p:cNvSpPr/>
          <p:nvPr/>
        </p:nvSpPr>
        <p:spPr>
          <a:xfrm>
            <a:off x="640080" y="5074920"/>
            <a:ext cx="10911535" cy="2743200"/>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This is the exact diagnostic tutors use to catch students who think they understand a passage but actually don't.</a:t>
            </a:r>
            <a:endParaRPr lang="en-US" sz="1300" dirty="0"/>
          </a:p>
        </p:txBody>
      </p:sp>
      <p:sp>
        <p:nvSpPr>
          <p:cNvPr id="9" name="Text 7"/>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0" name="Text 8"/>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READING COMPREHENSION · ANSWER CHOICES</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Predict your own answer, then go word-by-word</a:t>
            </a:r>
            <a:endParaRPr lang="en-US" sz="2900" dirty="0"/>
          </a:p>
        </p:txBody>
      </p:sp>
      <p:sp>
        <p:nvSpPr>
          <p:cNvPr id="4" name="Shape 2"/>
          <p:cNvSpPr/>
          <p:nvPr/>
        </p:nvSpPr>
        <p:spPr>
          <a:xfrm>
            <a:off x="640080" y="1920240"/>
            <a:ext cx="5318608" cy="3017520"/>
          </a:xfrm>
          <a:prstGeom prst="roundRect">
            <a:avLst>
              <a:gd name="adj" fmla="val 2121"/>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5" name="Text 3"/>
          <p:cNvSpPr/>
          <p:nvPr/>
        </p:nvSpPr>
        <p:spPr>
          <a:xfrm>
            <a:off x="877824" y="208483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Predict before you look</a:t>
            </a:r>
            <a:endParaRPr lang="en-US" sz="1450" dirty="0"/>
          </a:p>
        </p:txBody>
      </p:sp>
      <p:sp>
        <p:nvSpPr>
          <p:cNvPr id="6" name="Text 4"/>
          <p:cNvSpPr/>
          <p:nvPr/>
        </p:nvSpPr>
        <p:spPr>
          <a:xfrm>
            <a:off x="877824" y="2505456"/>
            <a:ext cx="4843120" cy="224942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After finishing the passage, form your own version of the correct answer — even a rough one.</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This is a comprehension check: if you can't predict an answer, you missed something in the passage.</a:t>
            </a:r>
            <a:endParaRPr lang="en-US" sz="1200" dirty="0"/>
          </a:p>
        </p:txBody>
      </p:sp>
      <p:sp>
        <p:nvSpPr>
          <p:cNvPr id="7" name="Shape 5"/>
          <p:cNvSpPr/>
          <p:nvPr/>
        </p:nvSpPr>
        <p:spPr>
          <a:xfrm>
            <a:off x="6233008" y="1920240"/>
            <a:ext cx="5318608" cy="3017520"/>
          </a:xfrm>
          <a:prstGeom prst="roundRect">
            <a:avLst>
              <a:gd name="adj" fmla="val 2121"/>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8" name="Text 6"/>
          <p:cNvSpPr/>
          <p:nvPr/>
        </p:nvSpPr>
        <p:spPr>
          <a:xfrm>
            <a:off x="6470752" y="208483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Then read word-by-word</a:t>
            </a:r>
            <a:endParaRPr lang="en-US" sz="1450" dirty="0"/>
          </a:p>
        </p:txBody>
      </p:sp>
      <p:sp>
        <p:nvSpPr>
          <p:cNvPr id="9" name="Text 7"/>
          <p:cNvSpPr/>
          <p:nvPr/>
        </p:nvSpPr>
        <p:spPr>
          <a:xfrm>
            <a:off x="6470752" y="2505456"/>
            <a:ext cx="4843120" cy="224942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For each answer choice, ask after every single word: “still correct so far?”</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The first word that isn't supported by the text kills that choice — move on immediately.</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This prevents missing one small adjective that flips a choice from right to wrong.</a:t>
            </a:r>
            <a:endParaRPr lang="en-US" sz="1200" dirty="0"/>
          </a:p>
        </p:txBody>
      </p:sp>
      <p:sp>
        <p:nvSpPr>
          <p:cNvPr id="10" name="Shape 8"/>
          <p:cNvSpPr/>
          <p:nvPr/>
        </p:nvSpPr>
        <p:spPr>
          <a:xfrm>
            <a:off x="640080" y="5166360"/>
            <a:ext cx="10911535" cy="685800"/>
          </a:xfrm>
          <a:prstGeom prst="roundRect">
            <a:avLst>
              <a:gd name="adj" fmla="val 8000"/>
            </a:avLst>
          </a:prstGeom>
          <a:solidFill>
            <a:srgbClr val="FFFFFF"/>
          </a:solidFill>
          <a:ln w="15875">
            <a:solidFill>
              <a:srgbClr val="C9A84C"/>
            </a:solidFill>
            <a:prstDash val="solid"/>
          </a:ln>
        </p:spPr>
      </p:sp>
      <p:sp>
        <p:nvSpPr>
          <p:cNvPr id="11" name="Text 9"/>
          <p:cNvSpPr/>
          <p:nvPr/>
        </p:nvSpPr>
        <p:spPr>
          <a:xfrm>
            <a:off x="932688" y="5166360"/>
            <a:ext cx="10326319" cy="685800"/>
          </a:xfrm>
          <a:prstGeom prst="rect">
            <a:avLst/>
          </a:prstGeom>
          <a:noFill/>
          <a:ln/>
        </p:spPr>
        <p:txBody>
          <a:bodyPr wrap="square" lIns="0" tIns="0" rIns="0" bIns="0" rtlCol="0" anchor="ctr"/>
          <a:lstStyle/>
          <a:p>
            <a:pPr indent="0" marL="0">
              <a:lnSpc>
                <a:spcPct val="115000"/>
              </a:lnSpc>
              <a:buNone/>
            </a:pPr>
            <a:r>
              <a:rPr lang="en-US" sz="120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200" b="1" dirty="0">
                <a:solidFill>
                  <a:srgbClr val="111111"/>
                </a:solidFill>
                <a:latin typeface="Calibri" pitchFamily="34" charset="0"/>
                <a:ea typeface="Calibri" pitchFamily="34" charset="-122"/>
                <a:cs typeface="Calibri" pitchFamily="34" charset="-120"/>
              </a:rPr>
              <a:t>There is always exactly one right answer, and every word in it is directly supported by the text somewhere.</a:t>
            </a:r>
            <a:endParaRPr lang="en-US" sz="1200" dirty="0"/>
          </a:p>
        </p:txBody>
      </p:sp>
      <p:sp>
        <p:nvSpPr>
          <p:cNvPr id="12" name="Text 10"/>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3" name="Text 11"/>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READING COMPREHENSION · WHY IT WORKS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Active reading beats passive reading</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Most wrong answers come from letting the answer choices “implant” an idea, not from a vocabulary gap.</a:t>
            </a:r>
            <a:endParaRPr lang="en-US" sz="1350" dirty="0"/>
          </a:p>
        </p:txBody>
      </p:sp>
      <p:sp>
        <p:nvSpPr>
          <p:cNvPr id="5" name="Text 3"/>
          <p:cNvSpPr/>
          <p:nvPr/>
        </p:nvSpPr>
        <p:spPr>
          <a:xfrm>
            <a:off x="640080" y="192024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450" dirty="0">
                <a:solidFill>
                  <a:srgbClr val="111111"/>
                </a:solidFill>
                <a:latin typeface="Calibri" pitchFamily="34" charset="0"/>
                <a:ea typeface="Calibri" pitchFamily="34" charset="-122"/>
                <a:cs typeface="Calibri" pitchFamily="34" charset="-120"/>
              </a:rPr>
              <a:t>If you don't understand a line and read on anyway, the confusion snowballs — line 2 needs line 1, line 3 needs line 2, and so on.</a:t>
            </a:r>
            <a:endParaRPr lang="en-US" sz="1450" dirty="0"/>
          </a:p>
          <a:p>
            <a:pPr marL="203200" indent="-203200">
              <a:lnSpc>
                <a:spcPct val="115000"/>
              </a:lnSpc>
              <a:spcAft>
                <a:spcPts val="800"/>
              </a:spcAft>
              <a:buSzPct val="100000"/>
              <a:buChar char="•"/>
            </a:pPr>
            <a:r>
              <a:rPr lang="en-US" sz="1450" dirty="0">
                <a:solidFill>
                  <a:srgbClr val="111111"/>
                </a:solidFill>
                <a:latin typeface="Calibri" pitchFamily="34" charset="0"/>
                <a:ea typeface="Calibri" pitchFamily="34" charset="-122"/>
                <a:cs typeface="Calibri" pitchFamily="34" charset="-120"/>
              </a:rPr>
              <a:t>By the end, you understand nothing and have to reread the entire passage from scratch.</a:t>
            </a:r>
            <a:endParaRPr lang="en-US" sz="1450" dirty="0"/>
          </a:p>
          <a:p>
            <a:pPr marL="203200" indent="-203200">
              <a:lnSpc>
                <a:spcPct val="115000"/>
              </a:lnSpc>
              <a:spcAft>
                <a:spcPts val="800"/>
              </a:spcAft>
              <a:buSzPct val="100000"/>
              <a:buChar char="•"/>
            </a:pPr>
            <a:r>
              <a:rPr lang="en-US" sz="1450" dirty="0">
                <a:solidFill>
                  <a:srgbClr val="111111"/>
                </a:solidFill>
                <a:latin typeface="Calibri" pitchFamily="34" charset="0"/>
                <a:ea typeface="Calibri" pitchFamily="34" charset="-122"/>
                <a:cs typeface="Calibri" pitchFamily="34" charset="-120"/>
              </a:rPr>
              <a:t>With a mediocre, assumption-filled understanding, wrong answer choices feel plausible — that's what "getting tricked" actually is.</a:t>
            </a:r>
            <a:endParaRPr lang="en-US" sz="1450" dirty="0"/>
          </a:p>
          <a:p>
            <a:pPr marL="203200" indent="-203200">
              <a:lnSpc>
                <a:spcPct val="115000"/>
              </a:lnSpc>
              <a:spcAft>
                <a:spcPts val="800"/>
              </a:spcAft>
              <a:buSzPct val="100000"/>
              <a:buChar char="•"/>
            </a:pPr>
            <a:r>
              <a:rPr lang="en-US" sz="1450" dirty="0">
                <a:solidFill>
                  <a:srgbClr val="111111"/>
                </a:solidFill>
                <a:latin typeface="Calibri" pitchFamily="34" charset="0"/>
                <a:ea typeface="Calibri" pitchFamily="34" charset="-122"/>
                <a:cs typeface="Calibri" pitchFamily="34" charset="-120"/>
              </a:rPr>
              <a:t>Fix: read every word once, understand it fully, predict what's next — this is slower per line but faster overall because you never reread.</a:t>
            </a:r>
            <a:endParaRPr lang="en-US" sz="1450" dirty="0"/>
          </a:p>
        </p:txBody>
      </p:sp>
      <p:sp>
        <p:nvSpPr>
          <p:cNvPr id="6" name="Shape 4"/>
          <p:cNvSpPr/>
          <p:nvPr/>
        </p:nvSpPr>
        <p:spPr>
          <a:xfrm>
            <a:off x="640080" y="3931920"/>
            <a:ext cx="10911535" cy="914400"/>
          </a:xfrm>
          <a:prstGeom prst="roundRect">
            <a:avLst>
              <a:gd name="adj" fmla="val 6000"/>
            </a:avLst>
          </a:prstGeom>
          <a:solidFill>
            <a:srgbClr val="FFFFFF"/>
          </a:solidFill>
          <a:ln w="15875">
            <a:solidFill>
              <a:srgbClr val="C9A84C"/>
            </a:solidFill>
            <a:prstDash val="solid"/>
          </a:ln>
        </p:spPr>
      </p:sp>
      <p:sp>
        <p:nvSpPr>
          <p:cNvPr id="7" name="Text 5"/>
          <p:cNvSpPr/>
          <p:nvPr/>
        </p:nvSpPr>
        <p:spPr>
          <a:xfrm>
            <a:off x="932688" y="3931920"/>
            <a:ext cx="10326319" cy="91440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The most common “miscomprehension” isn't really a reading failure — it's an under-formed idea of the passage letting a wrong answer choice implant itself in your head.</a:t>
            </a:r>
            <a:endParaRPr lang="en-US" sz="1450" dirty="0"/>
          </a:p>
        </p:txBody>
      </p:sp>
      <p:sp>
        <p:nvSpPr>
          <p:cNvPr id="8" name="Text 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9" name="Text 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READING COMPREHENSION · FULL DEMONSTRATION</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Worked example: chunk → predict → predict answer → word-by-word</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HARD READING COMPREHENSION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Narrate the passage chunk-by-chunk, write your predicted answer, then eliminate choices word-by-word.</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READING COMPREHENSION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dense passage, question 1</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READING COMPREHENSION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Chunk it, predict as you go, predict your own answer, then verify word-by-word.</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READING COMPREHENSION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dense passage, question 2</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READING COMPREHENSION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Chunk it, predict as you go, predict your own answer, then verify word-by-word.</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READING COMPREHENSION · RECAP</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Reading comprehension — the full checklist</a:t>
            </a:r>
            <a:endParaRPr lang="en-US" sz="2900" dirty="0"/>
          </a:p>
        </p:txBody>
      </p:sp>
      <p:sp>
        <p:nvSpPr>
          <p:cNvPr id="4" name="Text 2"/>
          <p:cNvSpPr/>
          <p:nvPr/>
        </p:nvSpPr>
        <p:spPr>
          <a:xfrm>
            <a:off x="640080" y="1965960"/>
            <a:ext cx="292608" cy="62179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5" name="Text 3"/>
          <p:cNvSpPr/>
          <p:nvPr/>
        </p:nvSpPr>
        <p:spPr>
          <a:xfrm>
            <a:off x="969264" y="1965960"/>
            <a:ext cx="4943704" cy="621792"/>
          </a:xfrm>
          <a:prstGeom prst="rect">
            <a:avLst/>
          </a:prstGeom>
          <a:noFill/>
          <a:ln/>
        </p:spPr>
        <p:txBody>
          <a:bodyPr wrap="square" lIns="0" tIns="0" rIns="0" bIns="0" rtlCol="0" anchor="t"/>
          <a:lstStyle/>
          <a:p>
            <a:pPr indent="0" marL="0">
              <a:lnSpc>
                <a:spcPct val="105000"/>
              </a:lnSpc>
              <a:buNone/>
            </a:pPr>
            <a:r>
              <a:rPr lang="en-US" sz="1300" dirty="0">
                <a:solidFill>
                  <a:srgbClr val="111111"/>
                </a:solidFill>
                <a:latin typeface="Calibri" pitchFamily="34" charset="0"/>
                <a:ea typeface="Calibri" pitchFamily="34" charset="-122"/>
                <a:cs typeface="Calibri" pitchFamily="34" charset="-120"/>
              </a:rPr>
              <a:t>Chunk in 3–5 word pieces — never move on confused.</a:t>
            </a:r>
            <a:endParaRPr lang="en-US" sz="1300" dirty="0"/>
          </a:p>
        </p:txBody>
      </p:sp>
      <p:sp>
        <p:nvSpPr>
          <p:cNvPr id="6" name="Text 4"/>
          <p:cNvSpPr/>
          <p:nvPr/>
        </p:nvSpPr>
        <p:spPr>
          <a:xfrm>
            <a:off x="6278728" y="1965960"/>
            <a:ext cx="292608" cy="62179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6607912" y="1965960"/>
            <a:ext cx="4943704" cy="621792"/>
          </a:xfrm>
          <a:prstGeom prst="rect">
            <a:avLst/>
          </a:prstGeom>
          <a:noFill/>
          <a:ln/>
        </p:spPr>
        <p:txBody>
          <a:bodyPr wrap="square" lIns="0" tIns="0" rIns="0" bIns="0" rtlCol="0" anchor="t"/>
          <a:lstStyle/>
          <a:p>
            <a:pPr indent="0" marL="0">
              <a:lnSpc>
                <a:spcPct val="105000"/>
              </a:lnSpc>
              <a:buNone/>
            </a:pPr>
            <a:r>
              <a:rPr lang="en-US" sz="1300" dirty="0">
                <a:solidFill>
                  <a:srgbClr val="111111"/>
                </a:solidFill>
                <a:latin typeface="Calibri" pitchFamily="34" charset="0"/>
                <a:ea typeface="Calibri" pitchFamily="34" charset="-122"/>
                <a:cs typeface="Calibri" pitchFamily="34" charset="-120"/>
              </a:rPr>
              <a:t>Predict where the passage is heading, chunk by chunk.</a:t>
            </a:r>
            <a:endParaRPr lang="en-US" sz="1300" dirty="0"/>
          </a:p>
        </p:txBody>
      </p:sp>
      <p:sp>
        <p:nvSpPr>
          <p:cNvPr id="8" name="Text 6"/>
          <p:cNvSpPr/>
          <p:nvPr/>
        </p:nvSpPr>
        <p:spPr>
          <a:xfrm>
            <a:off x="640080" y="2587752"/>
            <a:ext cx="292608" cy="62179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969264" y="2587752"/>
            <a:ext cx="4943704" cy="621792"/>
          </a:xfrm>
          <a:prstGeom prst="rect">
            <a:avLst/>
          </a:prstGeom>
          <a:noFill/>
          <a:ln/>
        </p:spPr>
        <p:txBody>
          <a:bodyPr wrap="square" lIns="0" tIns="0" rIns="0" bIns="0" rtlCol="0" anchor="t"/>
          <a:lstStyle/>
          <a:p>
            <a:pPr indent="0" marL="0">
              <a:lnSpc>
                <a:spcPct val="105000"/>
              </a:lnSpc>
              <a:buNone/>
            </a:pPr>
            <a:r>
              <a:rPr lang="en-US" sz="1300" dirty="0">
                <a:solidFill>
                  <a:srgbClr val="111111"/>
                </a:solidFill>
                <a:latin typeface="Calibri" pitchFamily="34" charset="0"/>
                <a:ea typeface="Calibri" pitchFamily="34" charset="-122"/>
                <a:cs typeface="Calibri" pitchFamily="34" charset="-120"/>
              </a:rPr>
              <a:t>Form your own predicted answer before reading choices.</a:t>
            </a:r>
            <a:endParaRPr lang="en-US" sz="1300" dirty="0"/>
          </a:p>
        </p:txBody>
      </p:sp>
      <p:sp>
        <p:nvSpPr>
          <p:cNvPr id="10" name="Text 8"/>
          <p:cNvSpPr/>
          <p:nvPr/>
        </p:nvSpPr>
        <p:spPr>
          <a:xfrm>
            <a:off x="6278728" y="2587752"/>
            <a:ext cx="292608" cy="62179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6607912" y="2587752"/>
            <a:ext cx="4943704" cy="621792"/>
          </a:xfrm>
          <a:prstGeom prst="rect">
            <a:avLst/>
          </a:prstGeom>
          <a:noFill/>
          <a:ln/>
        </p:spPr>
        <p:txBody>
          <a:bodyPr wrap="square" lIns="0" tIns="0" rIns="0" bIns="0" rtlCol="0" anchor="t"/>
          <a:lstStyle/>
          <a:p>
            <a:pPr indent="0" marL="0">
              <a:lnSpc>
                <a:spcPct val="105000"/>
              </a:lnSpc>
              <a:buNone/>
            </a:pPr>
            <a:r>
              <a:rPr lang="en-US" sz="1300" dirty="0">
                <a:solidFill>
                  <a:srgbClr val="111111"/>
                </a:solidFill>
                <a:latin typeface="Calibri" pitchFamily="34" charset="0"/>
                <a:ea typeface="Calibri" pitchFamily="34" charset="-122"/>
                <a:cs typeface="Calibri" pitchFamily="34" charset="-120"/>
              </a:rPr>
              <a:t>Go word-by-word through every answer choice.</a:t>
            </a:r>
            <a:endParaRPr lang="en-US" sz="1300" dirty="0"/>
          </a:p>
        </p:txBody>
      </p:sp>
      <p:sp>
        <p:nvSpPr>
          <p:cNvPr id="12" name="Text 10"/>
          <p:cNvSpPr/>
          <p:nvPr/>
        </p:nvSpPr>
        <p:spPr>
          <a:xfrm>
            <a:off x="640080" y="3209544"/>
            <a:ext cx="292608" cy="62179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969264" y="3209544"/>
            <a:ext cx="4943704" cy="621792"/>
          </a:xfrm>
          <a:prstGeom prst="rect">
            <a:avLst/>
          </a:prstGeom>
          <a:noFill/>
          <a:ln/>
        </p:spPr>
        <p:txBody>
          <a:bodyPr wrap="square" lIns="0" tIns="0" rIns="0" bIns="0" rtlCol="0" anchor="t"/>
          <a:lstStyle/>
          <a:p>
            <a:pPr indent="0" marL="0">
              <a:lnSpc>
                <a:spcPct val="105000"/>
              </a:lnSpc>
              <a:buNone/>
            </a:pPr>
            <a:r>
              <a:rPr lang="en-US" sz="1300" dirty="0">
                <a:solidFill>
                  <a:srgbClr val="111111"/>
                </a:solidFill>
                <a:latin typeface="Calibri" pitchFamily="34" charset="0"/>
                <a:ea typeface="Calibri" pitchFamily="34" charset="-122"/>
                <a:cs typeface="Calibri" pitchFamily="34" charset="-120"/>
              </a:rPr>
              <a:t>Kill a choice the instant one word isn't supported.</a:t>
            </a:r>
            <a:endParaRPr lang="en-US" sz="1300" dirty="0"/>
          </a:p>
        </p:txBody>
      </p:sp>
      <p:sp>
        <p:nvSpPr>
          <p:cNvPr id="14" name="Text 12"/>
          <p:cNvSpPr/>
          <p:nvPr/>
        </p:nvSpPr>
        <p:spPr>
          <a:xfrm>
            <a:off x="6278728" y="3209544"/>
            <a:ext cx="292608" cy="62179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6607912" y="3209544"/>
            <a:ext cx="4943704" cy="621792"/>
          </a:xfrm>
          <a:prstGeom prst="rect">
            <a:avLst/>
          </a:prstGeom>
          <a:noFill/>
          <a:ln/>
        </p:spPr>
        <p:txBody>
          <a:bodyPr wrap="square" lIns="0" tIns="0" rIns="0" bIns="0" rtlCol="0" anchor="t"/>
          <a:lstStyle/>
          <a:p>
            <a:pPr indent="0" marL="0">
              <a:lnSpc>
                <a:spcPct val="105000"/>
              </a:lnSpc>
              <a:buNone/>
            </a:pPr>
            <a:r>
              <a:rPr lang="en-US" sz="1300" dirty="0">
                <a:solidFill>
                  <a:srgbClr val="111111"/>
                </a:solidFill>
                <a:latin typeface="Calibri" pitchFamily="34" charset="0"/>
                <a:ea typeface="Calibri" pitchFamily="34" charset="-122"/>
                <a:cs typeface="Calibri" pitchFamily="34" charset="-120"/>
              </a:rPr>
              <a:t>Remember: exactly one answer, fully supported by the text.</a:t>
            </a:r>
            <a:endParaRPr lang="en-US" sz="1300" dirty="0"/>
          </a:p>
        </p:txBody>
      </p:sp>
      <p:sp>
        <p:nvSpPr>
          <p:cNvPr id="16" name="Text 1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7" name="Text 1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B0271C"/>
        </a:solidFill>
      </p:bgPr>
    </p:bg>
    <p:spTree>
      <p:nvGrpSpPr>
        <p:cNvPr id="1" name=""/>
        <p:cNvGrpSpPr/>
        <p:nvPr/>
      </p:nvGrpSpPr>
      <p:grpSpPr>
        <a:xfrm>
          <a:off x="0" y="0"/>
          <a:ext cx="0" cy="0"/>
          <a:chOff x="0" y="0"/>
          <a:chExt cx="0" cy="0"/>
        </a:xfrm>
      </p:grpSpPr>
      <p:sp>
        <p:nvSpPr>
          <p:cNvPr id="2" name="Shape 0"/>
          <p:cNvSpPr/>
          <p:nvPr/>
        </p:nvSpPr>
        <p:spPr>
          <a:xfrm>
            <a:off x="9052560" y="-2194560"/>
            <a:ext cx="5852160" cy="5852160"/>
          </a:xfrm>
          <a:prstGeom prst="ellipse">
            <a:avLst/>
          </a:prstGeom>
          <a:solidFill>
            <a:srgbClr val="FFFFFF">
              <a:alpha val="12000"/>
            </a:srgbClr>
          </a:solidFill>
          <a:ln/>
        </p:spPr>
      </p:sp>
      <p:sp>
        <p:nvSpPr>
          <p:cNvPr id="3" name="Text 1"/>
          <p:cNvSpPr/>
          <p:nvPr/>
        </p:nvSpPr>
        <p:spPr>
          <a:xfrm>
            <a:off x="822960" y="2606040"/>
            <a:ext cx="9601200" cy="310896"/>
          </a:xfrm>
          <a:prstGeom prst="rect">
            <a:avLst/>
          </a:prstGeom>
          <a:noFill/>
          <a:ln/>
        </p:spPr>
        <p:txBody>
          <a:bodyPr wrap="square" lIns="0" tIns="0" rIns="0" bIns="0" rtlCol="0" anchor="ctr"/>
          <a:lstStyle/>
          <a:p>
            <a:pPr indent="0" marL="0">
              <a:buNone/>
            </a:pPr>
            <a:r>
              <a:rPr lang="en-US" sz="1350" b="1" spc="200" kern="0" dirty="0">
                <a:solidFill>
                  <a:srgbClr val="C9A84C"/>
                </a:solidFill>
                <a:latin typeface="Calibri" pitchFamily="34" charset="0"/>
                <a:ea typeface="Calibri" pitchFamily="34" charset="-122"/>
                <a:cs typeface="Calibri" pitchFamily="34" charset="-120"/>
              </a:rPr>
              <a:t>◆ SECTION 4 OF 7</a:t>
            </a:r>
            <a:endParaRPr lang="en-US" sz="1350" dirty="0"/>
          </a:p>
        </p:txBody>
      </p:sp>
      <p:sp>
        <p:nvSpPr>
          <p:cNvPr id="4" name="Text 2"/>
          <p:cNvSpPr/>
          <p:nvPr/>
        </p:nvSpPr>
        <p:spPr>
          <a:xfrm>
            <a:off x="777240" y="2971800"/>
            <a:ext cx="10241280" cy="12344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Vocabulary in Context</a:t>
            </a:r>
            <a:endParaRPr lang="en-US" sz="4200" dirty="0"/>
          </a:p>
        </p:txBody>
      </p:sp>
      <p:sp>
        <p:nvSpPr>
          <p:cNvPr id="5" name="Text 3"/>
          <p:cNvSpPr/>
          <p:nvPr/>
        </p:nvSpPr>
        <p:spPr>
          <a:xfrm>
            <a:off x="822960" y="4160520"/>
            <a:ext cx="8778240" cy="640080"/>
          </a:xfrm>
          <a:prstGeom prst="rect">
            <a:avLst/>
          </a:prstGeom>
          <a:noFill/>
          <a:ln/>
        </p:spPr>
        <p:txBody>
          <a:bodyPr wrap="square" lIns="0" tIns="0" rIns="0" bIns="0" rtlCol="0" anchor="ctr"/>
          <a:lstStyle/>
          <a:p>
            <a:pPr indent="0" marL="0">
              <a:lnSpc>
                <a:spcPct val="120000"/>
              </a:lnSpc>
              <a:buNone/>
            </a:pPr>
            <a:r>
              <a:rPr lang="en-US" sz="1500" dirty="0">
                <a:solidFill>
                  <a:srgbClr val="F0DCD9"/>
                </a:solidFill>
                <a:latin typeface="Calibri" pitchFamily="34" charset="0"/>
                <a:ea typeface="Calibri" pitchFamily="34" charset="-122"/>
                <a:cs typeface="Calibri" pitchFamily="34" charset="-120"/>
              </a:rPr>
              <a:t>The fix isn't a bigger vocabulary — it's building your own answer from the text before you look at the choices.</a:t>
            </a:r>
            <a:endParaRPr lang="en-US" sz="1500" dirty="0"/>
          </a:p>
        </p:txBody>
      </p:sp>
      <p:sp>
        <p:nvSpPr>
          <p:cNvPr id="6" name="Text 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E8C9C4"/>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7" name="Text 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E8C9C4"/>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VOCABULARY · THE CORE INSIGHT</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It's a process problem, not a vocab problem</a:t>
            </a:r>
            <a:endParaRPr lang="en-US" sz="2900" dirty="0"/>
          </a:p>
        </p:txBody>
      </p:sp>
      <p:sp>
        <p:nvSpPr>
          <p:cNvPr id="4" name="Shape 2"/>
          <p:cNvSpPr/>
          <p:nvPr/>
        </p:nvSpPr>
        <p:spPr>
          <a:xfrm>
            <a:off x="640080" y="1965960"/>
            <a:ext cx="10911535" cy="914400"/>
          </a:xfrm>
          <a:prstGeom prst="roundRect">
            <a:avLst>
              <a:gd name="adj" fmla="val 6000"/>
            </a:avLst>
          </a:prstGeom>
          <a:solidFill>
            <a:srgbClr val="FFFFFF"/>
          </a:solidFill>
          <a:ln w="15875">
            <a:solidFill>
              <a:srgbClr val="C9A84C"/>
            </a:solidFill>
            <a:prstDash val="solid"/>
          </a:ln>
        </p:spPr>
      </p:sp>
      <p:sp>
        <p:nvSpPr>
          <p:cNvPr id="5" name="Text 3"/>
          <p:cNvSpPr/>
          <p:nvPr/>
        </p:nvSpPr>
        <p:spPr>
          <a:xfrm>
            <a:off x="932688" y="1965960"/>
            <a:ext cx="10326319" cy="91440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Come up with a synonym for what the answer should be — using direct evidence from the passage — before you ever read the answer choices.</a:t>
            </a:r>
            <a:endParaRPr lang="en-US" sz="1450" dirty="0"/>
          </a:p>
        </p:txBody>
      </p:sp>
      <p:sp>
        <p:nvSpPr>
          <p:cNvPr id="6" name="Text 4"/>
          <p:cNvSpPr/>
          <p:nvPr/>
        </p:nvSpPr>
        <p:spPr>
          <a:xfrm>
            <a:off x="640080" y="310896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Your synonym can't be your first gut reaction — it has to be backed by evidence in the passage.</a:t>
            </a:r>
            <a:endParaRPr lang="en-US" sz="1500" dirty="0"/>
          </a:p>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That evidence always exists: a synonym stated directly, a demonstration/example of the word, or the logical flow of the sentence.</a:t>
            </a:r>
            <a:endParaRPr lang="en-US" sz="1500" dirty="0"/>
          </a:p>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Once you have your synonym, scan the answer choices for the best match — you don't need to know every word's exact definition.</a:t>
            </a:r>
            <a:endParaRPr lang="en-US" sz="15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VOCABULARY · FINDING THE EVIDENCE</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Unusual punctuation points to the answer</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Because there can only be one defensible right answer, College Board has to plant the evidence somewhere.</a:t>
            </a:r>
            <a:endParaRPr lang="en-US" sz="1350" dirty="0"/>
          </a:p>
        </p:txBody>
      </p:sp>
      <p:sp>
        <p:nvSpPr>
          <p:cNvPr id="5" name="Text 3"/>
          <p:cNvSpPr/>
          <p:nvPr/>
        </p:nvSpPr>
        <p:spPr>
          <a:xfrm>
            <a:off x="640080" y="192024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Watch closely around dashes, colons, semicolons, or clusters of commas — that's where a synonym or example usually sits.</a:t>
            </a:r>
            <a:endParaRPr lang="en-US" sz="1500" dirty="0"/>
          </a:p>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An example set off between dashes often IS the demonstration of the missing word's meaning.</a:t>
            </a:r>
            <a:endParaRPr lang="en-US" sz="1500" dirty="0"/>
          </a:p>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If you misread the passage on a vocab question, there's no safety net — unlike reading comprehension, only one word gives the answer away.</a:t>
            </a:r>
            <a:endParaRPr lang="en-US" sz="1500" dirty="0"/>
          </a:p>
        </p:txBody>
      </p:sp>
      <p:sp>
        <p:nvSpPr>
          <p:cNvPr id="6" name="Shape 4"/>
          <p:cNvSpPr/>
          <p:nvPr/>
        </p:nvSpPr>
        <p:spPr>
          <a:xfrm>
            <a:off x="640080" y="3794760"/>
            <a:ext cx="10911535" cy="914400"/>
          </a:xfrm>
          <a:prstGeom prst="roundRect">
            <a:avLst>
              <a:gd name="adj" fmla="val 6000"/>
            </a:avLst>
          </a:prstGeom>
          <a:solidFill>
            <a:srgbClr val="FFFFFF"/>
          </a:solidFill>
          <a:ln w="15875">
            <a:solidFill>
              <a:srgbClr val="C9A84C"/>
            </a:solidFill>
            <a:prstDash val="solid"/>
          </a:ln>
        </p:spPr>
      </p:sp>
      <p:sp>
        <p:nvSpPr>
          <p:cNvPr id="7" name="Text 5"/>
          <p:cNvSpPr/>
          <p:nvPr/>
        </p:nvSpPr>
        <p:spPr>
          <a:xfrm>
            <a:off x="932688" y="3794760"/>
            <a:ext cx="10326319" cy="91440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“…unearthed a citadel — a new replica of the temple's original architecture —”: the dash-set example is the direct evidence for what the missing word must mean.</a:t>
            </a:r>
            <a:endParaRPr lang="en-US" sz="1450" dirty="0"/>
          </a:p>
        </p:txBody>
      </p:sp>
      <p:sp>
        <p:nvSpPr>
          <p:cNvPr id="8" name="Text 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9" name="Text 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VOCABULARY · WORKED EXAMPLE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Easier example: build the synonym first</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AN EASIER VOCAB-IN-CONTEXT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Find the evidence (often near a dash/colon), write your synonym, then match it to a choice.</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VOCABULARY · WORKED EXAMPLE</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Harder example: unfamiliar answer choices</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Even when you don't know the words, the same process narrows it down.</a:t>
            </a:r>
            <a:endParaRPr lang="en-US" sz="1350" dirty="0"/>
          </a:p>
        </p:txBody>
      </p:sp>
      <p:sp>
        <p:nvSpPr>
          <p:cNvPr id="5" name="Shape 3"/>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6" name="Text 4"/>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HARDER VOCAB-IN-CONTEXT QUESTION</a:t>
            </a:r>
            <a:endParaRPr lang="en-US" sz="1400" dirty="0"/>
          </a:p>
        </p:txBody>
      </p:sp>
      <p:sp>
        <p:nvSpPr>
          <p:cNvPr id="7" name="Text 5"/>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Build your synonym from context, then pick whichever unfamiliar word sounds closest — connotation is a legitimate tiebreaker.</a:t>
            </a:r>
            <a:endParaRPr lang="en-US" sz="1100" dirty="0"/>
          </a:p>
        </p:txBody>
      </p:sp>
      <p:sp>
        <p:nvSpPr>
          <p:cNvPr id="8" name="Text 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9" name="Text 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VOCABULARY · HOW TO PRACTICE</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Train the last step: word ↔ synonym matching</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The skill worth drilling is picking the closest word to a definition you already have in mind — not memorizing word lists.</a:t>
            </a:r>
            <a:endParaRPr lang="en-US" sz="1350" dirty="0"/>
          </a:p>
        </p:txBody>
      </p:sp>
      <p:sp>
        <p:nvSpPr>
          <p:cNvPr id="5" name="Text 3"/>
          <p:cNvSpPr/>
          <p:nvPr/>
        </p:nvSpPr>
        <p:spPr>
          <a:xfrm>
            <a:off x="640080" y="19202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01</a:t>
            </a:r>
            <a:endParaRPr lang="en-US" sz="2100" dirty="0"/>
          </a:p>
        </p:txBody>
      </p:sp>
      <p:sp>
        <p:nvSpPr>
          <p:cNvPr id="6" name="Text 4"/>
          <p:cNvSpPr/>
          <p:nvPr/>
        </p:nvSpPr>
        <p:spPr>
          <a:xfrm>
            <a:off x="1508760" y="19202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Use a common SAT-vocab flashcard set (e.g., on Quizlet).</a:t>
            </a:r>
            <a:endParaRPr lang="en-US" sz="1450" dirty="0"/>
          </a:p>
        </p:txBody>
      </p:sp>
      <p:sp>
        <p:nvSpPr>
          <p:cNvPr id="7" name="Text 5"/>
          <p:cNvSpPr/>
          <p:nvPr/>
        </p:nvSpPr>
        <p:spPr>
          <a:xfrm>
            <a:off x="1508760" y="2286000"/>
            <a:ext cx="10042855" cy="48463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Make sure the set doesn't reveal the definition alongside multiple-choice options.</a:t>
            </a:r>
            <a:endParaRPr lang="en-US" sz="1200" dirty="0"/>
          </a:p>
        </p:txBody>
      </p:sp>
      <p:sp>
        <p:nvSpPr>
          <p:cNvPr id="8" name="Text 6"/>
          <p:cNvSpPr/>
          <p:nvPr/>
        </p:nvSpPr>
        <p:spPr>
          <a:xfrm>
            <a:off x="640080" y="278892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02</a:t>
            </a:r>
            <a:endParaRPr lang="en-US" sz="2100" dirty="0"/>
          </a:p>
        </p:txBody>
      </p:sp>
      <p:sp>
        <p:nvSpPr>
          <p:cNvPr id="9" name="Text 7"/>
          <p:cNvSpPr/>
          <p:nvPr/>
        </p:nvSpPr>
        <p:spPr>
          <a:xfrm>
            <a:off x="1508760" y="278892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Switch the mode to multiple choice, answer-with-term.</a:t>
            </a:r>
            <a:endParaRPr lang="en-US" sz="1450" dirty="0"/>
          </a:p>
        </p:txBody>
      </p:sp>
      <p:sp>
        <p:nvSpPr>
          <p:cNvPr id="10" name="Text 8"/>
          <p:cNvSpPr/>
          <p:nvPr/>
        </p:nvSpPr>
        <p:spPr>
          <a:xfrm>
            <a:off x="1508760" y="3154680"/>
            <a:ext cx="10042855" cy="48463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You read the definition and pick the matching word — this mirrors the real question.</a:t>
            </a:r>
            <a:endParaRPr lang="en-US" sz="1200" dirty="0"/>
          </a:p>
        </p:txBody>
      </p:sp>
      <p:sp>
        <p:nvSpPr>
          <p:cNvPr id="11" name="Text 9"/>
          <p:cNvSpPr/>
          <p:nvPr/>
        </p:nvSpPr>
        <p:spPr>
          <a:xfrm>
            <a:off x="640080" y="365760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03</a:t>
            </a:r>
            <a:endParaRPr lang="en-US" sz="2100" dirty="0"/>
          </a:p>
        </p:txBody>
      </p:sp>
      <p:sp>
        <p:nvSpPr>
          <p:cNvPr id="12" name="Text 10"/>
          <p:cNvSpPr/>
          <p:nvPr/>
        </p:nvSpPr>
        <p:spPr>
          <a:xfrm>
            <a:off x="1508760" y="365760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Shuffle and repeat.</a:t>
            </a:r>
            <a:endParaRPr lang="en-US" sz="1450" dirty="0"/>
          </a:p>
        </p:txBody>
      </p:sp>
      <p:sp>
        <p:nvSpPr>
          <p:cNvPr id="13" name="Text 11"/>
          <p:cNvSpPr/>
          <p:nvPr/>
        </p:nvSpPr>
        <p:spPr>
          <a:xfrm>
            <a:off x="1508760" y="4023360"/>
            <a:ext cx="10042855" cy="48463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Getting exposure to hundreds of common words + reps at the matching skill compounds fast.</a:t>
            </a:r>
            <a:endParaRPr lang="en-US" sz="1200" dirty="0"/>
          </a:p>
        </p:txBody>
      </p:sp>
      <p:sp>
        <p:nvSpPr>
          <p:cNvPr id="14" name="Text 12"/>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5" name="Text 13"/>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VOCABULARY · WHAT NOT TO DO</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Skip word lists, roots, and prefixes</a:t>
            </a:r>
            <a:endParaRPr lang="en-US" sz="2900" dirty="0"/>
          </a:p>
        </p:txBody>
      </p:sp>
      <p:sp>
        <p:nvSpPr>
          <p:cNvPr id="4" name="Shape 2"/>
          <p:cNvSpPr/>
          <p:nvPr/>
        </p:nvSpPr>
        <p:spPr>
          <a:xfrm>
            <a:off x="640080" y="1920240"/>
            <a:ext cx="5318608" cy="2743200"/>
          </a:xfrm>
          <a:prstGeom prst="roundRect">
            <a:avLst>
              <a:gd name="adj" fmla="val 2333"/>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5" name="Text 3"/>
          <p:cNvSpPr/>
          <p:nvPr/>
        </p:nvSpPr>
        <p:spPr>
          <a:xfrm>
            <a:off x="877824" y="208483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Don't memorize 10,000-word lists</a:t>
            </a:r>
            <a:endParaRPr lang="en-US" sz="1450" dirty="0"/>
          </a:p>
        </p:txBody>
      </p:sp>
      <p:sp>
        <p:nvSpPr>
          <p:cNvPr id="6" name="Text 4"/>
          <p:cNvSpPr/>
          <p:nvPr/>
        </p:nvSpPr>
        <p:spPr>
          <a:xfrm>
            <a:off x="877824" y="2505456"/>
            <a:ext cx="4843120" cy="197510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Flashcarding isolated words with definitions is boring and low-yield.</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With that many possible vocab words, you're unlikely to see most of them anyway.</a:t>
            </a:r>
            <a:endParaRPr lang="en-US" sz="1200" dirty="0"/>
          </a:p>
        </p:txBody>
      </p:sp>
      <p:sp>
        <p:nvSpPr>
          <p:cNvPr id="7" name="Shape 5"/>
          <p:cNvSpPr/>
          <p:nvPr/>
        </p:nvSpPr>
        <p:spPr>
          <a:xfrm>
            <a:off x="6233008" y="1920240"/>
            <a:ext cx="5318608" cy="2743200"/>
          </a:xfrm>
          <a:prstGeom prst="roundRect">
            <a:avLst>
              <a:gd name="adj" fmla="val 2333"/>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8" name="Text 6"/>
          <p:cNvSpPr/>
          <p:nvPr/>
        </p:nvSpPr>
        <p:spPr>
          <a:xfrm>
            <a:off x="6470752" y="208483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Skip most root/prefix lists too</a:t>
            </a:r>
            <a:endParaRPr lang="en-US" sz="1450" dirty="0"/>
          </a:p>
        </p:txBody>
      </p:sp>
      <p:sp>
        <p:nvSpPr>
          <p:cNvPr id="9" name="Text 7"/>
          <p:cNvSpPr/>
          <p:nvPr/>
        </p:nvSpPr>
        <p:spPr>
          <a:xfrm>
            <a:off x="6470752" y="2505456"/>
            <a:ext cx="4843120" cy="197510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Most common roots (e.g., “alb”) rarely help you decode an unfamiliar word on test day.</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Exception: prefixes that mean “not” (un-, im-, a-) are genuinely worth memorizing.</a:t>
            </a:r>
            <a:endParaRPr lang="en-US" sz="1200" dirty="0"/>
          </a:p>
        </p:txBody>
      </p:sp>
      <p:sp>
        <p:nvSpPr>
          <p:cNvPr id="10" name="Shape 8"/>
          <p:cNvSpPr/>
          <p:nvPr/>
        </p:nvSpPr>
        <p:spPr>
          <a:xfrm>
            <a:off x="640080" y="4892040"/>
            <a:ext cx="10911535" cy="685800"/>
          </a:xfrm>
          <a:prstGeom prst="roundRect">
            <a:avLst>
              <a:gd name="adj" fmla="val 8000"/>
            </a:avLst>
          </a:prstGeom>
          <a:solidFill>
            <a:srgbClr val="FFFFFF"/>
          </a:solidFill>
          <a:ln w="15875">
            <a:solidFill>
              <a:srgbClr val="C9A84C"/>
            </a:solidFill>
            <a:prstDash val="solid"/>
          </a:ln>
        </p:spPr>
      </p:sp>
      <p:sp>
        <p:nvSpPr>
          <p:cNvPr id="11" name="Text 9"/>
          <p:cNvSpPr/>
          <p:nvPr/>
        </p:nvSpPr>
        <p:spPr>
          <a:xfrm>
            <a:off x="932688" y="4892040"/>
            <a:ext cx="10326319" cy="685800"/>
          </a:xfrm>
          <a:prstGeom prst="rect">
            <a:avLst/>
          </a:prstGeom>
          <a:noFill/>
          <a:ln/>
        </p:spPr>
        <p:txBody>
          <a:bodyPr wrap="square" lIns="0" tIns="0" rIns="0" bIns="0" rtlCol="0" anchor="ctr"/>
          <a:lstStyle/>
          <a:p>
            <a:pPr indent="0" marL="0">
              <a:lnSpc>
                <a:spcPct val="115000"/>
              </a:lnSpc>
              <a:buNone/>
            </a:pPr>
            <a:r>
              <a:rPr lang="en-US" sz="120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200" b="1" dirty="0">
                <a:solidFill>
                  <a:srgbClr val="111111"/>
                </a:solidFill>
                <a:latin typeface="Calibri" pitchFamily="34" charset="0"/>
                <a:ea typeface="Calibri" pitchFamily="34" charset="-122"/>
                <a:cs typeface="Calibri" pitchFamily="34" charset="-120"/>
              </a:rPr>
              <a:t>Better use of time: drill the synonym-matching skill above — it transfers even to words you've never seen.</a:t>
            </a:r>
            <a:endParaRPr lang="en-US" sz="1200" dirty="0"/>
          </a:p>
        </p:txBody>
      </p:sp>
      <p:sp>
        <p:nvSpPr>
          <p:cNvPr id="12" name="Text 10"/>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3" name="Text 11"/>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VOCABULARY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one more vocab-in-context question</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VOCAB-IN-CONTEXT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Evidence → synonym → best match. Say each step out loud.</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VOCABULARY · RECAP</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Vocabulary — the full checklist</a:t>
            </a:r>
            <a:endParaRPr lang="en-US" sz="2900" dirty="0"/>
          </a:p>
        </p:txBody>
      </p:sp>
      <p:sp>
        <p:nvSpPr>
          <p:cNvPr id="4" name="Text 2"/>
          <p:cNvSpPr/>
          <p:nvPr/>
        </p:nvSpPr>
        <p:spPr>
          <a:xfrm>
            <a:off x="640080" y="1965960"/>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5" name="Text 3"/>
          <p:cNvSpPr/>
          <p:nvPr/>
        </p:nvSpPr>
        <p:spPr>
          <a:xfrm>
            <a:off x="969264" y="1965960"/>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Find the passage's evidence before reading answer choices.</a:t>
            </a:r>
            <a:endParaRPr lang="en-US" sz="1250" dirty="0"/>
          </a:p>
        </p:txBody>
      </p:sp>
      <p:sp>
        <p:nvSpPr>
          <p:cNvPr id="6" name="Text 4"/>
          <p:cNvSpPr/>
          <p:nvPr/>
        </p:nvSpPr>
        <p:spPr>
          <a:xfrm>
            <a:off x="6278728" y="1965960"/>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6607912" y="1965960"/>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Check near dashes, colons, semicolons for the giveaway.</a:t>
            </a:r>
            <a:endParaRPr lang="en-US" sz="1250" dirty="0"/>
          </a:p>
        </p:txBody>
      </p:sp>
      <p:sp>
        <p:nvSpPr>
          <p:cNvPr id="8" name="Text 6"/>
          <p:cNvSpPr/>
          <p:nvPr/>
        </p:nvSpPr>
        <p:spPr>
          <a:xfrm>
            <a:off x="640080" y="2532888"/>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969264" y="2532888"/>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Write your own synonym before scanning choices.</a:t>
            </a:r>
            <a:endParaRPr lang="en-US" sz="1250" dirty="0"/>
          </a:p>
        </p:txBody>
      </p:sp>
      <p:sp>
        <p:nvSpPr>
          <p:cNvPr id="10" name="Text 8"/>
          <p:cNvSpPr/>
          <p:nvPr/>
        </p:nvSpPr>
        <p:spPr>
          <a:xfrm>
            <a:off x="6278728" y="2532888"/>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6607912" y="2532888"/>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Match your synonym to the closest answer choice.</a:t>
            </a:r>
            <a:endParaRPr lang="en-US" sz="1250" dirty="0"/>
          </a:p>
        </p:txBody>
      </p:sp>
      <p:sp>
        <p:nvSpPr>
          <p:cNvPr id="12" name="Text 10"/>
          <p:cNvSpPr/>
          <p:nvPr/>
        </p:nvSpPr>
        <p:spPr>
          <a:xfrm>
            <a:off x="640080" y="3099816"/>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969264" y="3099816"/>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Practice word ↔ synonym matching, not raw memorization.</a:t>
            </a:r>
            <a:endParaRPr lang="en-US" sz="1250" dirty="0"/>
          </a:p>
        </p:txBody>
      </p:sp>
      <p:sp>
        <p:nvSpPr>
          <p:cNvPr id="14" name="Text 12"/>
          <p:cNvSpPr/>
          <p:nvPr/>
        </p:nvSpPr>
        <p:spPr>
          <a:xfrm>
            <a:off x="6278728" y="3099816"/>
            <a:ext cx="292608" cy="566928"/>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6607912" y="3099816"/>
            <a:ext cx="4943704" cy="566928"/>
          </a:xfrm>
          <a:prstGeom prst="rect">
            <a:avLst/>
          </a:prstGeom>
          <a:noFill/>
          <a:ln/>
        </p:spPr>
        <p:txBody>
          <a:bodyPr wrap="square" lIns="0" tIns="0" rIns="0" bIns="0" rtlCol="0" anchor="t"/>
          <a:lstStyle/>
          <a:p>
            <a:pPr indent="0" marL="0">
              <a:lnSpc>
                <a:spcPct val="105000"/>
              </a:lnSpc>
              <a:buNone/>
            </a:pPr>
            <a:r>
              <a:rPr lang="en-US" sz="1250" dirty="0">
                <a:solidFill>
                  <a:srgbClr val="111111"/>
                </a:solidFill>
                <a:latin typeface="Calibri" pitchFamily="34" charset="0"/>
                <a:ea typeface="Calibri" pitchFamily="34" charset="-122"/>
                <a:cs typeface="Calibri" pitchFamily="34" charset="-120"/>
              </a:rPr>
              <a:t>Learn “not” prefixes; skip generic root/prefix lists.</a:t>
            </a:r>
            <a:endParaRPr lang="en-US" sz="1250" dirty="0"/>
          </a:p>
        </p:txBody>
      </p:sp>
      <p:sp>
        <p:nvSpPr>
          <p:cNvPr id="16" name="Text 1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7" name="Text 1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B0271C"/>
        </a:solidFill>
      </p:bgPr>
    </p:bg>
    <p:spTree>
      <p:nvGrpSpPr>
        <p:cNvPr id="1" name=""/>
        <p:cNvGrpSpPr/>
        <p:nvPr/>
      </p:nvGrpSpPr>
      <p:grpSpPr>
        <a:xfrm>
          <a:off x="0" y="0"/>
          <a:ext cx="0" cy="0"/>
          <a:chOff x="0" y="0"/>
          <a:chExt cx="0" cy="0"/>
        </a:xfrm>
      </p:grpSpPr>
      <p:sp>
        <p:nvSpPr>
          <p:cNvPr id="2" name="Shape 0"/>
          <p:cNvSpPr/>
          <p:nvPr/>
        </p:nvSpPr>
        <p:spPr>
          <a:xfrm>
            <a:off x="9052560" y="-2194560"/>
            <a:ext cx="5852160" cy="5852160"/>
          </a:xfrm>
          <a:prstGeom prst="ellipse">
            <a:avLst/>
          </a:prstGeom>
          <a:solidFill>
            <a:srgbClr val="FFFFFF">
              <a:alpha val="12000"/>
            </a:srgbClr>
          </a:solidFill>
          <a:ln/>
        </p:spPr>
      </p:sp>
      <p:sp>
        <p:nvSpPr>
          <p:cNvPr id="3" name="Text 1"/>
          <p:cNvSpPr/>
          <p:nvPr/>
        </p:nvSpPr>
        <p:spPr>
          <a:xfrm>
            <a:off x="822960" y="2606040"/>
            <a:ext cx="9601200" cy="310896"/>
          </a:xfrm>
          <a:prstGeom prst="rect">
            <a:avLst/>
          </a:prstGeom>
          <a:noFill/>
          <a:ln/>
        </p:spPr>
        <p:txBody>
          <a:bodyPr wrap="square" lIns="0" tIns="0" rIns="0" bIns="0" rtlCol="0" anchor="ctr"/>
          <a:lstStyle/>
          <a:p>
            <a:pPr indent="0" marL="0">
              <a:buNone/>
            </a:pPr>
            <a:r>
              <a:rPr lang="en-US" sz="1350" b="1" spc="200" kern="0" dirty="0">
                <a:solidFill>
                  <a:srgbClr val="C9A84C"/>
                </a:solidFill>
                <a:latin typeface="Calibri" pitchFamily="34" charset="0"/>
                <a:ea typeface="Calibri" pitchFamily="34" charset="-122"/>
                <a:cs typeface="Calibri" pitchFamily="34" charset="-120"/>
              </a:rPr>
              <a:t>◆ SECTION 5 OF 7</a:t>
            </a:r>
            <a:endParaRPr lang="en-US" sz="1350" dirty="0"/>
          </a:p>
        </p:txBody>
      </p:sp>
      <p:sp>
        <p:nvSpPr>
          <p:cNvPr id="4" name="Text 2"/>
          <p:cNvSpPr/>
          <p:nvPr/>
        </p:nvSpPr>
        <p:spPr>
          <a:xfrm>
            <a:off x="777240" y="2971800"/>
            <a:ext cx="10241280" cy="12344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Punctuation</a:t>
            </a:r>
            <a:endParaRPr lang="en-US" sz="4200" dirty="0"/>
          </a:p>
        </p:txBody>
      </p:sp>
      <p:sp>
        <p:nvSpPr>
          <p:cNvPr id="5" name="Text 3"/>
          <p:cNvSpPr/>
          <p:nvPr/>
        </p:nvSpPr>
        <p:spPr>
          <a:xfrm>
            <a:off x="822960" y="4160520"/>
            <a:ext cx="8778240" cy="640080"/>
          </a:xfrm>
          <a:prstGeom prst="rect">
            <a:avLst/>
          </a:prstGeom>
          <a:noFill/>
          <a:ln/>
        </p:spPr>
        <p:txBody>
          <a:bodyPr wrap="square" lIns="0" tIns="0" rIns="0" bIns="0" rtlCol="0" anchor="ctr"/>
          <a:lstStyle/>
          <a:p>
            <a:pPr indent="0" marL="0">
              <a:lnSpc>
                <a:spcPct val="120000"/>
              </a:lnSpc>
              <a:buNone/>
            </a:pPr>
            <a:r>
              <a:rPr lang="en-US" sz="1500" dirty="0">
                <a:solidFill>
                  <a:srgbClr val="F0DCD9"/>
                </a:solidFill>
                <a:latin typeface="Calibri" pitchFamily="34" charset="0"/>
                <a:ea typeface="Calibri" pitchFamily="34" charset="-122"/>
                <a:cs typeface="Calibri" pitchFamily="34" charset="-120"/>
              </a:rPr>
              <a:t>Six punctuation marks, one priority order, and a repeatable process — solvable in about 10 seconds each.</a:t>
            </a:r>
            <a:endParaRPr lang="en-US" sz="1500" dirty="0"/>
          </a:p>
        </p:txBody>
      </p:sp>
      <p:sp>
        <p:nvSpPr>
          <p:cNvPr id="6" name="Text 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E8C9C4"/>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7" name="Text 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E8C9C4"/>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INDEPENDENT CLAUSES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What an independent clause actually needs</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Three requirements — and “does it sound complete on its own” will fool you on the SAT.</a:t>
            </a:r>
            <a:endParaRPr lang="en-US" sz="1350" dirty="0"/>
          </a:p>
        </p:txBody>
      </p:sp>
      <p:sp>
        <p:nvSpPr>
          <p:cNvPr id="5" name="Text 3"/>
          <p:cNvSpPr/>
          <p:nvPr/>
        </p:nvSpPr>
        <p:spPr>
          <a:xfrm>
            <a:off x="640080" y="19202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01</a:t>
            </a:r>
            <a:endParaRPr lang="en-US" sz="2100" dirty="0"/>
          </a:p>
        </p:txBody>
      </p:sp>
      <p:sp>
        <p:nvSpPr>
          <p:cNvPr id="6" name="Text 4"/>
          <p:cNvSpPr/>
          <p:nvPr/>
        </p:nvSpPr>
        <p:spPr>
          <a:xfrm>
            <a:off x="1508760" y="19202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1 · A subject — always at the beginning.</a:t>
            </a:r>
            <a:endParaRPr lang="en-US" sz="1450" dirty="0"/>
          </a:p>
        </p:txBody>
      </p:sp>
      <p:sp>
        <p:nvSpPr>
          <p:cNvPr id="7" name="Text 5"/>
          <p:cNvSpPr/>
          <p:nvPr/>
        </p:nvSpPr>
        <p:spPr>
          <a:xfrm>
            <a:off x="1508760" y="2286000"/>
            <a:ext cx="10042855" cy="66751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Strip out any additional information first; the subject is what's left at the start.</a:t>
            </a:r>
            <a:endParaRPr lang="en-US" sz="1200" dirty="0"/>
          </a:p>
        </p:txBody>
      </p:sp>
      <p:sp>
        <p:nvSpPr>
          <p:cNvPr id="8" name="Text 6"/>
          <p:cNvSpPr/>
          <p:nvPr/>
        </p:nvSpPr>
        <p:spPr>
          <a:xfrm>
            <a:off x="640080" y="297180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02</a:t>
            </a:r>
            <a:endParaRPr lang="en-US" sz="2100" dirty="0"/>
          </a:p>
        </p:txBody>
      </p:sp>
      <p:sp>
        <p:nvSpPr>
          <p:cNvPr id="9" name="Text 7"/>
          <p:cNvSpPr/>
          <p:nvPr/>
        </p:nvSpPr>
        <p:spPr>
          <a:xfrm>
            <a:off x="1508760" y="297180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2 · Exactly one main verb, right after the subject.</a:t>
            </a:r>
            <a:endParaRPr lang="en-US" sz="1450" dirty="0"/>
          </a:p>
        </p:txBody>
      </p:sp>
      <p:sp>
        <p:nvSpPr>
          <p:cNvPr id="10" name="Text 8"/>
          <p:cNvSpPr/>
          <p:nvPr/>
        </p:nvSpPr>
        <p:spPr>
          <a:xfrm>
            <a:off x="1508760" y="3337560"/>
            <a:ext cx="10042855" cy="66751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It can't be an -ing form, a to- form, or a verb buried inside a noun or extra information.</a:t>
            </a:r>
            <a:endParaRPr lang="en-US" sz="1200" dirty="0"/>
          </a:p>
        </p:txBody>
      </p:sp>
      <p:sp>
        <p:nvSpPr>
          <p:cNvPr id="11" name="Text 9"/>
          <p:cNvSpPr/>
          <p:nvPr/>
        </p:nvSpPr>
        <p:spPr>
          <a:xfrm>
            <a:off x="640080" y="402336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03</a:t>
            </a:r>
            <a:endParaRPr lang="en-US" sz="2100" dirty="0"/>
          </a:p>
        </p:txBody>
      </p:sp>
      <p:sp>
        <p:nvSpPr>
          <p:cNvPr id="12" name="Text 10"/>
          <p:cNvSpPr/>
          <p:nvPr/>
        </p:nvSpPr>
        <p:spPr>
          <a:xfrm>
            <a:off x="1508760" y="402336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3 · It can't start with a dependent-clause starter.</a:t>
            </a:r>
            <a:endParaRPr lang="en-US" sz="1450" dirty="0"/>
          </a:p>
        </p:txBody>
      </p:sp>
      <p:sp>
        <p:nvSpPr>
          <p:cNvPr id="13" name="Text 11"/>
          <p:cNvSpPr/>
          <p:nvPr/>
        </p:nvSpPr>
        <p:spPr>
          <a:xfrm>
            <a:off x="1508760" y="4389120"/>
            <a:ext cx="10042855" cy="66751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Words like when, although, while, if, since — remember the acronym WASABI.</a:t>
            </a:r>
            <a:endParaRPr lang="en-US" sz="1200" dirty="0"/>
          </a:p>
        </p:txBody>
      </p:sp>
      <p:sp>
        <p:nvSpPr>
          <p:cNvPr id="14" name="Text 12"/>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5" name="Text 13"/>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INDEPENDENT CLAUSES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Hard examples: it doesn't have to “sound” complete</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About 80% of students misjudge these on the first try.</a:t>
            </a:r>
            <a:endParaRPr lang="en-US" sz="1350" dirty="0"/>
          </a:p>
        </p:txBody>
      </p:sp>
      <p:sp>
        <p:nvSpPr>
          <p:cNvPr id="5" name="Text 3"/>
          <p:cNvSpPr/>
          <p:nvPr/>
        </p:nvSpPr>
        <p:spPr>
          <a:xfrm>
            <a:off x="640080" y="192024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“That the ancient ruins held secrets lost to time fascinated archaeologists for centuries.” — subject is the whole idea (“that…time”); main verb is fascinated.</a:t>
            </a:r>
            <a:endParaRPr lang="en-US" sz="1350" dirty="0"/>
          </a:p>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“Determining whether the ancient manuscript was authentic required extensive analysis.” — subject is the -ing phrase; main verb is required (was is buried inside the subject).</a:t>
            </a:r>
            <a:endParaRPr lang="en-US" sz="1350" dirty="0"/>
          </a:p>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“Whether these vocalizations should be considered names… remains controversial…” — subject is the whole question; main verb is remains.</a:t>
            </a:r>
            <a:endParaRPr lang="en-US" sz="1350" dirty="0"/>
          </a:p>
        </p:txBody>
      </p:sp>
      <p:sp>
        <p:nvSpPr>
          <p:cNvPr id="6" name="Shape 4"/>
          <p:cNvSpPr/>
          <p:nvPr/>
        </p:nvSpPr>
        <p:spPr>
          <a:xfrm>
            <a:off x="640080" y="5074920"/>
            <a:ext cx="10911535" cy="777240"/>
          </a:xfrm>
          <a:prstGeom prst="roundRect">
            <a:avLst>
              <a:gd name="adj" fmla="val 7059"/>
            </a:avLst>
          </a:prstGeom>
          <a:solidFill>
            <a:srgbClr val="FFFFFF"/>
          </a:solidFill>
          <a:ln w="15875">
            <a:solidFill>
              <a:srgbClr val="C9A84C"/>
            </a:solidFill>
            <a:prstDash val="solid"/>
          </a:ln>
        </p:spPr>
      </p:sp>
      <p:sp>
        <p:nvSpPr>
          <p:cNvPr id="7" name="Text 5"/>
          <p:cNvSpPr/>
          <p:nvPr/>
        </p:nvSpPr>
        <p:spPr>
          <a:xfrm>
            <a:off x="932688" y="5074920"/>
            <a:ext cx="10326319" cy="77724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The “that” trap: never put a comma directly before the word “that” — it introduces essential information, not additional information.</a:t>
            </a:r>
            <a:endParaRPr lang="en-US" sz="1450" dirty="0"/>
          </a:p>
        </p:txBody>
      </p:sp>
      <p:sp>
        <p:nvSpPr>
          <p:cNvPr id="8" name="Text 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9" name="Text 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THE SIX MARKS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Every punctuation mark the SAT tests</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Framed as: what has to be in the passage for this mark to be correct?</a:t>
            </a:r>
            <a:endParaRPr lang="en-US" sz="135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11535" cy="914400"/>
        </p:xfrm>
        <a:graphic>
          <a:graphicData uri="http://schemas.openxmlformats.org/drawingml/2006/table">
            <a:tbl>
              <a:tblPr/>
              <a:tblGrid>
                <a:gridCol w="5455768"/>
                <a:gridCol w="5455768"/>
              </a:tblGrid>
              <a:tr h="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Mark</a:t>
                      </a:r>
                      <a:endParaRPr lang="en-US" sz="12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makes it correct</a:t>
                      </a:r>
                      <a:endParaRPr lang="en-US" sz="12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r>
              <a:tr h="0">
                <a:tc>
                  <a:txBody>
                    <a:bodyPr/>
                    <a:lstStyle/>
                    <a:p>
                      <a:pPr algn="l" indent="0" marL="0">
                        <a:buNone/>
                      </a:pPr>
                      <a:r>
                        <a:rPr lang="en-US" sz="1200" dirty="0">
                          <a:solidFill>
                            <a:srgbClr val="111111"/>
                          </a:solidFill>
                          <a:latin typeface="Calibri" pitchFamily="34" charset="0"/>
                          <a:ea typeface="Calibri" pitchFamily="34" charset="-122"/>
                          <a:cs typeface="Calibri" pitchFamily="34" charset="-120"/>
                        </a:rPr>
                        <a:t>Colon ( : )</a:t>
                      </a:r>
                      <a:endParaRPr lang="en-US" sz="12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111"/>
                          </a:solidFill>
                          <a:latin typeface="Calibri" pitchFamily="34" charset="0"/>
                          <a:ea typeface="Calibri" pitchFamily="34" charset="-122"/>
                          <a:cs typeface="Calibri" pitchFamily="34" charset="-120"/>
                        </a:rPr>
                        <a:t>Independent clause before it + an expanding thought (its own idea) after it.</a:t>
                      </a:r>
                      <a:endParaRPr lang="en-US" sz="12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11111"/>
                          </a:solidFill>
                          <a:latin typeface="Calibri" pitchFamily="34" charset="0"/>
                          <a:ea typeface="Calibri" pitchFamily="34" charset="-122"/>
                          <a:cs typeface="Calibri" pitchFamily="34" charset="-120"/>
                        </a:rPr>
                        <a:t>Period ( . )</a:t>
                      </a:r>
                      <a:endParaRPr lang="en-US" sz="12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200" dirty="0">
                          <a:solidFill>
                            <a:srgbClr val="111111"/>
                          </a:solidFill>
                          <a:latin typeface="Calibri" pitchFamily="34" charset="0"/>
                          <a:ea typeface="Calibri" pitchFamily="34" charset="-122"/>
                          <a:cs typeface="Calibri" pitchFamily="34" charset="-120"/>
                        </a:rPr>
                        <a:t>Independent clause before AND independent clause after.</a:t>
                      </a:r>
                      <a:endParaRPr lang="en-US" sz="12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r h="0">
                <a:tc>
                  <a:txBody>
                    <a:bodyPr/>
                    <a:lstStyle/>
                    <a:p>
                      <a:pPr algn="l" indent="0" marL="0">
                        <a:buNone/>
                      </a:pPr>
                      <a:r>
                        <a:rPr lang="en-US" sz="1200" dirty="0">
                          <a:solidFill>
                            <a:srgbClr val="111111"/>
                          </a:solidFill>
                          <a:latin typeface="Calibri" pitchFamily="34" charset="0"/>
                          <a:ea typeface="Calibri" pitchFamily="34" charset="-122"/>
                          <a:cs typeface="Calibri" pitchFamily="34" charset="-120"/>
                        </a:rPr>
                        <a:t>Semicolon ( ; )</a:t>
                      </a:r>
                      <a:endParaRPr lang="en-US" sz="12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111"/>
                          </a:solidFill>
                          <a:latin typeface="Calibri" pitchFamily="34" charset="0"/>
                          <a:ea typeface="Calibri" pitchFamily="34" charset="-122"/>
                          <a:cs typeface="Calibri" pitchFamily="34" charset="-120"/>
                        </a:rPr>
                        <a:t>Either separates items in a semicolon list, OR links independent clause + independent clause.</a:t>
                      </a:r>
                      <a:endParaRPr lang="en-US" sz="12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11111"/>
                          </a:solidFill>
                          <a:latin typeface="Calibri" pitchFamily="34" charset="0"/>
                          <a:ea typeface="Calibri" pitchFamily="34" charset="-122"/>
                          <a:cs typeface="Calibri" pitchFamily="34" charset="-120"/>
                        </a:rPr>
                        <a:t>Comma + FANBOYS</a:t>
                      </a:r>
                      <a:endParaRPr lang="en-US" sz="12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200" dirty="0">
                          <a:solidFill>
                            <a:srgbClr val="111111"/>
                          </a:solidFill>
                          <a:latin typeface="Calibri" pitchFamily="34" charset="0"/>
                          <a:ea typeface="Calibri" pitchFamily="34" charset="-122"/>
                          <a:cs typeface="Calibri" pitchFamily="34" charset="-120"/>
                        </a:rPr>
                        <a:t>Independent clause before AND after — functionally identical to a period.</a:t>
                      </a:r>
                      <a:endParaRPr lang="en-US" sz="12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r h="0">
                <a:tc>
                  <a:txBody>
                    <a:bodyPr/>
                    <a:lstStyle/>
                    <a:p>
                      <a:pPr algn="l" indent="0" marL="0">
                        <a:buNone/>
                      </a:pPr>
                      <a:r>
                        <a:rPr lang="en-US" sz="1200" dirty="0">
                          <a:solidFill>
                            <a:srgbClr val="111111"/>
                          </a:solidFill>
                          <a:latin typeface="Calibri" pitchFamily="34" charset="0"/>
                          <a:ea typeface="Calibri" pitchFamily="34" charset="-122"/>
                          <a:cs typeface="Calibri" pitchFamily="34" charset="-120"/>
                        </a:rPr>
                        <a:t>Isolated comma ( , )</a:t>
                      </a:r>
                      <a:endParaRPr lang="en-US" sz="12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11111"/>
                          </a:solidFill>
                          <a:latin typeface="Calibri" pitchFamily="34" charset="0"/>
                          <a:ea typeface="Calibri" pitchFamily="34" charset="-122"/>
                          <a:cs typeface="Calibri" pitchFamily="34" charset="-120"/>
                        </a:rPr>
                        <a:t>A comma list (rare), or attaching a non-essential element.</a:t>
                      </a:r>
                      <a:endParaRPr lang="en-US" sz="12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11111"/>
                          </a:solidFill>
                          <a:latin typeface="Calibri" pitchFamily="34" charset="0"/>
                          <a:ea typeface="Calibri" pitchFamily="34" charset="-122"/>
                          <a:cs typeface="Calibri" pitchFamily="34" charset="-120"/>
                        </a:rPr>
                        <a:t>Dash ( — )</a:t>
                      </a:r>
                      <a:endParaRPr lang="en-US" sz="12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200" dirty="0">
                          <a:solidFill>
                            <a:srgbClr val="111111"/>
                          </a:solidFill>
                          <a:latin typeface="Calibri" pitchFamily="34" charset="0"/>
                          <a:ea typeface="Calibri" pitchFamily="34" charset="-122"/>
                          <a:cs typeface="Calibri" pitchFamily="34" charset="-120"/>
                        </a:rPr>
                        <a:t>Attaches a non-essential element (needs an opening AND closing dash), or replaces a colon.</a:t>
                      </a:r>
                      <a:endParaRPr lang="en-US" sz="12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bl>
          </a:graphicData>
        </a:graphic>
      </p:graphicFrame>
      <p:sp>
        <p:nvSpPr>
          <p:cNvPr id="6" name="Shape 3"/>
          <p:cNvSpPr/>
          <p:nvPr/>
        </p:nvSpPr>
        <p:spPr>
          <a:xfrm>
            <a:off x="640080" y="4343400"/>
            <a:ext cx="10911535" cy="868680"/>
          </a:xfrm>
          <a:prstGeom prst="roundRect">
            <a:avLst>
              <a:gd name="adj" fmla="val 6316"/>
            </a:avLst>
          </a:prstGeom>
          <a:solidFill>
            <a:srgbClr val="FFFFFF"/>
          </a:solidFill>
          <a:ln w="15875">
            <a:solidFill>
              <a:srgbClr val="C9A84C"/>
            </a:solidFill>
            <a:prstDash val="solid"/>
          </a:ln>
        </p:spPr>
      </p:sp>
      <p:sp>
        <p:nvSpPr>
          <p:cNvPr id="7" name="Text 4"/>
          <p:cNvSpPr/>
          <p:nvPr/>
        </p:nvSpPr>
        <p:spPr>
          <a:xfrm>
            <a:off x="932688" y="4343400"/>
            <a:ext cx="10326319" cy="86868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You'll rarely reason through all six marks from scratch — the priority list on an upcoming slide tells you which one to check first.</a:t>
            </a:r>
            <a:endParaRPr lang="en-US" sz="1450" dirty="0"/>
          </a:p>
        </p:txBody>
      </p:sp>
      <p:sp>
        <p:nvSpPr>
          <p:cNvPr id="8" name="Text 5"/>
          <p:cNvSpPr/>
          <p:nvPr/>
        </p:nvSpPr>
        <p:spPr>
          <a:xfrm>
            <a:off x="640080" y="5394960"/>
            <a:ext cx="10911535" cy="2743200"/>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Screenshot this table — it's the reference you'll come back to for every punctuation question in this deck.</a:t>
            </a:r>
            <a:endParaRPr lang="en-US" sz="1300" dirty="0"/>
          </a:p>
        </p:txBody>
      </p:sp>
      <p:sp>
        <p:nvSpPr>
          <p:cNvPr id="9" name="Text 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0" name="Text 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COLONS &amp; PERIODS</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Colon and period — the two simplest rules</a:t>
            </a:r>
            <a:endParaRPr lang="en-US" sz="2900" dirty="0"/>
          </a:p>
        </p:txBody>
      </p:sp>
      <p:sp>
        <p:nvSpPr>
          <p:cNvPr id="4" name="Shape 2"/>
          <p:cNvSpPr/>
          <p:nvPr/>
        </p:nvSpPr>
        <p:spPr>
          <a:xfrm>
            <a:off x="640080" y="1965960"/>
            <a:ext cx="5318608" cy="3017520"/>
          </a:xfrm>
          <a:prstGeom prst="roundRect">
            <a:avLst>
              <a:gd name="adj" fmla="val 2121"/>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5" name="Text 3"/>
          <p:cNvSpPr/>
          <p:nvPr/>
        </p:nvSpPr>
        <p:spPr>
          <a:xfrm>
            <a:off x="877824"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Colon ( : )</a:t>
            </a:r>
            <a:endParaRPr lang="en-US" sz="1450" dirty="0"/>
          </a:p>
        </p:txBody>
      </p:sp>
      <p:sp>
        <p:nvSpPr>
          <p:cNvPr id="6" name="Text 4"/>
          <p:cNvSpPr/>
          <p:nvPr/>
        </p:nvSpPr>
        <p:spPr>
          <a:xfrm>
            <a:off x="877824" y="2551176"/>
            <a:ext cx="4843120" cy="224942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Independent clause immediately before the colon — check this first.</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After the colon: its own expanding thought, not a mid-sentence interruption.</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Not really about “introducing a list” — that idea gets students the wrong answer.</a:t>
            </a:r>
            <a:endParaRPr lang="en-US" sz="1200" dirty="0"/>
          </a:p>
        </p:txBody>
      </p:sp>
      <p:sp>
        <p:nvSpPr>
          <p:cNvPr id="7" name="Shape 5"/>
          <p:cNvSpPr/>
          <p:nvPr/>
        </p:nvSpPr>
        <p:spPr>
          <a:xfrm>
            <a:off x="6233008" y="1965960"/>
            <a:ext cx="5318608" cy="3017520"/>
          </a:xfrm>
          <a:prstGeom prst="roundRect">
            <a:avLst>
              <a:gd name="adj" fmla="val 2121"/>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8" name="Text 6"/>
          <p:cNvSpPr/>
          <p:nvPr/>
        </p:nvSpPr>
        <p:spPr>
          <a:xfrm>
            <a:off x="6470752"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Period ( . )</a:t>
            </a:r>
            <a:endParaRPr lang="en-US" sz="1450" dirty="0"/>
          </a:p>
        </p:txBody>
      </p:sp>
      <p:sp>
        <p:nvSpPr>
          <p:cNvPr id="9" name="Text 7"/>
          <p:cNvSpPr/>
          <p:nvPr/>
        </p:nvSpPr>
        <p:spPr>
          <a:xfrm>
            <a:off x="6470752" y="2551176"/>
            <a:ext cx="4843120" cy="224942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Independent clause before it.</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Independent clause after it.</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That's the entire rule — nothing more to check.</a:t>
            </a:r>
            <a:endParaRPr lang="en-US" sz="1200" dirty="0"/>
          </a:p>
        </p:txBody>
      </p:sp>
      <p:sp>
        <p:nvSpPr>
          <p:cNvPr id="10" name="Shape 8"/>
          <p:cNvSpPr/>
          <p:nvPr/>
        </p:nvSpPr>
        <p:spPr>
          <a:xfrm>
            <a:off x="640080" y="5120640"/>
            <a:ext cx="10911535" cy="731520"/>
          </a:xfrm>
          <a:prstGeom prst="roundRect">
            <a:avLst>
              <a:gd name="adj" fmla="val 7500"/>
            </a:avLst>
          </a:prstGeom>
          <a:solidFill>
            <a:srgbClr val="FFFFFF"/>
          </a:solidFill>
          <a:ln w="15875">
            <a:solidFill>
              <a:srgbClr val="C9A84C"/>
            </a:solidFill>
            <a:prstDash val="solid"/>
          </a:ln>
        </p:spPr>
      </p:sp>
      <p:sp>
        <p:nvSpPr>
          <p:cNvPr id="11" name="Text 9"/>
          <p:cNvSpPr/>
          <p:nvPr/>
        </p:nvSpPr>
        <p:spPr>
          <a:xfrm>
            <a:off x="932688" y="5120640"/>
            <a:ext cx="10326319" cy="731520"/>
          </a:xfrm>
          <a:prstGeom prst="rect">
            <a:avLst/>
          </a:prstGeom>
          <a:noFill/>
          <a:ln/>
        </p:spPr>
        <p:txBody>
          <a:bodyPr wrap="square" lIns="0" tIns="0" rIns="0" bIns="0" rtlCol="0" anchor="ctr"/>
          <a:lstStyle/>
          <a:p>
            <a:pPr indent="0" marL="0">
              <a:lnSpc>
                <a:spcPct val="115000"/>
              </a:lnSpc>
              <a:buNone/>
            </a:pPr>
            <a:r>
              <a:rPr lang="en-US" sz="120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200" b="1" dirty="0">
                <a:solidFill>
                  <a:srgbClr val="111111"/>
                </a:solidFill>
                <a:latin typeface="Calibri" pitchFamily="34" charset="0"/>
                <a:ea typeface="Calibri" pitchFamily="34" charset="-122"/>
                <a:cs typeface="Calibri" pitchFamily="34" charset="-120"/>
              </a:rPr>
              <a:t>In the harder second module especially, a colon answer choice is correct an extremely high share of the time — check it first.</a:t>
            </a:r>
            <a:endParaRPr lang="en-US" sz="1200" dirty="0"/>
          </a:p>
        </p:txBody>
      </p:sp>
      <p:sp>
        <p:nvSpPr>
          <p:cNvPr id="12" name="Text 10"/>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3" name="Text 11"/>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SEMICOLONS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Semicolons do two different jobs</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Check for a semicolon list BEFORE assuming it's linking independent clauses.</a:t>
            </a:r>
            <a:endParaRPr lang="en-US" sz="1350" dirty="0"/>
          </a:p>
        </p:txBody>
      </p:sp>
      <p:sp>
        <p:nvSpPr>
          <p:cNvPr id="5" name="Shape 3"/>
          <p:cNvSpPr/>
          <p:nvPr/>
        </p:nvSpPr>
        <p:spPr>
          <a:xfrm>
            <a:off x="640080" y="1965960"/>
            <a:ext cx="5318608" cy="2834640"/>
          </a:xfrm>
          <a:prstGeom prst="roundRect">
            <a:avLst>
              <a:gd name="adj" fmla="val 2258"/>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6" name="Text 4"/>
          <p:cNvSpPr/>
          <p:nvPr/>
        </p:nvSpPr>
        <p:spPr>
          <a:xfrm>
            <a:off x="877824"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Job 1 — Semicolon list</a:t>
            </a:r>
            <a:endParaRPr lang="en-US" sz="1450" dirty="0"/>
          </a:p>
        </p:txBody>
      </p:sp>
      <p:sp>
        <p:nvSpPr>
          <p:cNvPr id="7" name="Text 5"/>
          <p:cNvSpPr/>
          <p:nvPr/>
        </p:nvSpPr>
        <p:spPr>
          <a:xfrm>
            <a:off x="877824" y="2551176"/>
            <a:ext cx="4843120" cy="206654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Separates items in a list when at least one item already contains a comma.</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Tell: multiple semicolons already in the sentence, or a semicolon right next to another one.</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The test is really the PLACEMENT — where does each list item begin/end?</a:t>
            </a:r>
            <a:endParaRPr lang="en-US" sz="1200" dirty="0"/>
          </a:p>
        </p:txBody>
      </p:sp>
      <p:sp>
        <p:nvSpPr>
          <p:cNvPr id="8" name="Shape 6"/>
          <p:cNvSpPr/>
          <p:nvPr/>
        </p:nvSpPr>
        <p:spPr>
          <a:xfrm>
            <a:off x="6233008" y="1965960"/>
            <a:ext cx="5318608" cy="2834640"/>
          </a:xfrm>
          <a:prstGeom prst="roundRect">
            <a:avLst>
              <a:gd name="adj" fmla="val 2258"/>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9" name="Text 7"/>
          <p:cNvSpPr/>
          <p:nvPr/>
        </p:nvSpPr>
        <p:spPr>
          <a:xfrm>
            <a:off x="6470752"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Job 2 — Independent-clause linker</a:t>
            </a:r>
            <a:endParaRPr lang="en-US" sz="1450" dirty="0"/>
          </a:p>
        </p:txBody>
      </p:sp>
      <p:sp>
        <p:nvSpPr>
          <p:cNvPr id="10" name="Text 8"/>
          <p:cNvSpPr/>
          <p:nvPr/>
        </p:nvSpPr>
        <p:spPr>
          <a:xfrm>
            <a:off x="6470752" y="2551176"/>
            <a:ext cx="4843120" cy="206654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Same rule as a period: independent clause before AND after.</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Only applies once you've ruled out a semicolon list.</a:t>
            </a:r>
            <a:endParaRPr lang="en-US" sz="1200" dirty="0"/>
          </a:p>
        </p:txBody>
      </p:sp>
      <p:sp>
        <p:nvSpPr>
          <p:cNvPr id="11" name="Text 9"/>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2" name="Text 10"/>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SEMICOLONS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a semicolon list question</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SEMICOLON-LIST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Read the last item in the list first — it reveals the structure every other item must match.</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COMMA + FANBOYS</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Comma + FANBOYS = a second period</a:t>
            </a:r>
            <a:endParaRPr lang="en-US" sz="2900" dirty="0"/>
          </a:p>
        </p:txBody>
      </p:sp>
      <p:sp>
        <p:nvSpPr>
          <p:cNvPr id="4" name="Text 2"/>
          <p:cNvSpPr/>
          <p:nvPr/>
        </p:nvSpPr>
        <p:spPr>
          <a:xfrm>
            <a:off x="640080" y="196596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FANBOYS = for, and, nor, but, or, yet — but on official SAT questions, only and (common) and but (rare) actually show up.</a:t>
            </a:r>
            <a:endParaRPr lang="en-US" sz="1500" dirty="0"/>
          </a:p>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Treat “comma + and/but” as ONE punctuation mark that behaves exactly like a period: independent clause before and after.</a:t>
            </a:r>
            <a:endParaRPr lang="en-US" sz="1500" dirty="0"/>
          </a:p>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Big time-saver: period, semicolon (as a linker), and comma+FANBOYS are functionally interchangeable — if you see all three as separate answer choices in the same spot, none of them can be correct (there's only one right answer), so the 4th choice wins.</a:t>
            </a:r>
            <a:endParaRPr lang="en-US" sz="1500" dirty="0"/>
          </a:p>
        </p:txBody>
      </p:sp>
      <p:sp>
        <p:nvSpPr>
          <p:cNvPr id="5" name="Shape 3"/>
          <p:cNvSpPr/>
          <p:nvPr/>
        </p:nvSpPr>
        <p:spPr>
          <a:xfrm>
            <a:off x="640080" y="3840480"/>
            <a:ext cx="10911535" cy="914400"/>
          </a:xfrm>
          <a:prstGeom prst="roundRect">
            <a:avLst>
              <a:gd name="adj" fmla="val 6000"/>
            </a:avLst>
          </a:prstGeom>
          <a:solidFill>
            <a:srgbClr val="FFFFFF"/>
          </a:solidFill>
          <a:ln w="15875">
            <a:solidFill>
              <a:srgbClr val="C9A84C"/>
            </a:solidFill>
            <a:prstDash val="solid"/>
          </a:ln>
        </p:spPr>
      </p:sp>
      <p:sp>
        <p:nvSpPr>
          <p:cNvPr id="6" name="Text 4"/>
          <p:cNvSpPr/>
          <p:nvPr/>
        </p:nvSpPr>
        <p:spPr>
          <a:xfrm>
            <a:off x="932688" y="3840480"/>
            <a:ext cx="10326319" cy="91440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Officially tested: “and” (common) and “but” (rare). You will not see nor, or, for, or yet linking independent clauses on a real SAT.</a:t>
            </a:r>
            <a:endParaRPr lang="en-US" sz="1450" dirty="0"/>
          </a:p>
        </p:txBody>
      </p:sp>
      <p:sp>
        <p:nvSpPr>
          <p:cNvPr id="7" name="Text 5"/>
          <p:cNvSpPr/>
          <p:nvPr/>
        </p:nvSpPr>
        <p:spPr>
          <a:xfrm>
            <a:off x="640080" y="4937760"/>
            <a:ext cx="10911535" cy="2743200"/>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Comma placement still matters: the comma has to sit right before the FANBOYS word, not somewhere else in the sentence.</a:t>
            </a:r>
            <a:endParaRPr lang="en-US" sz="1300" dirty="0"/>
          </a:p>
        </p:txBody>
      </p:sp>
      <p:sp>
        <p:nvSpPr>
          <p:cNvPr id="8" name="Text 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9" name="Text 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ISOLATED COMMAS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Isolated comma — two jobs, one common</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A comma with no FANBOYS right after it.</a:t>
            </a:r>
            <a:endParaRPr lang="en-US" sz="1350" dirty="0"/>
          </a:p>
        </p:txBody>
      </p:sp>
      <p:sp>
        <p:nvSpPr>
          <p:cNvPr id="5" name="Shape 3"/>
          <p:cNvSpPr/>
          <p:nvPr/>
        </p:nvSpPr>
        <p:spPr>
          <a:xfrm>
            <a:off x="640080" y="1965960"/>
            <a:ext cx="5318608" cy="2834640"/>
          </a:xfrm>
          <a:prstGeom prst="roundRect">
            <a:avLst>
              <a:gd name="adj" fmla="val 2258"/>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6" name="Text 4"/>
          <p:cNvSpPr/>
          <p:nvPr/>
        </p:nvSpPr>
        <p:spPr>
          <a:xfrm>
            <a:off x="877824"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Comma list (rare)</a:t>
            </a:r>
            <a:endParaRPr lang="en-US" sz="1450" dirty="0"/>
          </a:p>
        </p:txBody>
      </p:sp>
      <p:sp>
        <p:nvSpPr>
          <p:cNvPr id="7" name="Text 5"/>
          <p:cNvSpPr/>
          <p:nvPr/>
        </p:nvSpPr>
        <p:spPr>
          <a:xfrm>
            <a:off x="877824" y="2551176"/>
            <a:ext cx="4843120" cy="206654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A list of MORE than two items needs commas between all of them.</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Two items need no comma at all (“yellow and red”).</a:t>
            </a:r>
            <a:endParaRPr lang="en-US" sz="1200" dirty="0"/>
          </a:p>
        </p:txBody>
      </p:sp>
      <p:sp>
        <p:nvSpPr>
          <p:cNvPr id="8" name="Shape 6"/>
          <p:cNvSpPr/>
          <p:nvPr/>
        </p:nvSpPr>
        <p:spPr>
          <a:xfrm>
            <a:off x="6233008" y="1965960"/>
            <a:ext cx="5318608" cy="2834640"/>
          </a:xfrm>
          <a:prstGeom prst="roundRect">
            <a:avLst>
              <a:gd name="adj" fmla="val 2258"/>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9" name="Text 7"/>
          <p:cNvSpPr/>
          <p:nvPr/>
        </p:nvSpPr>
        <p:spPr>
          <a:xfrm>
            <a:off x="6470752"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Attaching a non-essential element (common)</a:t>
            </a:r>
            <a:endParaRPr lang="en-US" sz="1450" dirty="0"/>
          </a:p>
        </p:txBody>
      </p:sp>
      <p:sp>
        <p:nvSpPr>
          <p:cNvPr id="10" name="Text 8"/>
          <p:cNvSpPr/>
          <p:nvPr/>
        </p:nvSpPr>
        <p:spPr>
          <a:xfrm>
            <a:off x="6470752" y="2551176"/>
            <a:ext cx="4843120" cy="206654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Wherever a non-essential element touches the rest of the sentence, put a comma there.</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This is the actual reason almost every isolated comma exists on the test.</a:t>
            </a:r>
            <a:endParaRPr lang="en-US" sz="1200" dirty="0"/>
          </a:p>
        </p:txBody>
      </p:sp>
      <p:sp>
        <p:nvSpPr>
          <p:cNvPr id="11" name="Text 9"/>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2" name="Text 10"/>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NON-ESSENTIAL ELEMENTS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The comma sandwich — beginning, middle, end, nested</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A non-essential element is just additional information. Comma wherever it touches the sentence.</a:t>
            </a:r>
            <a:endParaRPr lang="en-US" sz="1350" dirty="0"/>
          </a:p>
        </p:txBody>
      </p:sp>
      <p:sp>
        <p:nvSpPr>
          <p:cNvPr id="5" name="Text 3"/>
          <p:cNvSpPr/>
          <p:nvPr/>
        </p:nvSpPr>
        <p:spPr>
          <a:xfrm>
            <a:off x="640080" y="192024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At the start: “Although usually overlooked by students, the strategy proved effective.” — one comma, right where it meets the sentence.</a:t>
            </a:r>
            <a:endParaRPr lang="en-US" sz="1350" dirty="0"/>
          </a:p>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In the middle: “The strategy, made by James, proved effective.” — a comma on both sides (a full comma sandwich).</a:t>
            </a:r>
            <a:endParaRPr lang="en-US" sz="1350" dirty="0"/>
          </a:p>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At the end: “The strategy proved effective, who eventually mastered the concept.” — one comma before it.</a:t>
            </a:r>
            <a:endParaRPr lang="en-US" sz="1350" dirty="0"/>
          </a:p>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Nested: a non-essential element can sit inside another one — each layer gets its own comma pair.</a:t>
            </a:r>
            <a:endParaRPr lang="en-US" sz="1350" dirty="0"/>
          </a:p>
        </p:txBody>
      </p:sp>
      <p:sp>
        <p:nvSpPr>
          <p:cNvPr id="6" name="Text 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7" name="Text 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NON-ESSENTIAL ELEMENTS</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How to prove it's non-essential</a:t>
            </a:r>
            <a:endParaRPr lang="en-US" sz="2900" dirty="0"/>
          </a:p>
        </p:txBody>
      </p:sp>
      <p:sp>
        <p:nvSpPr>
          <p:cNvPr id="4" name="Text 2"/>
          <p:cNvSpPr/>
          <p:nvPr/>
        </p:nvSpPr>
        <p:spPr>
          <a:xfrm>
            <a:off x="640080" y="19202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01</a:t>
            </a:r>
            <a:endParaRPr lang="en-US" sz="2100" dirty="0"/>
          </a:p>
        </p:txBody>
      </p:sp>
      <p:sp>
        <p:nvSpPr>
          <p:cNvPr id="5" name="Text 3"/>
          <p:cNvSpPr/>
          <p:nvPr/>
        </p:nvSpPr>
        <p:spPr>
          <a:xfrm>
            <a:off x="1508760" y="19202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Try deleting it from the sentence.</a:t>
            </a:r>
            <a:endParaRPr lang="en-US" sz="1450" dirty="0"/>
          </a:p>
        </p:txBody>
      </p:sp>
      <p:sp>
        <p:nvSpPr>
          <p:cNvPr id="6" name="Text 4"/>
          <p:cNvSpPr/>
          <p:nvPr/>
        </p:nvSpPr>
        <p:spPr>
          <a:xfrm>
            <a:off x="1508760" y="228600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If the sentence still makes complete sense without it, it's non-essential.</a:t>
            </a:r>
            <a:endParaRPr lang="en-US" sz="1200" dirty="0"/>
          </a:p>
        </p:txBody>
      </p:sp>
      <p:sp>
        <p:nvSpPr>
          <p:cNvPr id="7" name="Text 5"/>
          <p:cNvSpPr/>
          <p:nvPr/>
        </p:nvSpPr>
        <p:spPr>
          <a:xfrm>
            <a:off x="640080" y="288036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02</a:t>
            </a:r>
            <a:endParaRPr lang="en-US" sz="2100" dirty="0"/>
          </a:p>
        </p:txBody>
      </p:sp>
      <p:sp>
        <p:nvSpPr>
          <p:cNvPr id="8" name="Text 6"/>
          <p:cNvSpPr/>
          <p:nvPr/>
        </p:nvSpPr>
        <p:spPr>
          <a:xfrm>
            <a:off x="1508760" y="288036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Confirm it's genuinely “extra” information.</a:t>
            </a:r>
            <a:endParaRPr lang="en-US" sz="1450" dirty="0"/>
          </a:p>
        </p:txBody>
      </p:sp>
      <p:sp>
        <p:nvSpPr>
          <p:cNvPr id="9" name="Text 7"/>
          <p:cNvSpPr/>
          <p:nvPr/>
        </p:nvSpPr>
        <p:spPr>
          <a:xfrm>
            <a:off x="1508760" y="324612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Not the core subject or main verb of the sentence.</a:t>
            </a:r>
            <a:endParaRPr lang="en-US" sz="1200" dirty="0"/>
          </a:p>
        </p:txBody>
      </p:sp>
      <p:sp>
        <p:nvSpPr>
          <p:cNvPr id="10" name="Text 8"/>
          <p:cNvSpPr/>
          <p:nvPr/>
        </p:nvSpPr>
        <p:spPr>
          <a:xfrm>
            <a:off x="640080" y="384048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03</a:t>
            </a:r>
            <a:endParaRPr lang="en-US" sz="2100" dirty="0"/>
          </a:p>
        </p:txBody>
      </p:sp>
      <p:sp>
        <p:nvSpPr>
          <p:cNvPr id="11" name="Text 9"/>
          <p:cNvSpPr/>
          <p:nvPr/>
        </p:nvSpPr>
        <p:spPr>
          <a:xfrm>
            <a:off x="1508760" y="384048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Check for the word “that.”</a:t>
            </a:r>
            <a:endParaRPr lang="en-US" sz="1450" dirty="0"/>
          </a:p>
        </p:txBody>
      </p:sp>
      <p:sp>
        <p:nvSpPr>
          <p:cNvPr id="12" name="Text 10"/>
          <p:cNvSpPr/>
          <p:nvPr/>
        </p:nvSpPr>
        <p:spPr>
          <a:xfrm>
            <a:off x="1508760" y="420624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The one exception — never put a comma directly before “that.” It introduces essential information.</a:t>
            </a:r>
            <a:endParaRPr lang="en-US" sz="1200" dirty="0"/>
          </a:p>
        </p:txBody>
      </p:sp>
      <p:sp>
        <p:nvSpPr>
          <p:cNvPr id="13" name="Shape 11"/>
          <p:cNvSpPr/>
          <p:nvPr/>
        </p:nvSpPr>
        <p:spPr>
          <a:xfrm>
            <a:off x="640080" y="4983480"/>
            <a:ext cx="10911535" cy="868680"/>
          </a:xfrm>
          <a:prstGeom prst="roundRect">
            <a:avLst>
              <a:gd name="adj" fmla="val 6316"/>
            </a:avLst>
          </a:prstGeom>
          <a:solidFill>
            <a:srgbClr val="FFFFFF"/>
          </a:solidFill>
          <a:ln w="15875">
            <a:solidFill>
              <a:srgbClr val="C9A84C"/>
            </a:solidFill>
            <a:prstDash val="solid"/>
          </a:ln>
        </p:spPr>
      </p:sp>
      <p:sp>
        <p:nvSpPr>
          <p:cNvPr id="14" name="Text 12"/>
          <p:cNvSpPr/>
          <p:nvPr/>
        </p:nvSpPr>
        <p:spPr>
          <a:xfrm>
            <a:off x="932688" y="4983480"/>
            <a:ext cx="10326319" cy="86868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Common non-essential-element starters: “which,” -ing verbs, and transition words (however, therefore) — a comma almost always precedes them.</a:t>
            </a:r>
            <a:endParaRPr lang="en-US" sz="1450" dirty="0"/>
          </a:p>
        </p:txBody>
      </p:sp>
      <p:sp>
        <p:nvSpPr>
          <p:cNvPr id="15" name="Text 13"/>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6" name="Text 14"/>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DASHES</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Dashes — two jobs, one comma-sandwich rule</a:t>
            </a:r>
            <a:endParaRPr lang="en-US" sz="2900" dirty="0"/>
          </a:p>
        </p:txBody>
      </p:sp>
      <p:sp>
        <p:nvSpPr>
          <p:cNvPr id="4" name="Shape 2"/>
          <p:cNvSpPr/>
          <p:nvPr/>
        </p:nvSpPr>
        <p:spPr>
          <a:xfrm>
            <a:off x="640080" y="1965960"/>
            <a:ext cx="5318608" cy="2834640"/>
          </a:xfrm>
          <a:prstGeom prst="roundRect">
            <a:avLst>
              <a:gd name="adj" fmla="val 2258"/>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5" name="Text 3"/>
          <p:cNvSpPr/>
          <p:nvPr/>
        </p:nvSpPr>
        <p:spPr>
          <a:xfrm>
            <a:off x="877824"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Job 1 — Non-essential sandwich</a:t>
            </a:r>
            <a:endParaRPr lang="en-US" sz="1450" dirty="0"/>
          </a:p>
        </p:txBody>
      </p:sp>
      <p:sp>
        <p:nvSpPr>
          <p:cNvPr id="6" name="Text 4"/>
          <p:cNvSpPr/>
          <p:nvPr/>
        </p:nvSpPr>
        <p:spPr>
          <a:xfrm>
            <a:off x="877824" y="2551176"/>
            <a:ext cx="4843120" cy="206654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Needs an OPENING dash and a CLOSING dash around genuinely non-essential information.</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See one dash already in the passage? The answer choice with a dash is very likely correct — just confirm there's real extra information between them.</a:t>
            </a:r>
            <a:endParaRPr lang="en-US" sz="1200" dirty="0"/>
          </a:p>
        </p:txBody>
      </p:sp>
      <p:sp>
        <p:nvSpPr>
          <p:cNvPr id="7" name="Shape 5"/>
          <p:cNvSpPr/>
          <p:nvPr/>
        </p:nvSpPr>
        <p:spPr>
          <a:xfrm>
            <a:off x="6233008" y="1965960"/>
            <a:ext cx="5318608" cy="2834640"/>
          </a:xfrm>
          <a:prstGeom prst="roundRect">
            <a:avLst>
              <a:gd name="adj" fmla="val 2258"/>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8" name="Text 6"/>
          <p:cNvSpPr/>
          <p:nvPr/>
        </p:nvSpPr>
        <p:spPr>
          <a:xfrm>
            <a:off x="6470752"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Job 2 — Colon replacement</a:t>
            </a:r>
            <a:endParaRPr lang="en-US" sz="1450" dirty="0"/>
          </a:p>
        </p:txBody>
      </p:sp>
      <p:sp>
        <p:nvSpPr>
          <p:cNvPr id="9" name="Text 7"/>
          <p:cNvSpPr/>
          <p:nvPr/>
        </p:nvSpPr>
        <p:spPr>
          <a:xfrm>
            <a:off x="6470752" y="2551176"/>
            <a:ext cx="4843120" cy="206654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A dash can do everything a colon can: independent clause before, expanding thought after.</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This shows up IN passages far more than as a correct answer choice — know it so you're not confused when you see it.</a:t>
            </a:r>
            <a:endParaRPr lang="en-US" sz="1200" dirty="0"/>
          </a:p>
        </p:txBody>
      </p:sp>
      <p:sp>
        <p:nvSpPr>
          <p:cNvPr id="10" name="Text 8"/>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1" name="Text 9"/>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THE INTERCHANGEABILITY TRICK</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Period = semicolon = comma+FANBOYS</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A fast way to eliminate three answer choices at once.</a:t>
            </a:r>
            <a:endParaRPr lang="en-US" sz="1350" dirty="0"/>
          </a:p>
        </p:txBody>
      </p:sp>
      <p:sp>
        <p:nvSpPr>
          <p:cNvPr id="5" name="Shape 3"/>
          <p:cNvSpPr/>
          <p:nvPr/>
        </p:nvSpPr>
        <p:spPr>
          <a:xfrm>
            <a:off x="640080" y="1965960"/>
            <a:ext cx="10911535" cy="914400"/>
          </a:xfrm>
          <a:prstGeom prst="roundRect">
            <a:avLst>
              <a:gd name="adj" fmla="val 6000"/>
            </a:avLst>
          </a:prstGeom>
          <a:solidFill>
            <a:srgbClr val="FFFFFF"/>
          </a:solidFill>
          <a:ln w="15875">
            <a:solidFill>
              <a:srgbClr val="C9A84C"/>
            </a:solidFill>
            <a:prstDash val="solid"/>
          </a:ln>
        </p:spPr>
      </p:sp>
      <p:sp>
        <p:nvSpPr>
          <p:cNvPr id="6" name="Text 4"/>
          <p:cNvSpPr/>
          <p:nvPr/>
        </p:nvSpPr>
        <p:spPr>
          <a:xfrm>
            <a:off x="932688" y="1965960"/>
            <a:ext cx="10326319" cy="91440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If a period, a linking semicolon, and a comma+FANBOYS all appear as separate answer choices in the exact same spot, all three are wrong — there can only be one right answer, so the 4th choice wins.</a:t>
            </a:r>
            <a:endParaRPr lang="en-US" sz="1450" dirty="0"/>
          </a:p>
        </p:txBody>
      </p:sp>
      <p:sp>
        <p:nvSpPr>
          <p:cNvPr id="7" name="Shape 5"/>
          <p:cNvSpPr/>
          <p:nvPr/>
        </p:nvSpPr>
        <p:spPr>
          <a:xfrm>
            <a:off x="640080" y="3108960"/>
            <a:ext cx="10911535" cy="2834640"/>
          </a:xfrm>
          <a:prstGeom prst="roundRect">
            <a:avLst>
              <a:gd name="adj" fmla="val 1935"/>
            </a:avLst>
          </a:prstGeom>
          <a:solidFill>
            <a:srgbClr val="FFFFFF"/>
          </a:solidFill>
          <a:ln w="19050">
            <a:solidFill>
              <a:srgbClr val="C9A84C"/>
            </a:solidFill>
            <a:prstDash val="dash"/>
          </a:ln>
        </p:spPr>
      </p:sp>
      <p:sp>
        <p:nvSpPr>
          <p:cNvPr id="8" name="Text 6"/>
          <p:cNvSpPr/>
          <p:nvPr/>
        </p:nvSpPr>
        <p:spPr>
          <a:xfrm>
            <a:off x="1005840" y="414223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AN EXAMPLE WITH THIS PATTERN</a:t>
            </a:r>
            <a:endParaRPr lang="en-US" sz="1400" dirty="0"/>
          </a:p>
        </p:txBody>
      </p:sp>
      <p:sp>
        <p:nvSpPr>
          <p:cNvPr id="9" name="Text 7"/>
          <p:cNvSpPr/>
          <p:nvPr/>
        </p:nvSpPr>
        <p:spPr>
          <a:xfrm>
            <a:off x="1737360" y="454456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Confirm the three marks sit in the identical spot before eliminating them.</a:t>
            </a:r>
            <a:endParaRPr lang="en-US" sz="1100" dirty="0"/>
          </a:p>
        </p:txBody>
      </p:sp>
      <p:sp>
        <p:nvSpPr>
          <p:cNvPr id="10" name="Text 8"/>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1" name="Text 9"/>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THE PRIORITY LIST</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C-P-E-N: check answer choices in this order</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Ranked by how statistically likely each is to be the correct answer.</a:t>
            </a:r>
            <a:endParaRPr lang="en-US" sz="1350" dirty="0"/>
          </a:p>
        </p:txBody>
      </p:sp>
      <p:sp>
        <p:nvSpPr>
          <p:cNvPr id="5" name="Text 3"/>
          <p:cNvSpPr/>
          <p:nvPr/>
        </p:nvSpPr>
        <p:spPr>
          <a:xfrm>
            <a:off x="640080" y="19202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01</a:t>
            </a:r>
            <a:endParaRPr lang="en-US" sz="2100" dirty="0"/>
          </a:p>
        </p:txBody>
      </p:sp>
      <p:sp>
        <p:nvSpPr>
          <p:cNvPr id="6" name="Text 4"/>
          <p:cNvSpPr/>
          <p:nvPr/>
        </p:nvSpPr>
        <p:spPr>
          <a:xfrm>
            <a:off x="1508760" y="19202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C — Colon</a:t>
            </a:r>
            <a:endParaRPr lang="en-US" sz="1450" dirty="0"/>
          </a:p>
        </p:txBody>
      </p:sp>
      <p:sp>
        <p:nvSpPr>
          <p:cNvPr id="7" name="Text 5"/>
          <p:cNvSpPr/>
          <p:nvPr/>
        </p:nvSpPr>
        <p:spPr>
          <a:xfrm>
            <a:off x="1508760" y="228600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By far the most likely correct answer when one appears, especially in the harder module.</a:t>
            </a:r>
            <a:endParaRPr lang="en-US" sz="1200" dirty="0"/>
          </a:p>
        </p:txBody>
      </p:sp>
      <p:sp>
        <p:nvSpPr>
          <p:cNvPr id="8" name="Text 6"/>
          <p:cNvSpPr/>
          <p:nvPr/>
        </p:nvSpPr>
        <p:spPr>
          <a:xfrm>
            <a:off x="640080" y="288036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02</a:t>
            </a:r>
            <a:endParaRPr lang="en-US" sz="2100" dirty="0"/>
          </a:p>
        </p:txBody>
      </p:sp>
      <p:sp>
        <p:nvSpPr>
          <p:cNvPr id="9" name="Text 7"/>
          <p:cNvSpPr/>
          <p:nvPr/>
        </p:nvSpPr>
        <p:spPr>
          <a:xfrm>
            <a:off x="1508760" y="288036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P — Period / Semicolon / Comma+FANBOYS</a:t>
            </a:r>
            <a:endParaRPr lang="en-US" sz="1450" dirty="0"/>
          </a:p>
        </p:txBody>
      </p:sp>
      <p:sp>
        <p:nvSpPr>
          <p:cNvPr id="10" name="Text 8"/>
          <p:cNvSpPr/>
          <p:nvPr/>
        </p:nvSpPr>
        <p:spPr>
          <a:xfrm>
            <a:off x="1508760" y="324612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All three behave identically — check whichever appears first.</a:t>
            </a:r>
            <a:endParaRPr lang="en-US" sz="1200" dirty="0"/>
          </a:p>
        </p:txBody>
      </p:sp>
      <p:sp>
        <p:nvSpPr>
          <p:cNvPr id="11" name="Text 9"/>
          <p:cNvSpPr/>
          <p:nvPr/>
        </p:nvSpPr>
        <p:spPr>
          <a:xfrm>
            <a:off x="640080" y="384048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03</a:t>
            </a:r>
            <a:endParaRPr lang="en-US" sz="2100" dirty="0"/>
          </a:p>
        </p:txBody>
      </p:sp>
      <p:sp>
        <p:nvSpPr>
          <p:cNvPr id="12" name="Text 10"/>
          <p:cNvSpPr/>
          <p:nvPr/>
        </p:nvSpPr>
        <p:spPr>
          <a:xfrm>
            <a:off x="1508760" y="384048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E — Isolated comma (non-essential Element)</a:t>
            </a:r>
            <a:endParaRPr lang="en-US" sz="1450" dirty="0"/>
          </a:p>
        </p:txBody>
      </p:sp>
      <p:sp>
        <p:nvSpPr>
          <p:cNvPr id="13" name="Text 11"/>
          <p:cNvSpPr/>
          <p:nvPr/>
        </p:nvSpPr>
        <p:spPr>
          <a:xfrm>
            <a:off x="1508760" y="420624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Check for a non-essential element touching the comma.</a:t>
            </a:r>
            <a:endParaRPr lang="en-US" sz="1200" dirty="0"/>
          </a:p>
        </p:txBody>
      </p:sp>
      <p:sp>
        <p:nvSpPr>
          <p:cNvPr id="14" name="Text 12"/>
          <p:cNvSpPr/>
          <p:nvPr/>
        </p:nvSpPr>
        <p:spPr>
          <a:xfrm>
            <a:off x="640080" y="480060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04</a:t>
            </a:r>
            <a:endParaRPr lang="en-US" sz="2100" dirty="0"/>
          </a:p>
        </p:txBody>
      </p:sp>
      <p:sp>
        <p:nvSpPr>
          <p:cNvPr id="15" name="Text 13"/>
          <p:cNvSpPr/>
          <p:nvPr/>
        </p:nvSpPr>
        <p:spPr>
          <a:xfrm>
            <a:off x="1508760" y="480060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N — No punctuation</a:t>
            </a:r>
            <a:endParaRPr lang="en-US" sz="1450" dirty="0"/>
          </a:p>
        </p:txBody>
      </p:sp>
      <p:sp>
        <p:nvSpPr>
          <p:cNvPr id="16" name="Text 14"/>
          <p:cNvSpPr/>
          <p:nvPr/>
        </p:nvSpPr>
        <p:spPr>
          <a:xfrm>
            <a:off x="1508760" y="5166360"/>
            <a:ext cx="10042855" cy="57607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Last resort — only correct when nothing needs to be set off.</a:t>
            </a:r>
            <a:endParaRPr lang="en-US" sz="1200" dirty="0"/>
          </a:p>
        </p:txBody>
      </p:sp>
      <p:sp>
        <p:nvSpPr>
          <p:cNvPr id="17" name="Text 1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8" name="Text 1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SHORTCUTS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Title + Name questions — no punctuation between them</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~15% of punctuation questions — some of the fastest on the whole test.</a:t>
            </a:r>
            <a:endParaRPr lang="en-US" sz="1350" dirty="0"/>
          </a:p>
        </p:txBody>
      </p:sp>
      <p:sp>
        <p:nvSpPr>
          <p:cNvPr id="5" name="Text 3"/>
          <p:cNvSpPr/>
          <p:nvPr/>
        </p:nvSpPr>
        <p:spPr>
          <a:xfrm>
            <a:off x="640080" y="192024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400" dirty="0">
                <a:solidFill>
                  <a:srgbClr val="111111"/>
                </a:solidFill>
                <a:latin typeface="Calibri" pitchFamily="34" charset="0"/>
                <a:ea typeface="Calibri" pitchFamily="34" charset="-122"/>
                <a:cs typeface="Calibri" pitchFamily="34" charset="-120"/>
              </a:rPr>
              <a:t>A “title” (the category something falls under) directly followed by its “name” takes ZERO punctuation between them — e.g., “astronaut Buzz Aldrin.”</a:t>
            </a:r>
            <a:endParaRPr lang="en-US" sz="1400" dirty="0"/>
          </a:p>
          <a:p>
            <a:pPr marL="203200" indent="-203200">
              <a:lnSpc>
                <a:spcPct val="115000"/>
              </a:lnSpc>
              <a:spcAft>
                <a:spcPts val="800"/>
              </a:spcAft>
              <a:buSzPct val="100000"/>
              <a:buChar char="•"/>
            </a:pPr>
            <a:r>
              <a:rPr lang="en-US" sz="1400" dirty="0">
                <a:solidFill>
                  <a:srgbClr val="111111"/>
                </a:solidFill>
                <a:latin typeface="Calibri" pitchFamily="34" charset="0"/>
                <a:ea typeface="Calibri" pitchFamily="34" charset="-122"/>
                <a:cs typeface="Calibri" pitchFamily="34" charset="-120"/>
              </a:rPr>
              <a:t>Read a few words ahead to confirm the title and name are in the SAME phrase before applying this rule.</a:t>
            </a:r>
            <a:endParaRPr lang="en-US" sz="1400" dirty="0"/>
          </a:p>
          <a:p>
            <a:pPr marL="203200" indent="-203200">
              <a:lnSpc>
                <a:spcPct val="115000"/>
              </a:lnSpc>
              <a:spcAft>
                <a:spcPts val="800"/>
              </a:spcAft>
              <a:buSzPct val="100000"/>
              <a:buChar char="•"/>
            </a:pPr>
            <a:r>
              <a:rPr lang="en-US" sz="1400" dirty="0">
                <a:solidFill>
                  <a:srgbClr val="111111"/>
                </a:solidFill>
                <a:latin typeface="Calibri" pitchFamily="34" charset="0"/>
                <a:ea typeface="Calibri" pitchFamily="34" charset="-122"/>
                <a:cs typeface="Calibri" pitchFamily="34" charset="-120"/>
              </a:rPr>
              <a:t>Rare exception: if the title/name pair is actually the subject of an independent clause followed by a colon-style expansion, punctuation can appear — always sanity-check by reading ahead.</a:t>
            </a:r>
            <a:endParaRPr lang="en-US" sz="1400" dirty="0"/>
          </a:p>
        </p:txBody>
      </p:sp>
      <p:sp>
        <p:nvSpPr>
          <p:cNvPr id="6" name="Shape 4"/>
          <p:cNvSpPr/>
          <p:nvPr/>
        </p:nvSpPr>
        <p:spPr>
          <a:xfrm>
            <a:off x="640080" y="4617720"/>
            <a:ext cx="10911535" cy="777240"/>
          </a:xfrm>
          <a:prstGeom prst="roundRect">
            <a:avLst>
              <a:gd name="adj" fmla="val 7059"/>
            </a:avLst>
          </a:prstGeom>
          <a:solidFill>
            <a:srgbClr val="FFFFFF"/>
          </a:solidFill>
          <a:ln w="15875">
            <a:solidFill>
              <a:srgbClr val="C9A84C"/>
            </a:solidFill>
            <a:prstDash val="solid"/>
          </a:ln>
        </p:spPr>
      </p:sp>
      <p:sp>
        <p:nvSpPr>
          <p:cNvPr id="7" name="Text 5"/>
          <p:cNvSpPr/>
          <p:nvPr/>
        </p:nvSpPr>
        <p:spPr>
          <a:xfrm>
            <a:off x="932688" y="4617720"/>
            <a:ext cx="10326319" cy="77724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There CAN still be a comma nearby for an unrelated reason — a non-essential element elsewhere in the sentence. Read around it to be sure.</a:t>
            </a:r>
            <a:endParaRPr lang="en-US" sz="1450" dirty="0"/>
          </a:p>
        </p:txBody>
      </p:sp>
      <p:sp>
        <p:nvSpPr>
          <p:cNvPr id="8" name="Text 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9" name="Text 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SHORTCUTS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Title + Name</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TITLE + NAME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Confirm the title and name share one phrase, then pick the choice with zero punctuation between them.</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SHORTCUTS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Question mark questions</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Always ranked easy — read for how the sentence normally begins.</a:t>
            </a:r>
            <a:endParaRPr lang="en-US" sz="1350" dirty="0"/>
          </a:p>
        </p:txBody>
      </p:sp>
      <p:sp>
        <p:nvSpPr>
          <p:cNvPr id="5" name="Text 3"/>
          <p:cNvSpPr/>
          <p:nvPr/>
        </p:nvSpPr>
        <p:spPr>
          <a:xfrm>
            <a:off x="640080" y="196596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Check whether the sentence's beginning is how you'd normally open a question: who, what, where, when, why, how, do, does, is…</a:t>
            </a:r>
            <a:endParaRPr lang="en-US" sz="1500" dirty="0"/>
          </a:p>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If it is, the answer choice needs a question mark; if it isn't, it doesn't.</a:t>
            </a:r>
            <a:endParaRPr lang="en-US" sz="1500" dirty="0"/>
          </a:p>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From there, just pick whichever remaining choice reads best — these rarely need deeper analysis.</a:t>
            </a:r>
            <a:endParaRPr lang="en-US" sz="1500" dirty="0"/>
          </a:p>
        </p:txBody>
      </p:sp>
      <p:sp>
        <p:nvSpPr>
          <p:cNvPr id="6" name="Shape 4"/>
          <p:cNvSpPr/>
          <p:nvPr/>
        </p:nvSpPr>
        <p:spPr>
          <a:xfrm>
            <a:off x="640080" y="3794760"/>
            <a:ext cx="10911535" cy="914400"/>
          </a:xfrm>
          <a:prstGeom prst="roundRect">
            <a:avLst>
              <a:gd name="adj" fmla="val 6000"/>
            </a:avLst>
          </a:prstGeom>
          <a:solidFill>
            <a:srgbClr val="FFFFFF"/>
          </a:solidFill>
          <a:ln w="15875">
            <a:solidFill>
              <a:srgbClr val="C9A84C"/>
            </a:solidFill>
            <a:prstDash val="solid"/>
          </a:ln>
        </p:spPr>
      </p:sp>
      <p:sp>
        <p:nvSpPr>
          <p:cNvPr id="7" name="Text 5"/>
          <p:cNvSpPr/>
          <p:nvPr/>
        </p:nvSpPr>
        <p:spPr>
          <a:xfrm>
            <a:off x="932688" y="3794760"/>
            <a:ext cx="10326319" cy="91440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Exception: if there's a colon in the sentence, the question begins right after the colon — check what comes after it, not the very start of the sentence.</a:t>
            </a:r>
            <a:endParaRPr lang="en-US" sz="1450" dirty="0"/>
          </a:p>
        </p:txBody>
      </p:sp>
      <p:sp>
        <p:nvSpPr>
          <p:cNvPr id="8" name="Text 6"/>
          <p:cNvSpPr/>
          <p:nvPr/>
        </p:nvSpPr>
        <p:spPr>
          <a:xfrm>
            <a:off x="640080" y="4892040"/>
            <a:ext cx="10911535" cy="2743200"/>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Question mark questions are always ranked easy by College Board — don't overthink them.</a:t>
            </a:r>
            <a:endParaRPr lang="en-US" sz="1300" dirty="0"/>
          </a:p>
        </p:txBody>
      </p:sp>
      <p:sp>
        <p:nvSpPr>
          <p:cNvPr id="9" name="Text 7"/>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0" name="Text 8"/>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SHORTCUTS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Transition placement questions</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~12% of punctuation questions — the hardest type, but still fully systematic.</a:t>
            </a:r>
            <a:endParaRPr lang="en-US" sz="1350" dirty="0"/>
          </a:p>
        </p:txBody>
      </p:sp>
      <p:sp>
        <p:nvSpPr>
          <p:cNvPr id="5" name="Text 3"/>
          <p:cNvSpPr/>
          <p:nvPr/>
        </p:nvSpPr>
        <p:spPr>
          <a:xfrm>
            <a:off x="640080" y="192024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A transition word (however, therefore…) describes the relationship between two ADJACENT sentences — never sentences further apart.</a:t>
            </a:r>
            <a:endParaRPr lang="en-US" sz="1350" dirty="0"/>
          </a:p>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First identify the relationship: contrasting? cause-and-effect? Then find which two adjacent sentences actually have that relationship.</a:t>
            </a:r>
            <a:endParaRPr lang="en-US" sz="1350" dirty="0"/>
          </a:p>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The transition belongs to “the sentence it's a part of” + “the sentence right before that one.” About 90% of the time, it lands before the punctuation mark, not after.</a:t>
            </a:r>
            <a:endParaRPr lang="en-US" sz="1350" dirty="0"/>
          </a:p>
        </p:txBody>
      </p:sp>
      <p:sp>
        <p:nvSpPr>
          <p:cNvPr id="6" name="Shape 4"/>
          <p:cNvSpPr/>
          <p:nvPr/>
        </p:nvSpPr>
        <p:spPr>
          <a:xfrm>
            <a:off x="640080" y="3840480"/>
            <a:ext cx="10911535" cy="914400"/>
          </a:xfrm>
          <a:prstGeom prst="roundRect">
            <a:avLst>
              <a:gd name="adj" fmla="val 6000"/>
            </a:avLst>
          </a:prstGeom>
          <a:solidFill>
            <a:srgbClr val="FFFFFF"/>
          </a:solidFill>
          <a:ln w="15875">
            <a:solidFill>
              <a:srgbClr val="C9A84C"/>
            </a:solidFill>
            <a:prstDash val="solid"/>
          </a:ln>
        </p:spPr>
      </p:sp>
      <p:sp>
        <p:nvSpPr>
          <p:cNvPr id="7" name="Text 5"/>
          <p:cNvSpPr/>
          <p:nvPr/>
        </p:nvSpPr>
        <p:spPr>
          <a:xfrm>
            <a:off x="932688" y="3840480"/>
            <a:ext cx="10326319" cy="91440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Watch “though” and “although” — they can act as a transition word (needs a comma) OR as a dependent-clause starter (no comma). Check whether there's a comma before deciding.</a:t>
            </a:r>
            <a:endParaRPr lang="en-US" sz="1450" dirty="0"/>
          </a:p>
        </p:txBody>
      </p:sp>
      <p:sp>
        <p:nvSpPr>
          <p:cNvPr id="8" name="Text 6"/>
          <p:cNvSpPr/>
          <p:nvPr/>
        </p:nvSpPr>
        <p:spPr>
          <a:xfrm>
            <a:off x="640080" y="4937760"/>
            <a:ext cx="10911535" cy="2743200"/>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About 90% of the time, the correct placement puts the transition BEFORE the punctuation mark, not after it — check that side first.</a:t>
            </a:r>
            <a:endParaRPr lang="en-US" sz="1300" dirty="0"/>
          </a:p>
        </p:txBody>
      </p:sp>
      <p:sp>
        <p:nvSpPr>
          <p:cNvPr id="9" name="Text 7"/>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0" name="Text 8"/>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THE FULL PROCESS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Comma jumping: how to solve punctuation fast</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Look at the answer choices first — they tell you exactly what to search for in the passage.</a:t>
            </a:r>
            <a:endParaRPr lang="en-US" sz="1350" dirty="0"/>
          </a:p>
        </p:txBody>
      </p:sp>
      <p:sp>
        <p:nvSpPr>
          <p:cNvPr id="5" name="Text 3"/>
          <p:cNvSpPr/>
          <p:nvPr/>
        </p:nvSpPr>
        <p:spPr>
          <a:xfrm>
            <a:off x="640080" y="19202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01</a:t>
            </a:r>
            <a:endParaRPr lang="en-US" sz="2100" dirty="0"/>
          </a:p>
        </p:txBody>
      </p:sp>
      <p:sp>
        <p:nvSpPr>
          <p:cNvPr id="6" name="Text 4"/>
          <p:cNvSpPr/>
          <p:nvPr/>
        </p:nvSpPr>
        <p:spPr>
          <a:xfrm>
            <a:off x="1508760" y="19202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Look at the answer choices before reading the passage.</a:t>
            </a:r>
            <a:endParaRPr lang="en-US" sz="1450" dirty="0"/>
          </a:p>
        </p:txBody>
      </p:sp>
      <p:sp>
        <p:nvSpPr>
          <p:cNvPr id="7" name="Text 5"/>
          <p:cNvSpPr/>
          <p:nvPr/>
        </p:nvSpPr>
        <p:spPr>
          <a:xfrm>
            <a:off x="1508760" y="2286000"/>
            <a:ext cx="10042855" cy="53035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Run the C-P-E-N priority list and shortcuts to know exactly what you're checking for.</a:t>
            </a:r>
            <a:endParaRPr lang="en-US" sz="1200" dirty="0"/>
          </a:p>
        </p:txBody>
      </p:sp>
      <p:sp>
        <p:nvSpPr>
          <p:cNvPr id="8" name="Text 6"/>
          <p:cNvSpPr/>
          <p:nvPr/>
        </p:nvSpPr>
        <p:spPr>
          <a:xfrm>
            <a:off x="640080" y="28346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02</a:t>
            </a:r>
            <a:endParaRPr lang="en-US" sz="2100" dirty="0"/>
          </a:p>
        </p:txBody>
      </p:sp>
      <p:sp>
        <p:nvSpPr>
          <p:cNvPr id="9" name="Text 7"/>
          <p:cNvSpPr/>
          <p:nvPr/>
        </p:nvSpPr>
        <p:spPr>
          <a:xfrm>
            <a:off x="1508760" y="28346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Comma-jump through the sentence.</a:t>
            </a:r>
            <a:endParaRPr lang="en-US" sz="1450" dirty="0"/>
          </a:p>
        </p:txBody>
      </p:sp>
      <p:sp>
        <p:nvSpPr>
          <p:cNvPr id="10" name="Text 8"/>
          <p:cNvSpPr/>
          <p:nvPr/>
        </p:nvSpPr>
        <p:spPr>
          <a:xfrm>
            <a:off x="1508760" y="3200400"/>
            <a:ext cx="10042855" cy="53035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Jump from comma to comma, labeling each stretch as “subject,” “main verb,” or “additional information” — you don't need to fully translate the sentence's meaning.</a:t>
            </a:r>
            <a:endParaRPr lang="en-US" sz="1200" dirty="0"/>
          </a:p>
        </p:txBody>
      </p:sp>
      <p:sp>
        <p:nvSpPr>
          <p:cNvPr id="11" name="Text 9"/>
          <p:cNvSpPr/>
          <p:nvPr/>
        </p:nvSpPr>
        <p:spPr>
          <a:xfrm>
            <a:off x="640080" y="37490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03</a:t>
            </a:r>
            <a:endParaRPr lang="en-US" sz="2100" dirty="0"/>
          </a:p>
        </p:txBody>
      </p:sp>
      <p:sp>
        <p:nvSpPr>
          <p:cNvPr id="12" name="Text 10"/>
          <p:cNvSpPr/>
          <p:nvPr/>
        </p:nvSpPr>
        <p:spPr>
          <a:xfrm>
            <a:off x="1508760" y="37490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Confirm the full structure before locking in.</a:t>
            </a:r>
            <a:endParaRPr lang="en-US" sz="1450" dirty="0"/>
          </a:p>
        </p:txBody>
      </p:sp>
      <p:sp>
        <p:nvSpPr>
          <p:cNvPr id="13" name="Text 11"/>
          <p:cNvSpPr/>
          <p:nvPr/>
        </p:nvSpPr>
        <p:spPr>
          <a:xfrm>
            <a:off x="1508760" y="4114800"/>
            <a:ext cx="10042855" cy="53035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Make sure you understand why every comma in the sentence is where it is — not just the one at the blank.</a:t>
            </a:r>
            <a:endParaRPr lang="en-US" sz="1200" dirty="0"/>
          </a:p>
        </p:txBody>
      </p:sp>
      <p:sp>
        <p:nvSpPr>
          <p:cNvPr id="14" name="Text 12"/>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5" name="Text 13"/>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mixed punctuation, question 1</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PUNCTUATION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Check answer choices first, run C-P-E-N and the shortcuts, then comma-jump to confirm.</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mixed punctuation, question 2</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PUNCTUATION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Check answer choices first, run C-P-E-N and the shortcuts, then comma-jump to confirm.</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mixed punctuation, question 3</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PUNCTUATION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Check answer choices first, run C-P-E-N and the shortcuts, then comma-jump to confirm.</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mixed punctuation, question 4</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PUNCTUATION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Check answer choices first, run C-P-E-N and the shortcuts, then comma-jump to confirm.</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PUNCTUATION · RECAP</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Punctuation — the full checklist</a:t>
            </a:r>
            <a:endParaRPr lang="en-US" sz="2900" dirty="0"/>
          </a:p>
        </p:txBody>
      </p:sp>
      <p:sp>
        <p:nvSpPr>
          <p:cNvPr id="4" name="Text 2"/>
          <p:cNvSpPr/>
          <p:nvPr/>
        </p:nvSpPr>
        <p:spPr>
          <a:xfrm>
            <a:off x="640080" y="1920240"/>
            <a:ext cx="292608" cy="45720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5" name="Text 3"/>
          <p:cNvSpPr/>
          <p:nvPr/>
        </p:nvSpPr>
        <p:spPr>
          <a:xfrm>
            <a:off x="969264" y="1920240"/>
            <a:ext cx="4943704" cy="45720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Independent clause = subject + one main verb + no dependent-clause starter.</a:t>
            </a:r>
            <a:endParaRPr lang="en-US" sz="1150" dirty="0"/>
          </a:p>
        </p:txBody>
      </p:sp>
      <p:sp>
        <p:nvSpPr>
          <p:cNvPr id="6" name="Text 4"/>
          <p:cNvSpPr/>
          <p:nvPr/>
        </p:nvSpPr>
        <p:spPr>
          <a:xfrm>
            <a:off x="6278728" y="1920240"/>
            <a:ext cx="292608" cy="45720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6607912" y="1920240"/>
            <a:ext cx="4943704" cy="45720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Colon: independent clause before, expanding thought after.</a:t>
            </a:r>
            <a:endParaRPr lang="en-US" sz="1150" dirty="0"/>
          </a:p>
        </p:txBody>
      </p:sp>
      <p:sp>
        <p:nvSpPr>
          <p:cNvPr id="8" name="Text 6"/>
          <p:cNvSpPr/>
          <p:nvPr/>
        </p:nvSpPr>
        <p:spPr>
          <a:xfrm>
            <a:off x="640080" y="2377440"/>
            <a:ext cx="292608" cy="45720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969264" y="2377440"/>
            <a:ext cx="4943704" cy="45720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Period: independent clause before AND after.</a:t>
            </a:r>
            <a:endParaRPr lang="en-US" sz="1150" dirty="0"/>
          </a:p>
        </p:txBody>
      </p:sp>
      <p:sp>
        <p:nvSpPr>
          <p:cNvPr id="10" name="Text 8"/>
          <p:cNvSpPr/>
          <p:nvPr/>
        </p:nvSpPr>
        <p:spPr>
          <a:xfrm>
            <a:off x="6278728" y="2377440"/>
            <a:ext cx="292608" cy="45720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6607912" y="2377440"/>
            <a:ext cx="4943704" cy="45720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Semicolon: check for a list first, then independent-clause linking.</a:t>
            </a:r>
            <a:endParaRPr lang="en-US" sz="1150" dirty="0"/>
          </a:p>
        </p:txBody>
      </p:sp>
      <p:sp>
        <p:nvSpPr>
          <p:cNvPr id="12" name="Text 10"/>
          <p:cNvSpPr/>
          <p:nvPr/>
        </p:nvSpPr>
        <p:spPr>
          <a:xfrm>
            <a:off x="640080" y="2834640"/>
            <a:ext cx="292608" cy="45720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969264" y="2834640"/>
            <a:ext cx="4943704" cy="45720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Comma+FANBOYS behaves exactly like a period.</a:t>
            </a:r>
            <a:endParaRPr lang="en-US" sz="1150" dirty="0"/>
          </a:p>
        </p:txBody>
      </p:sp>
      <p:sp>
        <p:nvSpPr>
          <p:cNvPr id="14" name="Text 12"/>
          <p:cNvSpPr/>
          <p:nvPr/>
        </p:nvSpPr>
        <p:spPr>
          <a:xfrm>
            <a:off x="6278728" y="2834640"/>
            <a:ext cx="292608" cy="45720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6607912" y="2834640"/>
            <a:ext cx="4943704" cy="45720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Isolated comma: comma list (rare) or non-essential element.</a:t>
            </a:r>
            <a:endParaRPr lang="en-US" sz="1150" dirty="0"/>
          </a:p>
        </p:txBody>
      </p:sp>
      <p:sp>
        <p:nvSpPr>
          <p:cNvPr id="16" name="Text 14"/>
          <p:cNvSpPr/>
          <p:nvPr/>
        </p:nvSpPr>
        <p:spPr>
          <a:xfrm>
            <a:off x="640080" y="3291840"/>
            <a:ext cx="292608" cy="45720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969264" y="3291840"/>
            <a:ext cx="4943704" cy="45720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Dash: non-essential sandwich, or a colon replacement.</a:t>
            </a:r>
            <a:endParaRPr lang="en-US" sz="1150" dirty="0"/>
          </a:p>
        </p:txBody>
      </p:sp>
      <p:sp>
        <p:nvSpPr>
          <p:cNvPr id="18" name="Text 16"/>
          <p:cNvSpPr/>
          <p:nvPr/>
        </p:nvSpPr>
        <p:spPr>
          <a:xfrm>
            <a:off x="6278728" y="3291840"/>
            <a:ext cx="292608" cy="45720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6607912" y="3291840"/>
            <a:ext cx="4943704" cy="45720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Priority order: Colon → Period/Semicolon/Comma+FANBOYS → isolated comma → no punctuation.</a:t>
            </a:r>
            <a:endParaRPr lang="en-US" sz="1150" dirty="0"/>
          </a:p>
        </p:txBody>
      </p:sp>
      <p:sp>
        <p:nvSpPr>
          <p:cNvPr id="20" name="Text 18"/>
          <p:cNvSpPr/>
          <p:nvPr/>
        </p:nvSpPr>
        <p:spPr>
          <a:xfrm>
            <a:off x="640080" y="3749040"/>
            <a:ext cx="292608" cy="45720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969264" y="3749040"/>
            <a:ext cx="4943704" cy="45720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Title+Name: zero punctuation between them.</a:t>
            </a:r>
            <a:endParaRPr lang="en-US" sz="1150" dirty="0"/>
          </a:p>
        </p:txBody>
      </p:sp>
      <p:sp>
        <p:nvSpPr>
          <p:cNvPr id="22" name="Text 20"/>
          <p:cNvSpPr/>
          <p:nvPr/>
        </p:nvSpPr>
        <p:spPr>
          <a:xfrm>
            <a:off x="6278728" y="3749040"/>
            <a:ext cx="292608" cy="45720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23" name="Text 21"/>
          <p:cNvSpPr/>
          <p:nvPr/>
        </p:nvSpPr>
        <p:spPr>
          <a:xfrm>
            <a:off x="6607912" y="3749040"/>
            <a:ext cx="4943704" cy="45720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Question marks: check how the sentence normally opens.</a:t>
            </a:r>
            <a:endParaRPr lang="en-US" sz="1150" dirty="0"/>
          </a:p>
        </p:txBody>
      </p:sp>
      <p:sp>
        <p:nvSpPr>
          <p:cNvPr id="24" name="Text 22"/>
          <p:cNvSpPr/>
          <p:nvPr/>
        </p:nvSpPr>
        <p:spPr>
          <a:xfrm>
            <a:off x="640080" y="4206240"/>
            <a:ext cx="292608" cy="45720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969264" y="4206240"/>
            <a:ext cx="4943704" cy="45720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Transitions: relationship between adjacent sentences; watch “though/although.”</a:t>
            </a:r>
            <a:endParaRPr lang="en-US" sz="1150" dirty="0"/>
          </a:p>
        </p:txBody>
      </p:sp>
      <p:sp>
        <p:nvSpPr>
          <p:cNvPr id="26" name="Text 24"/>
          <p:cNvSpPr/>
          <p:nvPr/>
        </p:nvSpPr>
        <p:spPr>
          <a:xfrm>
            <a:off x="6278728" y="4206240"/>
            <a:ext cx="292608" cy="45720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6607912" y="4206240"/>
            <a:ext cx="4943704" cy="45720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Look at answer choices first, then comma-jump the passage.</a:t>
            </a:r>
            <a:endParaRPr lang="en-US" sz="1150" dirty="0"/>
          </a:p>
        </p:txBody>
      </p:sp>
      <p:sp>
        <p:nvSpPr>
          <p:cNvPr id="28" name="Text 2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29" name="Text 2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B0271C"/>
        </a:solidFill>
      </p:bgPr>
    </p:bg>
    <p:spTree>
      <p:nvGrpSpPr>
        <p:cNvPr id="1" name=""/>
        <p:cNvGrpSpPr/>
        <p:nvPr/>
      </p:nvGrpSpPr>
      <p:grpSpPr>
        <a:xfrm>
          <a:off x="0" y="0"/>
          <a:ext cx="0" cy="0"/>
          <a:chOff x="0" y="0"/>
          <a:chExt cx="0" cy="0"/>
        </a:xfrm>
      </p:grpSpPr>
      <p:sp>
        <p:nvSpPr>
          <p:cNvPr id="2" name="Shape 0"/>
          <p:cNvSpPr/>
          <p:nvPr/>
        </p:nvSpPr>
        <p:spPr>
          <a:xfrm>
            <a:off x="9052560" y="-2194560"/>
            <a:ext cx="5852160" cy="5852160"/>
          </a:xfrm>
          <a:prstGeom prst="ellipse">
            <a:avLst/>
          </a:prstGeom>
          <a:solidFill>
            <a:srgbClr val="FFFFFF">
              <a:alpha val="12000"/>
            </a:srgbClr>
          </a:solidFill>
          <a:ln/>
        </p:spPr>
      </p:sp>
      <p:sp>
        <p:nvSpPr>
          <p:cNvPr id="3" name="Text 1"/>
          <p:cNvSpPr/>
          <p:nvPr/>
        </p:nvSpPr>
        <p:spPr>
          <a:xfrm>
            <a:off x="822960" y="2606040"/>
            <a:ext cx="9601200" cy="310896"/>
          </a:xfrm>
          <a:prstGeom prst="rect">
            <a:avLst/>
          </a:prstGeom>
          <a:noFill/>
          <a:ln/>
        </p:spPr>
        <p:txBody>
          <a:bodyPr wrap="square" lIns="0" tIns="0" rIns="0" bIns="0" rtlCol="0" anchor="ctr"/>
          <a:lstStyle/>
          <a:p>
            <a:pPr indent="0" marL="0">
              <a:buNone/>
            </a:pPr>
            <a:r>
              <a:rPr lang="en-US" sz="1350" b="1" spc="200" kern="0" dirty="0">
                <a:solidFill>
                  <a:srgbClr val="C9A84C"/>
                </a:solidFill>
                <a:latin typeface="Calibri" pitchFamily="34" charset="0"/>
                <a:ea typeface="Calibri" pitchFamily="34" charset="-122"/>
                <a:cs typeface="Calibri" pitchFamily="34" charset="-120"/>
              </a:rPr>
              <a:t>◆ SECTION 6 OF 7</a:t>
            </a:r>
            <a:endParaRPr lang="en-US" sz="1350" dirty="0"/>
          </a:p>
        </p:txBody>
      </p:sp>
      <p:sp>
        <p:nvSpPr>
          <p:cNvPr id="4" name="Text 2"/>
          <p:cNvSpPr/>
          <p:nvPr/>
        </p:nvSpPr>
        <p:spPr>
          <a:xfrm>
            <a:off x="777240" y="2971800"/>
            <a:ext cx="10241280" cy="12344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Pronouns, Modifiers &amp;</a:t>
            </a:r>
            <a:endParaRPr lang="en-US" sz="4200" dirty="0"/>
          </a:p>
          <a:p>
            <a:pPr indent="0" marL="0">
              <a:buNone/>
            </a:pPr>
            <a:r>
              <a:rPr lang="en-US" sz="4200" b="1" dirty="0">
                <a:solidFill>
                  <a:srgbClr val="FFFFFF"/>
                </a:solidFill>
                <a:latin typeface="Cambria" pitchFamily="34" charset="0"/>
                <a:ea typeface="Cambria" pitchFamily="34" charset="-122"/>
                <a:cs typeface="Cambria" pitchFamily="34" charset="-120"/>
              </a:rPr>
              <a:t>Plural/Possessive</a:t>
            </a:r>
            <a:endParaRPr lang="en-US" sz="4200" dirty="0"/>
          </a:p>
        </p:txBody>
      </p:sp>
      <p:sp>
        <p:nvSpPr>
          <p:cNvPr id="5" name="Text 3"/>
          <p:cNvSpPr/>
          <p:nvPr/>
        </p:nvSpPr>
        <p:spPr>
          <a:xfrm>
            <a:off x="822960" y="4160520"/>
            <a:ext cx="8778240" cy="640080"/>
          </a:xfrm>
          <a:prstGeom prst="rect">
            <a:avLst/>
          </a:prstGeom>
          <a:noFill/>
          <a:ln/>
        </p:spPr>
        <p:txBody>
          <a:bodyPr wrap="square" lIns="0" tIns="0" rIns="0" bIns="0" rtlCol="0" anchor="ctr"/>
          <a:lstStyle/>
          <a:p>
            <a:pPr indent="0" marL="0">
              <a:lnSpc>
                <a:spcPct val="120000"/>
              </a:lnSpc>
              <a:buNone/>
            </a:pPr>
            <a:r>
              <a:rPr lang="en-US" sz="1500" dirty="0">
                <a:solidFill>
                  <a:srgbClr val="F0DCD9"/>
                </a:solidFill>
                <a:latin typeface="Calibri" pitchFamily="34" charset="0"/>
                <a:ea typeface="Calibri" pitchFamily="34" charset="-122"/>
                <a:cs typeface="Calibri" pitchFamily="34" charset="-120"/>
              </a:rPr>
              <a:t>Together, about 11% of grammar questions — small systems that are worth guaranteed points.</a:t>
            </a:r>
            <a:endParaRPr lang="en-US" sz="1500" dirty="0"/>
          </a:p>
        </p:txBody>
      </p:sp>
      <p:sp>
        <p:nvSpPr>
          <p:cNvPr id="6" name="Text 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E8C9C4"/>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7" name="Text 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E8C9C4"/>
                </a:solidFill>
                <a:latin typeface="Calibri" pitchFamily="34" charset="0"/>
                <a:ea typeface="Calibri" pitchFamily="34" charset="-122"/>
                <a:cs typeface="Calibri"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PRONOUNS · CORE RULE</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Pronoun questions: find the true subject</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The answer is always a singular/plural pair — match it to what the pronoun refers to.</a:t>
            </a:r>
            <a:endParaRPr lang="en-US" sz="1350" dirty="0"/>
          </a:p>
        </p:txBody>
      </p:sp>
      <p:sp>
        <p:nvSpPr>
          <p:cNvPr id="5" name="Text 3"/>
          <p:cNvSpPr/>
          <p:nvPr/>
        </p:nvSpPr>
        <p:spPr>
          <a:xfrm>
            <a:off x="640080" y="1920240"/>
            <a:ext cx="6309360"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Read the full passage before answering — these are short, and skimming risks missing the referent.</a:t>
            </a:r>
            <a:endParaRPr lang="en-US" sz="1350" dirty="0"/>
          </a:p>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Find exactly what the pronoun refers back to, then check whether that thing is singular or plural.</a:t>
            </a:r>
            <a:endParaRPr lang="en-US" sz="1350" dirty="0"/>
          </a:p>
          <a:p>
            <a:pPr marL="203200" indent="-203200">
              <a:lnSpc>
                <a:spcPct val="115000"/>
              </a:lnSpc>
              <a:spcAft>
                <a:spcPts val="800"/>
              </a:spcAft>
              <a:buSzPct val="100000"/>
              <a:buChar char="•"/>
            </a:pPr>
            <a:r>
              <a:rPr lang="en-US" sz="1350" dirty="0">
                <a:solidFill>
                  <a:srgbClr val="111111"/>
                </a:solidFill>
                <a:latin typeface="Calibri" pitchFamily="34" charset="0"/>
                <a:ea typeface="Calibri" pitchFamily="34" charset="-122"/>
                <a:cs typeface="Calibri" pitchFamily="34" charset="-120"/>
              </a:rPr>
              <a:t>The SAT is not “they-friendly”: a single dog, person, or object must use it/its, not they/them, unless the referent is genuinely plural.</a:t>
            </a:r>
            <a:endParaRPr lang="en-US" sz="135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7315200" y="1920240"/>
          <a:ext cx="3593592" cy="914400"/>
        </p:xfrm>
        <a:graphic>
          <a:graphicData uri="http://schemas.openxmlformats.org/drawingml/2006/table">
            <a:tbl>
              <a:tblPr/>
              <a:tblGrid>
                <a:gridCol w="1796796"/>
                <a:gridCol w="1796796"/>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Singular</a:t>
                      </a:r>
                      <a:endParaRPr lang="en-US" sz="11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Plural</a:t>
                      </a:r>
                      <a:endParaRPr lang="en-US" sz="11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r>
              <a:tr h="0">
                <a:tc>
                  <a:txBody>
                    <a:bodyPr/>
                    <a:lstStyle/>
                    <a:p>
                      <a:pPr algn="l" indent="0" marL="0">
                        <a:buNone/>
                      </a:pPr>
                      <a:r>
                        <a:rPr lang="en-US" sz="1100" dirty="0">
                          <a:solidFill>
                            <a:srgbClr val="111111"/>
                          </a:solidFill>
                          <a:latin typeface="Calibri" pitchFamily="34" charset="0"/>
                          <a:ea typeface="Calibri" pitchFamily="34" charset="-122"/>
                          <a:cs typeface="Calibri" pitchFamily="34" charset="-120"/>
                        </a:rPr>
                        <a:t>it</a:t>
                      </a:r>
                      <a:endParaRPr lang="en-US" sz="11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11111"/>
                          </a:solidFill>
                          <a:latin typeface="Calibri" pitchFamily="34" charset="0"/>
                          <a:ea typeface="Calibri" pitchFamily="34" charset="-122"/>
                          <a:cs typeface="Calibri" pitchFamily="34" charset="-120"/>
                        </a:rPr>
                        <a:t>they</a:t>
                      </a:r>
                      <a:endParaRPr lang="en-US" sz="11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111111"/>
                          </a:solidFill>
                          <a:latin typeface="Calibri" pitchFamily="34" charset="0"/>
                          <a:ea typeface="Calibri" pitchFamily="34" charset="-122"/>
                          <a:cs typeface="Calibri" pitchFamily="34" charset="-120"/>
                        </a:rPr>
                        <a:t>its</a:t>
                      </a:r>
                      <a:endParaRPr lang="en-US" sz="11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00" dirty="0">
                          <a:solidFill>
                            <a:srgbClr val="111111"/>
                          </a:solidFill>
                          <a:latin typeface="Calibri" pitchFamily="34" charset="0"/>
                          <a:ea typeface="Calibri" pitchFamily="34" charset="-122"/>
                          <a:cs typeface="Calibri" pitchFamily="34" charset="-120"/>
                        </a:rPr>
                        <a:t>their</a:t>
                      </a:r>
                      <a:endParaRPr lang="en-US" sz="11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r h="0">
                <a:tc>
                  <a:txBody>
                    <a:bodyPr/>
                    <a:lstStyle/>
                    <a:p>
                      <a:pPr algn="l" indent="0" marL="0">
                        <a:buNone/>
                      </a:pPr>
                      <a:r>
                        <a:rPr lang="en-US" sz="1100" dirty="0">
                          <a:solidFill>
                            <a:srgbClr val="111111"/>
                          </a:solidFill>
                          <a:latin typeface="Calibri" pitchFamily="34" charset="0"/>
                          <a:ea typeface="Calibri" pitchFamily="34" charset="-122"/>
                          <a:cs typeface="Calibri" pitchFamily="34" charset="-120"/>
                        </a:rPr>
                        <a:t>it (that)</a:t>
                      </a:r>
                      <a:endParaRPr lang="en-US" sz="11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11111"/>
                          </a:solidFill>
                          <a:latin typeface="Calibri" pitchFamily="34" charset="0"/>
                          <a:ea typeface="Calibri" pitchFamily="34" charset="-122"/>
                          <a:cs typeface="Calibri" pitchFamily="34" charset="-120"/>
                        </a:rPr>
                        <a:t>them</a:t>
                      </a:r>
                      <a:endParaRPr lang="en-US" sz="11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111111"/>
                          </a:solidFill>
                          <a:latin typeface="Calibri" pitchFamily="34" charset="0"/>
                          <a:ea typeface="Calibri" pitchFamily="34" charset="-122"/>
                          <a:cs typeface="Calibri" pitchFamily="34" charset="-120"/>
                        </a:rPr>
                        <a:t>this</a:t>
                      </a:r>
                      <a:endParaRPr lang="en-US" sz="11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100" dirty="0">
                          <a:solidFill>
                            <a:srgbClr val="111111"/>
                          </a:solidFill>
                          <a:latin typeface="Calibri" pitchFamily="34" charset="0"/>
                          <a:ea typeface="Calibri" pitchFamily="34" charset="-122"/>
                          <a:cs typeface="Calibri" pitchFamily="34" charset="-120"/>
                        </a:rPr>
                        <a:t>these</a:t>
                      </a:r>
                      <a:endParaRPr lang="en-US" sz="110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bl>
          </a:graphicData>
        </a:graphic>
      </p:graphicFrame>
      <p:sp>
        <p:nvSpPr>
          <p:cNvPr id="7" name="Shape 4"/>
          <p:cNvSpPr/>
          <p:nvPr/>
        </p:nvSpPr>
        <p:spPr>
          <a:xfrm>
            <a:off x="640080" y="4114800"/>
            <a:ext cx="10911535" cy="777240"/>
          </a:xfrm>
          <a:prstGeom prst="roundRect">
            <a:avLst>
              <a:gd name="adj" fmla="val 7059"/>
            </a:avLst>
          </a:prstGeom>
          <a:solidFill>
            <a:srgbClr val="FFFFFF"/>
          </a:solidFill>
          <a:ln w="15875">
            <a:solidFill>
              <a:srgbClr val="C9A84C"/>
            </a:solidFill>
            <a:prstDash val="solid"/>
          </a:ln>
        </p:spPr>
      </p:sp>
      <p:sp>
        <p:nvSpPr>
          <p:cNvPr id="8" name="Text 5"/>
          <p:cNvSpPr/>
          <p:nvPr/>
        </p:nvSpPr>
        <p:spPr>
          <a:xfrm>
            <a:off x="932688" y="4114800"/>
            <a:ext cx="10326319" cy="77724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“It's / its” and “there / they're”: mentally substitute “it is” or “they are.” If that substitution makes sense, use the apostrophe form.</a:t>
            </a:r>
            <a:endParaRPr lang="en-US" sz="1450" dirty="0"/>
          </a:p>
        </p:txBody>
      </p:sp>
      <p:sp>
        <p:nvSpPr>
          <p:cNvPr id="9" name="Text 6"/>
          <p:cNvSpPr/>
          <p:nvPr/>
        </p:nvSpPr>
        <p:spPr>
          <a:xfrm>
            <a:off x="640080" y="5120640"/>
            <a:ext cx="10911535" cy="2743200"/>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Same test for “this/these” and “that/those” — check what's actually being pointed back to before you assume plurality.</a:t>
            </a:r>
            <a:endParaRPr lang="en-US" sz="1300" dirty="0"/>
          </a:p>
        </p:txBody>
      </p:sp>
      <p:sp>
        <p:nvSpPr>
          <p:cNvPr id="10" name="Text 7"/>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1" name="Text 8"/>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PRONOUNS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pronoun question</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PRONOUN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Read the whole passage, find the referent, decide singular/plural, then check for the apostrophe test if relevant.</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MODIFIERS · CORE RULE</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A modifier must sit next to what it modifies</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~3% of grammar questions — long answer choices, but one simple test.</a:t>
            </a:r>
            <a:endParaRPr lang="en-US" sz="1350" dirty="0"/>
          </a:p>
        </p:txBody>
      </p:sp>
      <p:sp>
        <p:nvSpPr>
          <p:cNvPr id="5" name="Text 3"/>
          <p:cNvSpPr/>
          <p:nvPr/>
        </p:nvSpPr>
        <p:spPr>
          <a:xfrm>
            <a:off x="640080" y="19202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01</a:t>
            </a:r>
            <a:endParaRPr lang="en-US" sz="2100" dirty="0"/>
          </a:p>
        </p:txBody>
      </p:sp>
      <p:sp>
        <p:nvSpPr>
          <p:cNvPr id="6" name="Text 4"/>
          <p:cNvSpPr/>
          <p:nvPr/>
        </p:nvSpPr>
        <p:spPr>
          <a:xfrm>
            <a:off x="1508760" y="19202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Read only from the start of the sentence to the blank.</a:t>
            </a:r>
            <a:endParaRPr lang="en-US" sz="1450" dirty="0"/>
          </a:p>
        </p:txBody>
      </p:sp>
      <p:sp>
        <p:nvSpPr>
          <p:cNvPr id="7" name="Text 5"/>
          <p:cNvSpPr/>
          <p:nvPr/>
        </p:nvSpPr>
        <p:spPr>
          <a:xfrm>
            <a:off x="1508760" y="2286000"/>
            <a:ext cx="10042855" cy="62179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That entire stretch is the modifier — figure out what it's actually describing.</a:t>
            </a:r>
            <a:endParaRPr lang="en-US" sz="1200" dirty="0"/>
          </a:p>
        </p:txBody>
      </p:sp>
      <p:sp>
        <p:nvSpPr>
          <p:cNvPr id="8" name="Text 6"/>
          <p:cNvSpPr/>
          <p:nvPr/>
        </p:nvSpPr>
        <p:spPr>
          <a:xfrm>
            <a:off x="640080" y="292608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02</a:t>
            </a:r>
            <a:endParaRPr lang="en-US" sz="2100" dirty="0"/>
          </a:p>
        </p:txBody>
      </p:sp>
      <p:sp>
        <p:nvSpPr>
          <p:cNvPr id="9" name="Text 7"/>
          <p:cNvSpPr/>
          <p:nvPr/>
        </p:nvSpPr>
        <p:spPr>
          <a:xfrm>
            <a:off x="1508760" y="292608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Put that “something” as the very first word(s) of the answer choice.</a:t>
            </a:r>
            <a:endParaRPr lang="en-US" sz="1450" dirty="0"/>
          </a:p>
        </p:txBody>
      </p:sp>
      <p:sp>
        <p:nvSpPr>
          <p:cNvPr id="10" name="Text 8"/>
          <p:cNvSpPr/>
          <p:nvPr/>
        </p:nvSpPr>
        <p:spPr>
          <a:xfrm>
            <a:off x="1508760" y="3291840"/>
            <a:ext cx="10042855" cy="62179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Whatever the modifier is about must sit immediately next to it.</a:t>
            </a:r>
            <a:endParaRPr lang="en-US" sz="1200" dirty="0"/>
          </a:p>
        </p:txBody>
      </p:sp>
      <p:sp>
        <p:nvSpPr>
          <p:cNvPr id="11" name="Text 9"/>
          <p:cNvSpPr/>
          <p:nvPr/>
        </p:nvSpPr>
        <p:spPr>
          <a:xfrm>
            <a:off x="640080" y="393192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03</a:t>
            </a:r>
            <a:endParaRPr lang="en-US" sz="2100" dirty="0"/>
          </a:p>
        </p:txBody>
      </p:sp>
      <p:sp>
        <p:nvSpPr>
          <p:cNvPr id="12" name="Text 10"/>
          <p:cNvSpPr/>
          <p:nvPr/>
        </p:nvSpPr>
        <p:spPr>
          <a:xfrm>
            <a:off x="1508760" y="393192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Watch for an apostrophe trick.</a:t>
            </a:r>
            <a:endParaRPr lang="en-US" sz="1450" dirty="0"/>
          </a:p>
        </p:txBody>
      </p:sp>
      <p:sp>
        <p:nvSpPr>
          <p:cNvPr id="13" name="Text 11"/>
          <p:cNvSpPr/>
          <p:nvPr/>
        </p:nvSpPr>
        <p:spPr>
          <a:xfrm>
            <a:off x="1508760" y="4297680"/>
            <a:ext cx="10042855" cy="62179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“Header's debut novel” — the subject is novel (the thing that CAN be modified), not Header.</a:t>
            </a:r>
            <a:endParaRPr lang="en-US" sz="1200" dirty="0"/>
          </a:p>
        </p:txBody>
      </p:sp>
      <p:sp>
        <p:nvSpPr>
          <p:cNvPr id="14" name="Text 12"/>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5" name="Text 13"/>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MODIFIERS · TIEBREAKER</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When two answer choices both look right</a:t>
            </a:r>
            <a:endParaRPr lang="en-US" sz="2900" dirty="0"/>
          </a:p>
        </p:txBody>
      </p:sp>
      <p:sp>
        <p:nvSpPr>
          <p:cNvPr id="4" name="Text 2"/>
          <p:cNvSpPr/>
          <p:nvPr/>
        </p:nvSpPr>
        <p:spPr>
          <a:xfrm>
            <a:off x="640080" y="196596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If two answer choices start with the exact same subject, they can't both be correct — read further, because there may be a SECOND modifier at the end of the sentence.</a:t>
            </a:r>
            <a:endParaRPr lang="en-US" sz="1500" dirty="0"/>
          </a:p>
          <a:p>
            <a:pPr marL="203200" indent="-203200">
              <a:lnSpc>
                <a:spcPct val="115000"/>
              </a:lnSpc>
              <a:spcAft>
                <a:spcPts val="800"/>
              </a:spcAft>
              <a:buSzPct val="100000"/>
              <a:buChar char="•"/>
            </a:pPr>
            <a:r>
              <a:rPr lang="en-US" sz="1500" dirty="0">
                <a:solidFill>
                  <a:srgbClr val="111111"/>
                </a:solidFill>
                <a:latin typeface="Calibri" pitchFamily="34" charset="0"/>
                <a:ea typeface="Calibri" pitchFamily="34" charset="-122"/>
                <a:cs typeface="Calibri" pitchFamily="34" charset="-120"/>
              </a:rPr>
              <a:t>Check what that ending modifier is actually describing, and match it the same way: put the right word immediately next to it.</a:t>
            </a:r>
            <a:endParaRPr lang="en-US" sz="1500" dirty="0"/>
          </a:p>
        </p:txBody>
      </p:sp>
      <p:sp>
        <p:nvSpPr>
          <p:cNvPr id="5" name="Shape 3"/>
          <p:cNvSpPr/>
          <p:nvPr/>
        </p:nvSpPr>
        <p:spPr>
          <a:xfrm>
            <a:off x="640080" y="3383280"/>
            <a:ext cx="10911535" cy="2560320"/>
          </a:xfrm>
          <a:prstGeom prst="roundRect">
            <a:avLst>
              <a:gd name="adj" fmla="val 2143"/>
            </a:avLst>
          </a:prstGeom>
          <a:solidFill>
            <a:srgbClr val="FFFFFF"/>
          </a:solidFill>
          <a:ln w="19050">
            <a:solidFill>
              <a:srgbClr val="C9A84C"/>
            </a:solidFill>
            <a:prstDash val="dash"/>
          </a:ln>
        </p:spPr>
      </p:sp>
      <p:sp>
        <p:nvSpPr>
          <p:cNvPr id="6" name="Text 4"/>
          <p:cNvSpPr/>
          <p:nvPr/>
        </p:nvSpPr>
        <p:spPr>
          <a:xfrm>
            <a:off x="1005840" y="427939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MODIFIER QUESTION WITH THIS TIEBREAKER</a:t>
            </a:r>
            <a:endParaRPr lang="en-US" sz="1400" dirty="0"/>
          </a:p>
        </p:txBody>
      </p:sp>
      <p:sp>
        <p:nvSpPr>
          <p:cNvPr id="7" name="Text 5"/>
          <p:cNvSpPr/>
          <p:nvPr/>
        </p:nvSpPr>
        <p:spPr>
          <a:xfrm>
            <a:off x="1737360" y="468172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Identify both the opening and closing modifiers before choosing.</a:t>
            </a:r>
            <a:endParaRPr lang="en-US" sz="1100" dirty="0"/>
          </a:p>
        </p:txBody>
      </p:sp>
      <p:sp>
        <p:nvSpPr>
          <p:cNvPr id="8" name="Text 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9" name="Text 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MODIFIERS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modifier question</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MODIFIER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Read blank-to-sentence-start, identify what's being modified, then match it to the start of the correct choice.</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PLURAL &amp; POSSESSIVE · CORE RULE</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The apostrophe placement rule</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~3% of grammar questions — apostrophes everywhere in the answer choices is the tell.</a:t>
            </a:r>
            <a:endParaRPr lang="en-US" sz="135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5455768"/>
                <a:gridCol w="5455768"/>
              </a:tblGrid>
              <a:tr h="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Form</a:t>
                      </a:r>
                      <a:endParaRPr lang="en-US" sz="12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Meaning</a:t>
                      </a:r>
                      <a:endParaRPr lang="en-US" sz="12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r>
              <a:tr h="0">
                <a:tc>
                  <a:txBody>
                    <a:bodyPr/>
                    <a:lstStyle/>
                    <a:p>
                      <a:pPr algn="l" indent="0" marL="0">
                        <a:buNone/>
                      </a:pPr>
                      <a:r>
                        <a:rPr lang="en-US" sz="1250" dirty="0">
                          <a:solidFill>
                            <a:srgbClr val="111111"/>
                          </a:solidFill>
                          <a:latin typeface="Calibri" pitchFamily="34" charset="0"/>
                          <a:ea typeface="Calibri" pitchFamily="34" charset="-122"/>
                          <a:cs typeface="Calibri" pitchFamily="34" charset="-120"/>
                        </a:rPr>
                        <a:t>dog's</a:t>
                      </a:r>
                      <a:endParaRPr lang="en-US" sz="12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11111"/>
                          </a:solidFill>
                          <a:latin typeface="Calibri" pitchFamily="34" charset="0"/>
                          <a:ea typeface="Calibri" pitchFamily="34" charset="-122"/>
                          <a:cs typeface="Calibri" pitchFamily="34" charset="-120"/>
                        </a:rPr>
                        <a:t>Singular — one dog possesses the next thing.</a:t>
                      </a:r>
                      <a:endParaRPr lang="en-US" sz="12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11111"/>
                          </a:solidFill>
                          <a:latin typeface="Calibri" pitchFamily="34" charset="0"/>
                          <a:ea typeface="Calibri" pitchFamily="34" charset="-122"/>
                          <a:cs typeface="Calibri" pitchFamily="34" charset="-120"/>
                        </a:rPr>
                        <a:t>dogs'</a:t>
                      </a:r>
                      <a:endParaRPr lang="en-US" sz="12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250" dirty="0">
                          <a:solidFill>
                            <a:srgbClr val="111111"/>
                          </a:solidFill>
                          <a:latin typeface="Calibri" pitchFamily="34" charset="0"/>
                          <a:ea typeface="Calibri" pitchFamily="34" charset="-122"/>
                          <a:cs typeface="Calibri" pitchFamily="34" charset="-120"/>
                        </a:rPr>
                        <a:t>Plural — multiple dogs possess the next thing (the “unusual-looking” one).</a:t>
                      </a:r>
                      <a:endParaRPr lang="en-US" sz="12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r h="0">
                <a:tc>
                  <a:txBody>
                    <a:bodyPr/>
                    <a:lstStyle/>
                    <a:p>
                      <a:pPr algn="l" indent="0" marL="0">
                        <a:buNone/>
                      </a:pPr>
                      <a:r>
                        <a:rPr lang="en-US" sz="1250" dirty="0">
                          <a:solidFill>
                            <a:srgbClr val="111111"/>
                          </a:solidFill>
                          <a:latin typeface="Calibri" pitchFamily="34" charset="0"/>
                          <a:ea typeface="Calibri" pitchFamily="34" charset="-122"/>
                          <a:cs typeface="Calibri" pitchFamily="34" charset="-120"/>
                        </a:rPr>
                        <a:t>dogs</a:t>
                      </a:r>
                      <a:endParaRPr lang="en-US" sz="12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11111"/>
                          </a:solidFill>
                          <a:latin typeface="Calibri" pitchFamily="34" charset="0"/>
                          <a:ea typeface="Calibri" pitchFamily="34" charset="-122"/>
                          <a:cs typeface="Calibri" pitchFamily="34" charset="-120"/>
                        </a:rPr>
                        <a:t>Plain plural — no possession at all.</a:t>
                      </a:r>
                      <a:endParaRPr lang="en-US" sz="125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3977640"/>
            <a:ext cx="10911535" cy="960120"/>
          </a:xfrm>
          <a:prstGeom prst="roundRect">
            <a:avLst>
              <a:gd name="adj" fmla="val 5714"/>
            </a:avLst>
          </a:prstGeom>
          <a:solidFill>
            <a:srgbClr val="FFFFFF"/>
          </a:solidFill>
          <a:ln w="15875">
            <a:solidFill>
              <a:srgbClr val="C9A84C"/>
            </a:solidFill>
            <a:prstDash val="solid"/>
          </a:ln>
        </p:spPr>
      </p:sp>
      <p:sp>
        <p:nvSpPr>
          <p:cNvPr id="7" name="Text 4"/>
          <p:cNvSpPr/>
          <p:nvPr/>
        </p:nvSpPr>
        <p:spPr>
          <a:xfrm>
            <a:off x="932688" y="3977640"/>
            <a:ext cx="10326319" cy="96012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The word right after the apostrophe (or the word right after a following adjective) must be a NOUN that can logically be possessed. If it's a verb, a comma, or doesn't logically fit — eliminate that choice immediately.</a:t>
            </a:r>
            <a:endParaRPr lang="en-US" sz="1450" dirty="0"/>
          </a:p>
        </p:txBody>
      </p:sp>
      <p:sp>
        <p:nvSpPr>
          <p:cNvPr id="8"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9"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PLURAL &amp; POSSESSIVE · TIEBREAKER</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Down to two? Check the plurality</a:t>
            </a:r>
            <a:endParaRPr lang="en-US" sz="2900" dirty="0"/>
          </a:p>
        </p:txBody>
      </p:sp>
      <p:sp>
        <p:nvSpPr>
          <p:cNvPr id="4" name="Text 2"/>
          <p:cNvSpPr/>
          <p:nvPr/>
        </p:nvSpPr>
        <p:spPr>
          <a:xfrm>
            <a:off x="640080" y="196596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01</a:t>
            </a:r>
            <a:endParaRPr lang="en-US" sz="2100" dirty="0"/>
          </a:p>
        </p:txBody>
      </p:sp>
      <p:sp>
        <p:nvSpPr>
          <p:cNvPr id="5" name="Text 3"/>
          <p:cNvSpPr/>
          <p:nvPr/>
        </p:nvSpPr>
        <p:spPr>
          <a:xfrm>
            <a:off x="1508760" y="196596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Eliminate every choice where the next word isn't a possessable noun.</a:t>
            </a:r>
            <a:endParaRPr lang="en-US" sz="1450" dirty="0"/>
          </a:p>
        </p:txBody>
      </p:sp>
      <p:sp>
        <p:nvSpPr>
          <p:cNvPr id="6" name="Text 4"/>
          <p:cNvSpPr/>
          <p:nvPr/>
        </p:nvSpPr>
        <p:spPr>
          <a:xfrm>
            <a:off x="1508760" y="2331720"/>
            <a:ext cx="10042855" cy="62179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This alone answers roughly half of these questions instantly.</a:t>
            </a:r>
            <a:endParaRPr lang="en-US" sz="1200" dirty="0"/>
          </a:p>
        </p:txBody>
      </p:sp>
      <p:sp>
        <p:nvSpPr>
          <p:cNvPr id="7" name="Text 5"/>
          <p:cNvSpPr/>
          <p:nvPr/>
        </p:nvSpPr>
        <p:spPr>
          <a:xfrm>
            <a:off x="640080" y="297180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02</a:t>
            </a:r>
            <a:endParaRPr lang="en-US" sz="2100" dirty="0"/>
          </a:p>
        </p:txBody>
      </p:sp>
      <p:sp>
        <p:nvSpPr>
          <p:cNvPr id="8" name="Text 6"/>
          <p:cNvSpPr/>
          <p:nvPr/>
        </p:nvSpPr>
        <p:spPr>
          <a:xfrm>
            <a:off x="1508760" y="297180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Left with a singular vs. plural possessive?</a:t>
            </a:r>
            <a:endParaRPr lang="en-US" sz="1450" dirty="0"/>
          </a:p>
        </p:txBody>
      </p:sp>
      <p:sp>
        <p:nvSpPr>
          <p:cNvPr id="9" name="Text 7"/>
          <p:cNvSpPr/>
          <p:nvPr/>
        </p:nvSpPr>
        <p:spPr>
          <a:xfrm>
            <a:off x="1508760" y="3337560"/>
            <a:ext cx="10042855" cy="62179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Read the passage for explicit context clues — never guess plural just because it “sounds” right.</a:t>
            </a:r>
            <a:endParaRPr lang="en-US" sz="1200" dirty="0"/>
          </a:p>
        </p:txBody>
      </p:sp>
      <p:sp>
        <p:nvSpPr>
          <p:cNvPr id="10" name="Text 8"/>
          <p:cNvSpPr/>
          <p:nvPr/>
        </p:nvSpPr>
        <p:spPr>
          <a:xfrm>
            <a:off x="640080" y="39776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03</a:t>
            </a:r>
            <a:endParaRPr lang="en-US" sz="2100" dirty="0"/>
          </a:p>
        </p:txBody>
      </p:sp>
      <p:sp>
        <p:nvSpPr>
          <p:cNvPr id="11" name="Text 9"/>
          <p:cNvSpPr/>
          <p:nvPr/>
        </p:nvSpPr>
        <p:spPr>
          <a:xfrm>
            <a:off x="1508760" y="39776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Only one wording matches the evidence.</a:t>
            </a:r>
            <a:endParaRPr lang="en-US" sz="1450" dirty="0"/>
          </a:p>
        </p:txBody>
      </p:sp>
      <p:sp>
        <p:nvSpPr>
          <p:cNvPr id="12" name="Text 10"/>
          <p:cNvSpPr/>
          <p:nvPr/>
        </p:nvSpPr>
        <p:spPr>
          <a:xfrm>
            <a:off x="1508760" y="4343400"/>
            <a:ext cx="10042855" cy="62179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There's always a specific clue confirming singular or plural.</a:t>
            </a:r>
            <a:endParaRPr lang="en-US" sz="1200" dirty="0"/>
          </a:p>
        </p:txBody>
      </p:sp>
      <p:sp>
        <p:nvSpPr>
          <p:cNvPr id="13" name="Text 11"/>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4" name="Text 12"/>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PLURAL &amp; POSSESSIVE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plural/possessive question</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PLURAL/POSSESSIVE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Apostrophe first, noun test second, plurality context third.</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PRONOUNS / MODIFIERS / PLURAL-POSSESSIVE · RECAP</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The full checklist</a:t>
            </a:r>
            <a:endParaRPr lang="en-US" sz="2900" dirty="0"/>
          </a:p>
        </p:txBody>
      </p:sp>
      <p:sp>
        <p:nvSpPr>
          <p:cNvPr id="4" name="Text 2"/>
          <p:cNvSpPr/>
          <p:nvPr/>
        </p:nvSpPr>
        <p:spPr>
          <a:xfrm>
            <a:off x="640080" y="1920240"/>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5" name="Text 3"/>
          <p:cNvSpPr/>
          <p:nvPr/>
        </p:nvSpPr>
        <p:spPr>
          <a:xfrm>
            <a:off x="969264" y="1920240"/>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Pronouns: find the referent, match singular/plural.</a:t>
            </a:r>
            <a:endParaRPr lang="en-US" sz="1200" dirty="0"/>
          </a:p>
        </p:txBody>
      </p:sp>
      <p:sp>
        <p:nvSpPr>
          <p:cNvPr id="6" name="Text 4"/>
          <p:cNvSpPr/>
          <p:nvPr/>
        </p:nvSpPr>
        <p:spPr>
          <a:xfrm>
            <a:off x="6278728" y="1920240"/>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6607912" y="1920240"/>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SAT isn't “they”-friendly — no plural pronoun for one thing.</a:t>
            </a:r>
            <a:endParaRPr lang="en-US" sz="1200" dirty="0"/>
          </a:p>
        </p:txBody>
      </p:sp>
      <p:sp>
        <p:nvSpPr>
          <p:cNvPr id="8" name="Text 6"/>
          <p:cNvSpPr/>
          <p:nvPr/>
        </p:nvSpPr>
        <p:spPr>
          <a:xfrm>
            <a:off x="640080" y="2450592"/>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969264" y="2450592"/>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It's/its, there/they're: try substituting “it is” / “they are.”</a:t>
            </a:r>
            <a:endParaRPr lang="en-US" sz="1200" dirty="0"/>
          </a:p>
        </p:txBody>
      </p:sp>
      <p:sp>
        <p:nvSpPr>
          <p:cNvPr id="10" name="Text 8"/>
          <p:cNvSpPr/>
          <p:nvPr/>
        </p:nvSpPr>
        <p:spPr>
          <a:xfrm>
            <a:off x="6278728" y="2450592"/>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6607912" y="2450592"/>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Modifiers: read blank-to-start, place the subject first.</a:t>
            </a:r>
            <a:endParaRPr lang="en-US" sz="1200" dirty="0"/>
          </a:p>
        </p:txBody>
      </p:sp>
      <p:sp>
        <p:nvSpPr>
          <p:cNvPr id="12" name="Text 10"/>
          <p:cNvSpPr/>
          <p:nvPr/>
        </p:nvSpPr>
        <p:spPr>
          <a:xfrm>
            <a:off x="640080" y="2980944"/>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969264" y="2980944"/>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Watch apostrophe traps in modifier subjects.</a:t>
            </a:r>
            <a:endParaRPr lang="en-US" sz="1200" dirty="0"/>
          </a:p>
        </p:txBody>
      </p:sp>
      <p:sp>
        <p:nvSpPr>
          <p:cNvPr id="14" name="Text 12"/>
          <p:cNvSpPr/>
          <p:nvPr/>
        </p:nvSpPr>
        <p:spPr>
          <a:xfrm>
            <a:off x="6278728" y="2980944"/>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6607912" y="2980944"/>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Two modifier choices tie? Check a second, closing modifier.</a:t>
            </a:r>
            <a:endParaRPr lang="en-US" sz="1200" dirty="0"/>
          </a:p>
        </p:txBody>
      </p:sp>
      <p:sp>
        <p:nvSpPr>
          <p:cNvPr id="16" name="Text 14"/>
          <p:cNvSpPr/>
          <p:nvPr/>
        </p:nvSpPr>
        <p:spPr>
          <a:xfrm>
            <a:off x="640080" y="3511296"/>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969264" y="3511296"/>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Possessives: the next word must be a possessable noun.</a:t>
            </a:r>
            <a:endParaRPr lang="en-US" sz="1200" dirty="0"/>
          </a:p>
        </p:txBody>
      </p:sp>
      <p:sp>
        <p:nvSpPr>
          <p:cNvPr id="18" name="Text 16"/>
          <p:cNvSpPr/>
          <p:nvPr/>
        </p:nvSpPr>
        <p:spPr>
          <a:xfrm>
            <a:off x="6278728" y="3511296"/>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6607912" y="3511296"/>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Tied on plurality? Read for explicit context clues.</a:t>
            </a:r>
            <a:endParaRPr lang="en-US" sz="1200" dirty="0"/>
          </a:p>
        </p:txBody>
      </p:sp>
      <p:sp>
        <p:nvSpPr>
          <p:cNvPr id="20" name="Text 18"/>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21" name="Text 19"/>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B0271C"/>
        </a:solidFill>
      </p:bgPr>
    </p:bg>
    <p:spTree>
      <p:nvGrpSpPr>
        <p:cNvPr id="1" name=""/>
        <p:cNvGrpSpPr/>
        <p:nvPr/>
      </p:nvGrpSpPr>
      <p:grpSpPr>
        <a:xfrm>
          <a:off x="0" y="0"/>
          <a:ext cx="0" cy="0"/>
          <a:chOff x="0" y="0"/>
          <a:chExt cx="0" cy="0"/>
        </a:xfrm>
      </p:grpSpPr>
      <p:sp>
        <p:nvSpPr>
          <p:cNvPr id="2" name="Shape 0"/>
          <p:cNvSpPr/>
          <p:nvPr/>
        </p:nvSpPr>
        <p:spPr>
          <a:xfrm>
            <a:off x="9052560" y="-2194560"/>
            <a:ext cx="5852160" cy="5852160"/>
          </a:xfrm>
          <a:prstGeom prst="ellipse">
            <a:avLst/>
          </a:prstGeom>
          <a:solidFill>
            <a:srgbClr val="FFFFFF">
              <a:alpha val="12000"/>
            </a:srgbClr>
          </a:solidFill>
          <a:ln/>
        </p:spPr>
      </p:sp>
      <p:sp>
        <p:nvSpPr>
          <p:cNvPr id="3" name="Text 1"/>
          <p:cNvSpPr/>
          <p:nvPr/>
        </p:nvSpPr>
        <p:spPr>
          <a:xfrm>
            <a:off x="822960" y="2606040"/>
            <a:ext cx="9601200" cy="310896"/>
          </a:xfrm>
          <a:prstGeom prst="rect">
            <a:avLst/>
          </a:prstGeom>
          <a:noFill/>
          <a:ln/>
        </p:spPr>
        <p:txBody>
          <a:bodyPr wrap="square" lIns="0" tIns="0" rIns="0" bIns="0" rtlCol="0" anchor="ctr"/>
          <a:lstStyle/>
          <a:p>
            <a:pPr indent="0" marL="0">
              <a:buNone/>
            </a:pPr>
            <a:r>
              <a:rPr lang="en-US" sz="1350" b="1" spc="200" kern="0" dirty="0">
                <a:solidFill>
                  <a:srgbClr val="C9A84C"/>
                </a:solidFill>
                <a:latin typeface="Calibri" pitchFamily="34" charset="0"/>
                <a:ea typeface="Calibri" pitchFamily="34" charset="-122"/>
                <a:cs typeface="Calibri" pitchFamily="34" charset="-120"/>
              </a:rPr>
              <a:t>◆ SECTION 7 OF 7</a:t>
            </a:r>
            <a:endParaRPr lang="en-US" sz="1350" dirty="0"/>
          </a:p>
        </p:txBody>
      </p:sp>
      <p:sp>
        <p:nvSpPr>
          <p:cNvPr id="4" name="Text 2"/>
          <p:cNvSpPr/>
          <p:nvPr/>
        </p:nvSpPr>
        <p:spPr>
          <a:xfrm>
            <a:off x="777240" y="2971800"/>
            <a:ext cx="10241280" cy="12344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Transitions</a:t>
            </a:r>
            <a:endParaRPr lang="en-US" sz="4200" dirty="0"/>
          </a:p>
        </p:txBody>
      </p:sp>
      <p:sp>
        <p:nvSpPr>
          <p:cNvPr id="5" name="Text 3"/>
          <p:cNvSpPr/>
          <p:nvPr/>
        </p:nvSpPr>
        <p:spPr>
          <a:xfrm>
            <a:off x="822960" y="4160520"/>
            <a:ext cx="8778240" cy="640080"/>
          </a:xfrm>
          <a:prstGeom prst="rect">
            <a:avLst/>
          </a:prstGeom>
          <a:noFill/>
          <a:ln/>
        </p:spPr>
        <p:txBody>
          <a:bodyPr wrap="square" lIns="0" tIns="0" rIns="0" bIns="0" rtlCol="0" anchor="ctr"/>
          <a:lstStyle/>
          <a:p>
            <a:pPr indent="0" marL="0">
              <a:lnSpc>
                <a:spcPct val="120000"/>
              </a:lnSpc>
              <a:buNone/>
            </a:pPr>
            <a:r>
              <a:rPr lang="en-US" sz="1500" dirty="0">
                <a:solidFill>
                  <a:srgbClr val="F0DCD9"/>
                </a:solidFill>
                <a:latin typeface="Calibri" pitchFamily="34" charset="0"/>
                <a:ea typeface="Calibri" pitchFamily="34" charset="-122"/>
                <a:cs typeface="Calibri" pitchFamily="34" charset="-120"/>
              </a:rPr>
              <a:t>Only two reasons you ever miss one of these — and eight categories that cover every answer choice.</a:t>
            </a:r>
            <a:endParaRPr lang="en-US" sz="1500" dirty="0"/>
          </a:p>
        </p:txBody>
      </p:sp>
      <p:sp>
        <p:nvSpPr>
          <p:cNvPr id="6" name="Text 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E8C9C4"/>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7" name="Text 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E8C9C4"/>
                </a:solidFill>
                <a:latin typeface="Calibri" pitchFamily="34" charset="0"/>
                <a:ea typeface="Calibri" pitchFamily="34" charset="-122"/>
                <a:cs typeface="Calibri"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TRANSITIONS · THE 2 CONDITIONS</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Only two ways to get these wrong</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Meet both conditions and you will not miss a transition question again.</a:t>
            </a:r>
            <a:endParaRPr lang="en-US" sz="1350" dirty="0"/>
          </a:p>
        </p:txBody>
      </p:sp>
      <p:sp>
        <p:nvSpPr>
          <p:cNvPr id="5" name="Shape 3"/>
          <p:cNvSpPr/>
          <p:nvPr/>
        </p:nvSpPr>
        <p:spPr>
          <a:xfrm>
            <a:off x="640080" y="1965960"/>
            <a:ext cx="5318608" cy="2834640"/>
          </a:xfrm>
          <a:prstGeom prst="roundRect">
            <a:avLst>
              <a:gd name="adj" fmla="val 2258"/>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6" name="Text 4"/>
          <p:cNvSpPr/>
          <p:nvPr/>
        </p:nvSpPr>
        <p:spPr>
          <a:xfrm>
            <a:off x="877824"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1 · Misunderstanding the passage</a:t>
            </a:r>
            <a:endParaRPr lang="en-US" sz="1450" dirty="0"/>
          </a:p>
        </p:txBody>
      </p:sp>
      <p:sp>
        <p:nvSpPr>
          <p:cNvPr id="7" name="Text 5"/>
          <p:cNvSpPr/>
          <p:nvPr/>
        </p:nvSpPr>
        <p:spPr>
          <a:xfrm>
            <a:off x="877824" y="2551176"/>
            <a:ext cx="4843120" cy="206654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These passages are short and easy — read every word, start to finish, even if you think you already know the answer.</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It costs a few extra seconds and eliminates almost all comprehension errors.</a:t>
            </a:r>
            <a:endParaRPr lang="en-US" sz="1200" dirty="0"/>
          </a:p>
        </p:txBody>
      </p:sp>
      <p:sp>
        <p:nvSpPr>
          <p:cNvPr id="8" name="Shape 6"/>
          <p:cNvSpPr/>
          <p:nvPr/>
        </p:nvSpPr>
        <p:spPr>
          <a:xfrm>
            <a:off x="6233008" y="1965960"/>
            <a:ext cx="5318608" cy="2834640"/>
          </a:xfrm>
          <a:prstGeom prst="roundRect">
            <a:avLst>
              <a:gd name="adj" fmla="val 2258"/>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9" name="Text 7"/>
          <p:cNvSpPr/>
          <p:nvPr/>
        </p:nvSpPr>
        <p:spPr>
          <a:xfrm>
            <a:off x="6470752"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2 · Not knowing the category rules</a:t>
            </a:r>
            <a:endParaRPr lang="en-US" sz="1450" dirty="0"/>
          </a:p>
        </p:txBody>
      </p:sp>
      <p:sp>
        <p:nvSpPr>
          <p:cNvPr id="10" name="Text 8"/>
          <p:cNvSpPr/>
          <p:nvPr/>
        </p:nvSpPr>
        <p:spPr>
          <a:xfrm>
            <a:off x="6470752" y="2551176"/>
            <a:ext cx="4843120" cy="206654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Every transition answer choice falls into one of 8 categories.</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Memorize what the passage has to look like for each category to be correct — that's the whole system.</a:t>
            </a:r>
            <a:endParaRPr lang="en-US" sz="1200" dirty="0"/>
          </a:p>
        </p:txBody>
      </p:sp>
      <p:sp>
        <p:nvSpPr>
          <p:cNvPr id="11" name="Shape 9"/>
          <p:cNvSpPr/>
          <p:nvPr/>
        </p:nvSpPr>
        <p:spPr>
          <a:xfrm>
            <a:off x="640080" y="5029200"/>
            <a:ext cx="10911535" cy="777240"/>
          </a:xfrm>
          <a:prstGeom prst="roundRect">
            <a:avLst>
              <a:gd name="adj" fmla="val 7059"/>
            </a:avLst>
          </a:prstGeom>
          <a:solidFill>
            <a:srgbClr val="FFFFFF"/>
          </a:solidFill>
          <a:ln w="15875">
            <a:solidFill>
              <a:srgbClr val="C9A84C"/>
            </a:solidFill>
            <a:prstDash val="solid"/>
          </a:ln>
        </p:spPr>
      </p:sp>
      <p:sp>
        <p:nvSpPr>
          <p:cNvPr id="12" name="Text 10"/>
          <p:cNvSpPr/>
          <p:nvPr/>
        </p:nvSpPr>
        <p:spPr>
          <a:xfrm>
            <a:off x="932688" y="5029200"/>
            <a:ext cx="10326319" cy="77724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The question always asks for the relationship between the sentence before the blank and the sentence with the blank — a semicolon still counts as a period here.</a:t>
            </a:r>
            <a:endParaRPr lang="en-US" sz="1450" dirty="0"/>
          </a:p>
        </p:txBody>
      </p:sp>
      <p:sp>
        <p:nvSpPr>
          <p:cNvPr id="13" name="Text 11"/>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4" name="Text 12"/>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TRANSITIONS · THE 8 CATEGORIES</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Every transition, ranked by how often it's correct</a:t>
            </a:r>
            <a:endParaRPr lang="en-US" sz="29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11535" cy="914400"/>
        </p:xfrm>
        <a:graphic>
          <a:graphicData uri="http://schemas.openxmlformats.org/drawingml/2006/table">
            <a:tbl>
              <a:tblPr/>
              <a:tblGrid>
                <a:gridCol w="2727884"/>
                <a:gridCol w="2727884"/>
                <a:gridCol w="2727884"/>
                <a:gridCol w="2727884"/>
              </a:tblGrid>
              <a:tr h="0">
                <a:tc>
                  <a:txBody>
                    <a:bodyPr/>
                    <a:lstStyle/>
                    <a:p>
                      <a:pPr algn="l" indent="0" marL="0">
                        <a:buNone/>
                      </a:pPr>
                      <a:r>
                        <a:rPr lang="en-US" sz="1080" b="1" dirty="0">
                          <a:solidFill>
                            <a:srgbClr val="FFFFFF"/>
                          </a:solidFill>
                          <a:latin typeface="Calibri" pitchFamily="34" charset="0"/>
                          <a:ea typeface="Calibri" pitchFamily="34" charset="-122"/>
                          <a:cs typeface="Calibri" pitchFamily="34" charset="-120"/>
                        </a:rPr>
                        <a:t>Category</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c>
                  <a:txBody>
                    <a:bodyPr/>
                    <a:lstStyle/>
                    <a:p>
                      <a:pPr algn="l" indent="0" marL="0">
                        <a:buNone/>
                      </a:pPr>
                      <a:r>
                        <a:rPr lang="en-US" sz="1080" b="1" dirty="0">
                          <a:solidFill>
                            <a:srgbClr val="FFFFFF"/>
                          </a:solidFill>
                          <a:latin typeface="Calibri" pitchFamily="34" charset="0"/>
                          <a:ea typeface="Calibri" pitchFamily="34" charset="-122"/>
                          <a:cs typeface="Calibri" pitchFamily="34" charset="-120"/>
                        </a:rPr>
                        <a:t>Appears</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c>
                  <a:txBody>
                    <a:bodyPr/>
                    <a:lstStyle/>
                    <a:p>
                      <a:pPr algn="l" indent="0" marL="0">
                        <a:buNone/>
                      </a:pPr>
                      <a:r>
                        <a:rPr lang="en-US" sz="1080" b="1" dirty="0">
                          <a:solidFill>
                            <a:srgbClr val="FFFFFF"/>
                          </a:solidFill>
                          <a:latin typeface="Calibri" pitchFamily="34" charset="0"/>
                          <a:ea typeface="Calibri" pitchFamily="34" charset="-122"/>
                          <a:cs typeface="Calibri" pitchFamily="34" charset="-120"/>
                        </a:rPr>
                        <a:t>Correct when seen</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c>
                  <a:txBody>
                    <a:bodyPr/>
                    <a:lstStyle/>
                    <a:p>
                      <a:pPr algn="l" indent="0" marL="0">
                        <a:buNone/>
                      </a:pPr>
                      <a:r>
                        <a:rPr lang="en-US" sz="1080" b="1" dirty="0">
                          <a:solidFill>
                            <a:srgbClr val="FFFFFF"/>
                          </a:solidFill>
                          <a:latin typeface="Calibri" pitchFamily="34" charset="0"/>
                          <a:ea typeface="Calibri" pitchFamily="34" charset="-122"/>
                          <a:cs typeface="Calibri" pitchFamily="34" charset="-120"/>
                        </a:rPr>
                        <a:t>Example words</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B0271C"/>
                    </a:solidFill>
                  </a:tcPr>
                </a:tc>
              </a:tr>
              <a:tr h="0">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Subverting Expectations</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28.6%</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Common</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however, nonetheless, instead, granted</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0">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Zooming In</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16.5%</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~20% (12.5% on hard Qs)</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for example, for instance, specifically</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r h="0">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Swapping</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15.6%</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9.7% on hard Qs</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in addition, similarly, likewise</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0">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Cause and Effect</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15.2%</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36.2%</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as a result, thus, therefore, consequently</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r h="0">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Sequence</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12.4%</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36.5%</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meanwhile, next, ultimately, later</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0">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Restatement</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7.4%</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~2% — almost always a trap</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in other words, in summary</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r h="0">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Confirmation</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3.3%</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~57%</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indeed, in fact, of course</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FFFFF"/>
                    </a:solidFill>
                  </a:tcPr>
                </a:tc>
              </a:tr>
              <a:tr h="0">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Frequency</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0.9%</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~83% — very rare, usually right</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c>
                  <a:txBody>
                    <a:bodyPr/>
                    <a:lstStyle/>
                    <a:p>
                      <a:pPr algn="l" indent="0" marL="0">
                        <a:buNone/>
                      </a:pPr>
                      <a:r>
                        <a:rPr lang="en-US" sz="1080" dirty="0">
                          <a:solidFill>
                            <a:srgbClr val="111111"/>
                          </a:solidFill>
                          <a:latin typeface="Calibri" pitchFamily="34" charset="0"/>
                          <a:ea typeface="Calibri" pitchFamily="34" charset="-122"/>
                          <a:cs typeface="Calibri" pitchFamily="34" charset="-120"/>
                        </a:rPr>
                        <a:t>increasingly, sometimes, again and again</a:t>
                      </a:r>
                      <a:endParaRPr lang="en-US" sz="1080" dirty="0">
                        <a:latin typeface="Calibri" charset="0"/>
                        <a:ea typeface="Calibri" charset="0"/>
                        <a:cs typeface="Calibri" charset="0"/>
                      </a:endParaRPr>
                    </a:p>
                  </a:txBody>
                  <a:tcPr marL="76200" marR="76200" marT="38100" marB="38100" anchor="ctr">
                    <a:lnL w="9525" cap="flat" cmpd="sng" algn="ctr">
                      <a:solidFill>
                        <a:srgbClr val="E1DDD3"/>
                      </a:solidFill>
                      <a:prstDash val="solid"/>
                      <a:round/>
                      <a:headEnd type="none" w="med" len="med"/>
                      <a:tailEnd type="none" w="med" len="med"/>
                    </a:lnL>
                    <a:lnR w="9525" cap="flat" cmpd="sng" algn="ctr">
                      <a:solidFill>
                        <a:srgbClr val="E1DDD3"/>
                      </a:solidFill>
                      <a:prstDash val="solid"/>
                      <a:round/>
                      <a:headEnd type="none" w="med" len="med"/>
                      <a:tailEnd type="none" w="med" len="med"/>
                    </a:lnR>
                    <a:lnT w="9525" cap="flat" cmpd="sng" algn="ctr">
                      <a:solidFill>
                        <a:srgbClr val="E1DDD3"/>
                      </a:solidFill>
                      <a:prstDash val="solid"/>
                      <a:round/>
                      <a:headEnd type="none" w="med" len="med"/>
                      <a:tailEnd type="none" w="med" len="med"/>
                    </a:lnT>
                    <a:lnB w="9525" cap="flat" cmpd="sng" algn="ctr">
                      <a:solidFill>
                        <a:srgbClr val="E1DDD3"/>
                      </a:solidFill>
                      <a:prstDash val="solid"/>
                      <a:round/>
                      <a:headEnd type="none" w="med" len="med"/>
                      <a:tailEnd type="none" w="med" len="med"/>
                    </a:lnB>
                    <a:solidFill>
                      <a:srgbClr val="F5F5F5"/>
                    </a:solidFill>
                  </a:tcPr>
                </a:tc>
              </a:tr>
            </a:tbl>
          </a:graphicData>
        </a:graphic>
      </p:graphicFrame>
      <p:sp>
        <p:nvSpPr>
          <p:cNvPr id="5" name="Shape 2"/>
          <p:cNvSpPr/>
          <p:nvPr/>
        </p:nvSpPr>
        <p:spPr>
          <a:xfrm>
            <a:off x="640080" y="4343400"/>
            <a:ext cx="10911535" cy="868680"/>
          </a:xfrm>
          <a:prstGeom prst="roundRect">
            <a:avLst>
              <a:gd name="adj" fmla="val 6316"/>
            </a:avLst>
          </a:prstGeom>
          <a:solidFill>
            <a:srgbClr val="FFFFFF"/>
          </a:solidFill>
          <a:ln w="15875">
            <a:solidFill>
              <a:srgbClr val="C9A84C"/>
            </a:solidFill>
            <a:prstDash val="solid"/>
          </a:ln>
        </p:spPr>
      </p:sp>
      <p:sp>
        <p:nvSpPr>
          <p:cNvPr id="6" name="Text 3"/>
          <p:cNvSpPr/>
          <p:nvPr/>
        </p:nvSpPr>
        <p:spPr>
          <a:xfrm>
            <a:off x="932688" y="4343400"/>
            <a:ext cx="10326319" cy="86868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Every answer choice you'll ever see fits one of these 8 rows. The next slides walk through each pair in depth.</a:t>
            </a:r>
            <a:endParaRPr lang="en-US" sz="1450" dirty="0"/>
          </a:p>
        </p:txBody>
      </p:sp>
      <p:sp>
        <p:nvSpPr>
          <p:cNvPr id="7" name="Text 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TRANSITIONS · CATEGORIES 1–2</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Subverting Expectations &amp; Zooming In</a:t>
            </a:r>
            <a:endParaRPr lang="en-US" sz="2900" dirty="0"/>
          </a:p>
        </p:txBody>
      </p:sp>
      <p:sp>
        <p:nvSpPr>
          <p:cNvPr id="4" name="Shape 2"/>
          <p:cNvSpPr/>
          <p:nvPr/>
        </p:nvSpPr>
        <p:spPr>
          <a:xfrm>
            <a:off x="640080" y="1965960"/>
            <a:ext cx="5318608" cy="3017520"/>
          </a:xfrm>
          <a:prstGeom prst="roundRect">
            <a:avLst>
              <a:gd name="adj" fmla="val 2121"/>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5" name="Text 3"/>
          <p:cNvSpPr/>
          <p:nvPr/>
        </p:nvSpPr>
        <p:spPr>
          <a:xfrm>
            <a:off x="877824"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Subverting Expectations (28.6%)</a:t>
            </a:r>
            <a:endParaRPr lang="en-US" sz="1450" dirty="0"/>
          </a:p>
        </p:txBody>
      </p:sp>
      <p:sp>
        <p:nvSpPr>
          <p:cNvPr id="6" name="Text 4"/>
          <p:cNvSpPr/>
          <p:nvPr/>
        </p:nvSpPr>
        <p:spPr>
          <a:xfrm>
            <a:off x="877824" y="2551176"/>
            <a:ext cx="4843120" cy="224942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The second sentence goes against what you'd expect from the first.</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Tell: opposing language between the two sentences (barren vs. fertile).</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however, nonetheless, nevertheless, by contrast, instead, granted</a:t>
            </a:r>
            <a:endParaRPr lang="en-US" sz="1200" dirty="0"/>
          </a:p>
        </p:txBody>
      </p:sp>
      <p:sp>
        <p:nvSpPr>
          <p:cNvPr id="7" name="Shape 5"/>
          <p:cNvSpPr/>
          <p:nvPr/>
        </p:nvSpPr>
        <p:spPr>
          <a:xfrm>
            <a:off x="6233008" y="1965960"/>
            <a:ext cx="5318608" cy="3017520"/>
          </a:xfrm>
          <a:prstGeom prst="roundRect">
            <a:avLst>
              <a:gd name="adj" fmla="val 2121"/>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8" name="Text 6"/>
          <p:cNvSpPr/>
          <p:nvPr/>
        </p:nvSpPr>
        <p:spPr>
          <a:xfrm>
            <a:off x="6470752"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Zooming In (16.5%)</a:t>
            </a:r>
            <a:endParaRPr lang="en-US" sz="1450" dirty="0"/>
          </a:p>
        </p:txBody>
      </p:sp>
      <p:sp>
        <p:nvSpPr>
          <p:cNvPr id="9" name="Text 7"/>
          <p:cNvSpPr/>
          <p:nvPr/>
        </p:nvSpPr>
        <p:spPr>
          <a:xfrm>
            <a:off x="6470752" y="2551176"/>
            <a:ext cx="4843120" cy="224942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The second sentence gives a specific example or more detail about the first.</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Correct less often on HARD questions — College Board loves faking this structure as a trap.</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for example, for instance, to illustrate, specifically</a:t>
            </a:r>
            <a:endParaRPr lang="en-US" sz="1200" dirty="0"/>
          </a:p>
        </p:txBody>
      </p:sp>
      <p:sp>
        <p:nvSpPr>
          <p:cNvPr id="10" name="Text 8"/>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1" name="Text 9"/>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TRANSITIONS · CATEGORIES 3–4</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Swapping &amp; Cause and Effect</a:t>
            </a:r>
            <a:endParaRPr lang="en-US" sz="2900" dirty="0"/>
          </a:p>
        </p:txBody>
      </p:sp>
      <p:sp>
        <p:nvSpPr>
          <p:cNvPr id="4" name="Shape 2"/>
          <p:cNvSpPr/>
          <p:nvPr/>
        </p:nvSpPr>
        <p:spPr>
          <a:xfrm>
            <a:off x="640080" y="1965960"/>
            <a:ext cx="5318608" cy="3017520"/>
          </a:xfrm>
          <a:prstGeom prst="roundRect">
            <a:avLst>
              <a:gd name="adj" fmla="val 2121"/>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5" name="Text 3"/>
          <p:cNvSpPr/>
          <p:nvPr/>
        </p:nvSpPr>
        <p:spPr>
          <a:xfrm>
            <a:off x="877824"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Swapping (15.6%)</a:t>
            </a:r>
            <a:endParaRPr lang="en-US" sz="1450" dirty="0"/>
          </a:p>
        </p:txBody>
      </p:sp>
      <p:sp>
        <p:nvSpPr>
          <p:cNvPr id="6" name="Text 4"/>
          <p:cNvSpPr/>
          <p:nvPr/>
        </p:nvSpPr>
        <p:spPr>
          <a:xfrm>
            <a:off x="877824" y="2551176"/>
            <a:ext cx="4843120" cy="224942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The two sentences are interchangeable — you could swap their order with no change in meaning (like “buy milk and eggs” vs. “eggs and milk”).</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One of College Board's favorite distractor categories — plugging in “in addition” often SOUNDS fine without being correct.</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in addition, additionally, moreover, similarly, likewise</a:t>
            </a:r>
            <a:endParaRPr lang="en-US" sz="1200" dirty="0"/>
          </a:p>
        </p:txBody>
      </p:sp>
      <p:sp>
        <p:nvSpPr>
          <p:cNvPr id="7" name="Shape 5"/>
          <p:cNvSpPr/>
          <p:nvPr/>
        </p:nvSpPr>
        <p:spPr>
          <a:xfrm>
            <a:off x="6233008" y="1965960"/>
            <a:ext cx="5318608" cy="3017520"/>
          </a:xfrm>
          <a:prstGeom prst="roundRect">
            <a:avLst>
              <a:gd name="adj" fmla="val 2121"/>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8" name="Text 6"/>
          <p:cNvSpPr/>
          <p:nvPr/>
        </p:nvSpPr>
        <p:spPr>
          <a:xfrm>
            <a:off x="6470752"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Cause and Effect (15.2%)</a:t>
            </a:r>
            <a:endParaRPr lang="en-US" sz="1450" dirty="0"/>
          </a:p>
        </p:txBody>
      </p:sp>
      <p:sp>
        <p:nvSpPr>
          <p:cNvPr id="9" name="Text 7"/>
          <p:cNvSpPr/>
          <p:nvPr/>
        </p:nvSpPr>
        <p:spPr>
          <a:xfrm>
            <a:off x="6470752" y="2551176"/>
            <a:ext cx="4843120" cy="224942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Test: can you say “because [sentence 1], [sentence 2] happened”? If yes, it's cause and effect.</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A strong category — correct more than a third of the time it appears.</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as a result, thus, accordingly, consequently, therefore</a:t>
            </a:r>
            <a:endParaRPr lang="en-US" sz="1200" dirty="0"/>
          </a:p>
        </p:txBody>
      </p:sp>
      <p:sp>
        <p:nvSpPr>
          <p:cNvPr id="10" name="Text 8"/>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1" name="Text 9"/>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TRANSITIONS · CATEGORIES 5–6</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Sequence &amp; Restatement</a:t>
            </a:r>
            <a:endParaRPr lang="en-US" sz="2900" dirty="0"/>
          </a:p>
        </p:txBody>
      </p:sp>
      <p:sp>
        <p:nvSpPr>
          <p:cNvPr id="4" name="Shape 2"/>
          <p:cNvSpPr/>
          <p:nvPr/>
        </p:nvSpPr>
        <p:spPr>
          <a:xfrm>
            <a:off x="640080" y="1965960"/>
            <a:ext cx="5318608" cy="3017520"/>
          </a:xfrm>
          <a:prstGeom prst="roundRect">
            <a:avLst>
              <a:gd name="adj" fmla="val 2121"/>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5" name="Text 3"/>
          <p:cNvSpPr/>
          <p:nvPr/>
        </p:nvSpPr>
        <p:spPr>
          <a:xfrm>
            <a:off x="877824"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Sequence (12.4%)</a:t>
            </a:r>
            <a:endParaRPr lang="en-US" sz="1450" dirty="0"/>
          </a:p>
        </p:txBody>
      </p:sp>
      <p:sp>
        <p:nvSpPr>
          <p:cNvPr id="6" name="Text 4"/>
          <p:cNvSpPr/>
          <p:nvPr/>
        </p:nvSpPr>
        <p:spPr>
          <a:xfrm>
            <a:off x="877824" y="2551176"/>
            <a:ext cx="4843120" cy="224942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The passage lays out a timeline — dates, “first…then…,” progression over time.</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Correct more than a third of the time it appears.</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meanwhile, next, then, ultimately, lastly, later</a:t>
            </a:r>
            <a:endParaRPr lang="en-US" sz="1200" dirty="0"/>
          </a:p>
        </p:txBody>
      </p:sp>
      <p:sp>
        <p:nvSpPr>
          <p:cNvPr id="7" name="Shape 5"/>
          <p:cNvSpPr/>
          <p:nvPr/>
        </p:nvSpPr>
        <p:spPr>
          <a:xfrm>
            <a:off x="6233008" y="1965960"/>
            <a:ext cx="5318608" cy="3017520"/>
          </a:xfrm>
          <a:prstGeom prst="roundRect">
            <a:avLst>
              <a:gd name="adj" fmla="val 2121"/>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8" name="Text 6"/>
          <p:cNvSpPr/>
          <p:nvPr/>
        </p:nvSpPr>
        <p:spPr>
          <a:xfrm>
            <a:off x="6470752"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Restatement (7.4%)</a:t>
            </a:r>
            <a:endParaRPr lang="en-US" sz="1450" dirty="0"/>
          </a:p>
        </p:txBody>
      </p:sp>
      <p:sp>
        <p:nvSpPr>
          <p:cNvPr id="9" name="Text 7"/>
          <p:cNvSpPr/>
          <p:nvPr/>
        </p:nvSpPr>
        <p:spPr>
          <a:xfrm>
            <a:off x="6470752" y="2551176"/>
            <a:ext cx="4843120" cy="224942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The second sentence paraphrases the first — adds ZERO new information.</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Correct only about 2% of the time it appears — almost always a trap, not the answer.</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in other words, in conclusion, in summary</a:t>
            </a:r>
            <a:endParaRPr lang="en-US" sz="1200" dirty="0"/>
          </a:p>
        </p:txBody>
      </p:sp>
      <p:sp>
        <p:nvSpPr>
          <p:cNvPr id="10" name="Text 8"/>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1" name="Text 9"/>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TRANSITIONS · CATEGORIES 7–8</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Confirmation &amp; Frequency</a:t>
            </a:r>
            <a:endParaRPr lang="en-US" sz="2900" dirty="0"/>
          </a:p>
        </p:txBody>
      </p:sp>
      <p:sp>
        <p:nvSpPr>
          <p:cNvPr id="4" name="Shape 2"/>
          <p:cNvSpPr/>
          <p:nvPr/>
        </p:nvSpPr>
        <p:spPr>
          <a:xfrm>
            <a:off x="640080" y="1965960"/>
            <a:ext cx="5318608" cy="3017520"/>
          </a:xfrm>
          <a:prstGeom prst="roundRect">
            <a:avLst>
              <a:gd name="adj" fmla="val 2121"/>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5" name="Text 3"/>
          <p:cNvSpPr/>
          <p:nvPr/>
        </p:nvSpPr>
        <p:spPr>
          <a:xfrm>
            <a:off x="877824"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Confirmation (3.3%)</a:t>
            </a:r>
            <a:endParaRPr lang="en-US" sz="1450" dirty="0"/>
          </a:p>
        </p:txBody>
      </p:sp>
      <p:sp>
        <p:nvSpPr>
          <p:cNvPr id="6" name="Text 4"/>
          <p:cNvSpPr/>
          <p:nvPr/>
        </p:nvSpPr>
        <p:spPr>
          <a:xfrm>
            <a:off x="877824" y="2551176"/>
            <a:ext cx="4843120" cy="224942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New information appears, but it only serves to confirm what the first sentence already said.</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Correct about 57% of the time it appears — worth watching for.</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indeed, in fact, of course</a:t>
            </a:r>
            <a:endParaRPr lang="en-US" sz="1200" dirty="0"/>
          </a:p>
        </p:txBody>
      </p:sp>
      <p:sp>
        <p:nvSpPr>
          <p:cNvPr id="7" name="Shape 5"/>
          <p:cNvSpPr/>
          <p:nvPr/>
        </p:nvSpPr>
        <p:spPr>
          <a:xfrm>
            <a:off x="6233008" y="1965960"/>
            <a:ext cx="5318608" cy="3017520"/>
          </a:xfrm>
          <a:prstGeom prst="roundRect">
            <a:avLst>
              <a:gd name="adj" fmla="val 2121"/>
            </a:avLst>
          </a:prstGeom>
          <a:solidFill>
            <a:srgbClr val="FFFFFF"/>
          </a:solidFill>
          <a:ln w="12700">
            <a:solidFill>
              <a:srgbClr val="E1DDD3"/>
            </a:solidFill>
            <a:prstDash val="solid"/>
          </a:ln>
          <a:effectLst>
            <a:outerShdw sx="100000" sy="100000" kx="0" ky="0" algn="bl" rotWithShape="0" blurRad="63500" dist="25400" dir="5400000">
              <a:srgbClr val="000000">
                <a:alpha val="10000"/>
              </a:srgbClr>
            </a:outerShdw>
          </a:effectLst>
        </p:spPr>
      </p:sp>
      <p:sp>
        <p:nvSpPr>
          <p:cNvPr id="8" name="Text 6"/>
          <p:cNvSpPr/>
          <p:nvPr/>
        </p:nvSpPr>
        <p:spPr>
          <a:xfrm>
            <a:off x="6470752" y="2130552"/>
            <a:ext cx="4843120" cy="365760"/>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Frequency (0.9%)</a:t>
            </a:r>
            <a:endParaRPr lang="en-US" sz="1450" dirty="0"/>
          </a:p>
        </p:txBody>
      </p:sp>
      <p:sp>
        <p:nvSpPr>
          <p:cNvPr id="9" name="Text 7"/>
          <p:cNvSpPr/>
          <p:nvPr/>
        </p:nvSpPr>
        <p:spPr>
          <a:xfrm>
            <a:off x="6470752" y="2551176"/>
            <a:ext cx="4843120" cy="2249424"/>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The rarest category — the second sentence describes a trend or changing pattern over time.</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When it shows up, it's correct the vast majority of the time.</a:t>
            </a:r>
            <a:endParaRPr lang="en-US" sz="1200" dirty="0"/>
          </a:p>
          <a:p>
            <a:pPr marL="203200" indent="-203200">
              <a:lnSpc>
                <a:spcPct val="115000"/>
              </a:lnSpc>
              <a:spcAft>
                <a:spcPts val="600"/>
              </a:spcAft>
              <a:buSzPct val="100000"/>
              <a:buChar char="•"/>
            </a:pPr>
            <a:r>
              <a:rPr lang="en-US" sz="1200" dirty="0">
                <a:solidFill>
                  <a:srgbClr val="111111"/>
                </a:solidFill>
                <a:latin typeface="Calibri" pitchFamily="34" charset="0"/>
                <a:ea typeface="Calibri" pitchFamily="34" charset="-122"/>
                <a:cs typeface="Calibri" pitchFamily="34" charset="-120"/>
              </a:rPr>
              <a:t>increasingly, sometimes, in many cases, again and again</a:t>
            </a:r>
            <a:endParaRPr lang="en-US" sz="1200" dirty="0"/>
          </a:p>
        </p:txBody>
      </p:sp>
      <p:sp>
        <p:nvSpPr>
          <p:cNvPr id="10" name="Text 8"/>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1" name="Text 9"/>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TRANSITIONS · WATCH OUT</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Same-category answer choices are usually both wrong</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There can only be one right answer — if two choices do the same job, that's a red flag.</a:t>
            </a:r>
            <a:endParaRPr lang="en-US" sz="1350" dirty="0"/>
          </a:p>
        </p:txBody>
      </p:sp>
      <p:sp>
        <p:nvSpPr>
          <p:cNvPr id="5" name="Text 3"/>
          <p:cNvSpPr/>
          <p:nvPr/>
        </p:nvSpPr>
        <p:spPr>
          <a:xfrm>
            <a:off x="640080" y="1920240"/>
            <a:ext cx="10911535" cy="274320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450" dirty="0">
                <a:solidFill>
                  <a:srgbClr val="111111"/>
                </a:solidFill>
                <a:latin typeface="Calibri" pitchFamily="34" charset="0"/>
                <a:ea typeface="Calibri" pitchFamily="34" charset="-122"/>
                <a:cs typeface="Calibri" pitchFamily="34" charset="-120"/>
              </a:rPr>
              <a:t>About 39% of transition questions include two answer choices from the same category (e.g., both however and nevertheless).</a:t>
            </a:r>
            <a:endParaRPr lang="en-US" sz="1450" dirty="0"/>
          </a:p>
          <a:p>
            <a:pPr marL="203200" indent="-203200">
              <a:lnSpc>
                <a:spcPct val="115000"/>
              </a:lnSpc>
              <a:spcAft>
                <a:spcPts val="800"/>
              </a:spcAft>
              <a:buSzPct val="100000"/>
              <a:buChar char="•"/>
            </a:pPr>
            <a:r>
              <a:rPr lang="en-US" sz="1450" dirty="0">
                <a:solidFill>
                  <a:srgbClr val="111111"/>
                </a:solidFill>
                <a:latin typeface="Calibri" pitchFamily="34" charset="0"/>
                <a:ea typeface="Calibri" pitchFamily="34" charset="-122"/>
                <a:cs typeface="Calibri" pitchFamily="34" charset="-120"/>
              </a:rPr>
              <a:t>When that happens, there's roughly a 97% chance NEITHER of them is correct.</a:t>
            </a:r>
            <a:endParaRPr lang="en-US" sz="1450" dirty="0"/>
          </a:p>
          <a:p>
            <a:pPr marL="203200" indent="-203200">
              <a:lnSpc>
                <a:spcPct val="115000"/>
              </a:lnSpc>
              <a:spcAft>
                <a:spcPts val="800"/>
              </a:spcAft>
              <a:buSzPct val="100000"/>
              <a:buChar char="•"/>
            </a:pPr>
            <a:r>
              <a:rPr lang="en-US" sz="1450" dirty="0">
                <a:solidFill>
                  <a:srgbClr val="111111"/>
                </a:solidFill>
                <a:latin typeface="Calibri" pitchFamily="34" charset="0"/>
                <a:ea typeface="Calibri" pitchFamily="34" charset="-122"/>
                <a:cs typeface="Calibri" pitchFamily="34" charset="-120"/>
              </a:rPr>
              <a:t>It's not 100%, though — nuances exist. “Granted” concedes a point; “however” fully contrasts. “For example” gives an instance; “specifically” adds detail. Don't auto-eliminate without a quick gut check.</a:t>
            </a:r>
            <a:endParaRPr lang="en-US" sz="1450" dirty="0"/>
          </a:p>
        </p:txBody>
      </p:sp>
      <p:sp>
        <p:nvSpPr>
          <p:cNvPr id="6" name="Shape 4"/>
          <p:cNvSpPr/>
          <p:nvPr/>
        </p:nvSpPr>
        <p:spPr>
          <a:xfrm>
            <a:off x="640080" y="4709160"/>
            <a:ext cx="10911535" cy="777240"/>
          </a:xfrm>
          <a:prstGeom prst="roundRect">
            <a:avLst>
              <a:gd name="adj" fmla="val 7059"/>
            </a:avLst>
          </a:prstGeom>
          <a:solidFill>
            <a:srgbClr val="FFFFFF"/>
          </a:solidFill>
          <a:ln w="15875">
            <a:solidFill>
              <a:srgbClr val="C9A84C"/>
            </a:solidFill>
            <a:prstDash val="solid"/>
          </a:ln>
        </p:spPr>
      </p:sp>
      <p:sp>
        <p:nvSpPr>
          <p:cNvPr id="7" name="Text 5"/>
          <p:cNvSpPr/>
          <p:nvPr/>
        </p:nvSpPr>
        <p:spPr>
          <a:xfrm>
            <a:off x="932688" y="4709160"/>
            <a:ext cx="10326319" cy="77724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To classify an unfamiliar word: say “I'm taking the SAT, [word] …” out loud and see what naturally comes next.</a:t>
            </a:r>
            <a:endParaRPr lang="en-US" sz="1450" dirty="0"/>
          </a:p>
        </p:txBody>
      </p:sp>
      <p:sp>
        <p:nvSpPr>
          <p:cNvPr id="8" name="Text 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9" name="Text 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91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TRANSITIONS · NEW FORMAT</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Context-specific phrase questions</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Longer answer choices (“challenging the assumption” vs. “undermining the phenomenon”) — same 8 categories, more to verify.</a:t>
            </a:r>
            <a:endParaRPr lang="en-US" sz="1350" dirty="0"/>
          </a:p>
        </p:txBody>
      </p:sp>
      <p:sp>
        <p:nvSpPr>
          <p:cNvPr id="5" name="Text 3"/>
          <p:cNvSpPr/>
          <p:nvPr/>
        </p:nvSpPr>
        <p:spPr>
          <a:xfrm>
            <a:off x="640080" y="19202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01</a:t>
            </a:r>
            <a:endParaRPr lang="en-US" sz="2100" dirty="0"/>
          </a:p>
        </p:txBody>
      </p:sp>
      <p:sp>
        <p:nvSpPr>
          <p:cNvPr id="6" name="Text 4"/>
          <p:cNvSpPr/>
          <p:nvPr/>
        </p:nvSpPr>
        <p:spPr>
          <a:xfrm>
            <a:off x="1508760" y="19202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Read the passage fully and decide the category first.</a:t>
            </a:r>
            <a:endParaRPr lang="en-US" sz="1450" dirty="0"/>
          </a:p>
        </p:txBody>
      </p:sp>
      <p:sp>
        <p:nvSpPr>
          <p:cNvPr id="7" name="Text 5"/>
          <p:cNvSpPr/>
          <p:nvPr/>
        </p:nvSpPr>
        <p:spPr>
          <a:xfrm>
            <a:off x="1508760" y="2286000"/>
            <a:ext cx="10042855" cy="53035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Before looking at answer choices — this locks in the relationship and stops you from being swayed by a distractor phrase.</a:t>
            </a:r>
            <a:endParaRPr lang="en-US" sz="1200" dirty="0"/>
          </a:p>
        </p:txBody>
      </p:sp>
      <p:sp>
        <p:nvSpPr>
          <p:cNvPr id="8" name="Text 6"/>
          <p:cNvSpPr/>
          <p:nvPr/>
        </p:nvSpPr>
        <p:spPr>
          <a:xfrm>
            <a:off x="640080" y="28346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02</a:t>
            </a:r>
            <a:endParaRPr lang="en-US" sz="2100" dirty="0"/>
          </a:p>
        </p:txBody>
      </p:sp>
      <p:sp>
        <p:nvSpPr>
          <p:cNvPr id="9" name="Text 7"/>
          <p:cNvSpPr/>
          <p:nvPr/>
        </p:nvSpPr>
        <p:spPr>
          <a:xfrm>
            <a:off x="1508760" y="28346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Eliminate whole answer choices by category.</a:t>
            </a:r>
            <a:endParaRPr lang="en-US" sz="1450" dirty="0"/>
          </a:p>
        </p:txBody>
      </p:sp>
      <p:sp>
        <p:nvSpPr>
          <p:cNvPr id="10" name="Text 8"/>
          <p:cNvSpPr/>
          <p:nvPr/>
        </p:nvSpPr>
        <p:spPr>
          <a:xfrm>
            <a:off x="1508760" y="3200400"/>
            <a:ext cx="10042855" cy="53035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A phrase that's clearly “confirming” can be cut if you've decided the relationship is “contrasting.”</a:t>
            </a:r>
            <a:endParaRPr lang="en-US" sz="1200" dirty="0"/>
          </a:p>
        </p:txBody>
      </p:sp>
      <p:sp>
        <p:nvSpPr>
          <p:cNvPr id="11" name="Text 9"/>
          <p:cNvSpPr/>
          <p:nvPr/>
        </p:nvSpPr>
        <p:spPr>
          <a:xfrm>
            <a:off x="640080" y="3749040"/>
            <a:ext cx="777240" cy="502920"/>
          </a:xfrm>
          <a:prstGeom prst="rect">
            <a:avLst/>
          </a:prstGeom>
          <a:noFill/>
          <a:ln/>
        </p:spPr>
        <p:txBody>
          <a:bodyPr wrap="square" lIns="0" tIns="0" rIns="0" bIns="0" rtlCol="0" anchor="ctr"/>
          <a:lstStyle/>
          <a:p>
            <a:pPr indent="0" marL="0">
              <a:buNone/>
            </a:pPr>
            <a:r>
              <a:rPr lang="en-US" sz="2100" b="1" i="1" dirty="0">
                <a:solidFill>
                  <a:srgbClr val="C9A84C"/>
                </a:solidFill>
                <a:latin typeface="Cambria" pitchFamily="34" charset="0"/>
                <a:ea typeface="Cambria" pitchFamily="34" charset="-122"/>
                <a:cs typeface="Cambria" pitchFamily="34" charset="-120"/>
              </a:rPr>
              <a:t>03</a:t>
            </a:r>
            <a:endParaRPr lang="en-US" sz="2100" dirty="0"/>
          </a:p>
        </p:txBody>
      </p:sp>
      <p:sp>
        <p:nvSpPr>
          <p:cNvPr id="12" name="Text 10"/>
          <p:cNvSpPr/>
          <p:nvPr/>
        </p:nvSpPr>
        <p:spPr>
          <a:xfrm>
            <a:off x="1508760" y="3749040"/>
            <a:ext cx="10042855" cy="347472"/>
          </a:xfrm>
          <a:prstGeom prst="rect">
            <a:avLst/>
          </a:prstGeom>
          <a:noFill/>
          <a:ln/>
        </p:spPr>
        <p:txBody>
          <a:bodyPr wrap="square" lIns="0" tIns="0" rIns="0" bIns="0" rtlCol="0" anchor="ctr"/>
          <a:lstStyle/>
          <a:p>
            <a:pPr indent="0" marL="0">
              <a:buNone/>
            </a:pPr>
            <a:r>
              <a:rPr lang="en-US" sz="1450" b="1" dirty="0">
                <a:solidFill>
                  <a:srgbClr val="111111"/>
                </a:solidFill>
                <a:latin typeface="Calibri" pitchFamily="34" charset="0"/>
                <a:ea typeface="Calibri" pitchFamily="34" charset="-122"/>
                <a:cs typeface="Calibri" pitchFamily="34" charset="-120"/>
              </a:rPr>
              <a:t>Verify the noun/reference inside the surviving phrases.</a:t>
            </a:r>
            <a:endParaRPr lang="en-US" sz="1450" dirty="0"/>
          </a:p>
        </p:txBody>
      </p:sp>
      <p:sp>
        <p:nvSpPr>
          <p:cNvPr id="13" name="Text 11"/>
          <p:cNvSpPr/>
          <p:nvPr/>
        </p:nvSpPr>
        <p:spPr>
          <a:xfrm>
            <a:off x="1508760" y="4114800"/>
            <a:ext cx="10042855" cy="530352"/>
          </a:xfrm>
          <a:prstGeom prst="rect">
            <a:avLst/>
          </a:prstGeom>
          <a:noFill/>
          <a:ln/>
        </p:spPr>
        <p:txBody>
          <a:bodyPr wrap="square" lIns="0" tIns="0" rIns="0" bIns="0" rtlCol="0" anchor="ctr"/>
          <a:lstStyle/>
          <a:p>
            <a:pPr indent="0" marL="0">
              <a:lnSpc>
                <a:spcPct val="110000"/>
              </a:lnSpc>
              <a:buNone/>
            </a:pPr>
            <a:r>
              <a:rPr lang="en-US" sz="1200" dirty="0">
                <a:solidFill>
                  <a:srgbClr val="5F5F5F"/>
                </a:solidFill>
                <a:latin typeface="Calibri" pitchFamily="34" charset="0"/>
                <a:ea typeface="Calibri" pitchFamily="34" charset="-122"/>
                <a:cs typeface="Calibri" pitchFamily="34" charset="-120"/>
              </a:rPr>
              <a:t>Words like “this” refer back to the prior sentence — confirm which noun it should be pointing to.</a:t>
            </a:r>
            <a:endParaRPr lang="en-US" sz="1200" dirty="0"/>
          </a:p>
        </p:txBody>
      </p:sp>
      <p:sp>
        <p:nvSpPr>
          <p:cNvPr id="14" name="Text 12"/>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5" name="Text 13"/>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92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TRANSITIONS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transition question 1</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TRANSITION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Read fully, name the category out loud, then match the answer choice.</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93</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TRANSITIONS · PRACTICE</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Try it: transition question 2</a:t>
            </a:r>
            <a:endParaRPr lang="en-US" sz="2900" dirty="0"/>
          </a:p>
        </p:txBody>
      </p:sp>
      <p:sp>
        <p:nvSpPr>
          <p:cNvPr id="4" name="Shape 2"/>
          <p:cNvSpPr/>
          <p:nvPr/>
        </p:nvSpPr>
        <p:spPr>
          <a:xfrm>
            <a:off x="640080" y="1828800"/>
            <a:ext cx="10911535" cy="4114800"/>
          </a:xfrm>
          <a:prstGeom prst="roundRect">
            <a:avLst>
              <a:gd name="adj" fmla="val 1333"/>
            </a:avLst>
          </a:prstGeom>
          <a:solidFill>
            <a:srgbClr val="FFFFFF"/>
          </a:solidFill>
          <a:ln w="19050">
            <a:solidFill>
              <a:srgbClr val="C9A84C"/>
            </a:solidFill>
            <a:prstDash val="dash"/>
          </a:ln>
        </p:spPr>
      </p:sp>
      <p:sp>
        <p:nvSpPr>
          <p:cNvPr id="5" name="Text 3"/>
          <p:cNvSpPr/>
          <p:nvPr/>
        </p:nvSpPr>
        <p:spPr>
          <a:xfrm>
            <a:off x="1005840" y="3502152"/>
            <a:ext cx="10180015" cy="365760"/>
          </a:xfrm>
          <a:prstGeom prst="rect">
            <a:avLst/>
          </a:prstGeom>
          <a:noFill/>
          <a:ln/>
        </p:spPr>
        <p:txBody>
          <a:bodyPr wrap="square" lIns="0" tIns="0" rIns="0" bIns="0" rtlCol="0" anchor="ctr"/>
          <a:lstStyle/>
          <a:p>
            <a:pPr algn="ctr" indent="0" marL="0">
              <a:buNone/>
            </a:pPr>
            <a:r>
              <a:rPr lang="en-US" sz="1400" b="1" spc="120" kern="0" dirty="0">
                <a:solidFill>
                  <a:srgbClr val="8A6A28"/>
                </a:solidFill>
                <a:latin typeface="Calibri" pitchFamily="34" charset="0"/>
                <a:ea typeface="Calibri" pitchFamily="34" charset="-122"/>
                <a:cs typeface="Calibri" pitchFamily="34" charset="-120"/>
              </a:rPr>
              <a:t>PASTE A TRANSITION QUESTION</a:t>
            </a:r>
            <a:endParaRPr lang="en-US" sz="1400" dirty="0"/>
          </a:p>
        </p:txBody>
      </p:sp>
      <p:sp>
        <p:nvSpPr>
          <p:cNvPr id="6" name="Text 4"/>
          <p:cNvSpPr/>
          <p:nvPr/>
        </p:nvSpPr>
        <p:spPr>
          <a:xfrm>
            <a:off x="1737360" y="3904488"/>
            <a:ext cx="8716975" cy="502920"/>
          </a:xfrm>
          <a:prstGeom prst="rect">
            <a:avLst/>
          </a:prstGeom>
          <a:noFill/>
          <a:ln/>
        </p:spPr>
        <p:txBody>
          <a:bodyPr wrap="square" lIns="0" tIns="0" rIns="0" bIns="0" rtlCol="0" anchor="ctr"/>
          <a:lstStyle/>
          <a:p>
            <a:pPr algn="ctr" indent="0" marL="0">
              <a:buNone/>
            </a:pPr>
            <a:r>
              <a:rPr lang="en-US" sz="1100" i="1" dirty="0">
                <a:solidFill>
                  <a:srgbClr val="8A8A8A"/>
                </a:solidFill>
                <a:latin typeface="Calibri" pitchFamily="34" charset="0"/>
                <a:ea typeface="Calibri" pitchFamily="34" charset="-122"/>
                <a:cs typeface="Calibri" pitchFamily="34" charset="-120"/>
              </a:rPr>
              <a:t>Read fully, name the category out loud, then match the answer choice.</a:t>
            </a:r>
            <a:endParaRPr lang="en-US" sz="1100" dirty="0"/>
          </a:p>
        </p:txBody>
      </p:sp>
      <p:sp>
        <p:nvSpPr>
          <p:cNvPr id="7" name="Text 5"/>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8" name="Text 6"/>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94</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TRANSITIONS · RECAP</a:t>
            </a:r>
            <a:endParaRPr lang="en-US" sz="1250" dirty="0"/>
          </a:p>
        </p:txBody>
      </p:sp>
      <p:sp>
        <p:nvSpPr>
          <p:cNvPr id="3" name="Text 1"/>
          <p:cNvSpPr/>
          <p:nvPr/>
        </p:nvSpPr>
        <p:spPr>
          <a:xfrm>
            <a:off x="640080" y="694944"/>
            <a:ext cx="10911535" cy="77724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Transitions — the full checklist</a:t>
            </a:r>
            <a:endParaRPr lang="en-US" sz="2900" dirty="0"/>
          </a:p>
        </p:txBody>
      </p:sp>
      <p:sp>
        <p:nvSpPr>
          <p:cNvPr id="4" name="Text 2"/>
          <p:cNvSpPr/>
          <p:nvPr/>
        </p:nvSpPr>
        <p:spPr>
          <a:xfrm>
            <a:off x="640080" y="1920240"/>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5" name="Text 3"/>
          <p:cNvSpPr/>
          <p:nvPr/>
        </p:nvSpPr>
        <p:spPr>
          <a:xfrm>
            <a:off x="969264" y="1920240"/>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Read every word of the passage, start to finish.</a:t>
            </a:r>
            <a:endParaRPr lang="en-US" sz="1200" dirty="0"/>
          </a:p>
        </p:txBody>
      </p:sp>
      <p:sp>
        <p:nvSpPr>
          <p:cNvPr id="6" name="Text 4"/>
          <p:cNvSpPr/>
          <p:nvPr/>
        </p:nvSpPr>
        <p:spPr>
          <a:xfrm>
            <a:off x="6278728" y="1920240"/>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6607912" y="1920240"/>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Name the relationship: which of the 8 categories fits?</a:t>
            </a:r>
            <a:endParaRPr lang="en-US" sz="1200" dirty="0"/>
          </a:p>
        </p:txBody>
      </p:sp>
      <p:sp>
        <p:nvSpPr>
          <p:cNvPr id="8" name="Text 6"/>
          <p:cNvSpPr/>
          <p:nvPr/>
        </p:nvSpPr>
        <p:spPr>
          <a:xfrm>
            <a:off x="640080" y="2450592"/>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969264" y="2450592"/>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Subverting Expectations &amp; Cause/Effect are common AND reliable.</a:t>
            </a:r>
            <a:endParaRPr lang="en-US" sz="1200" dirty="0"/>
          </a:p>
        </p:txBody>
      </p:sp>
      <p:sp>
        <p:nvSpPr>
          <p:cNvPr id="10" name="Text 8"/>
          <p:cNvSpPr/>
          <p:nvPr/>
        </p:nvSpPr>
        <p:spPr>
          <a:xfrm>
            <a:off x="6278728" y="2450592"/>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6607912" y="2450592"/>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Zooming In &amp; Swapping are common but often a trap on hard Qs.</a:t>
            </a:r>
            <a:endParaRPr lang="en-US" sz="1200" dirty="0"/>
          </a:p>
        </p:txBody>
      </p:sp>
      <p:sp>
        <p:nvSpPr>
          <p:cNvPr id="12" name="Text 10"/>
          <p:cNvSpPr/>
          <p:nvPr/>
        </p:nvSpPr>
        <p:spPr>
          <a:xfrm>
            <a:off x="640080" y="2980944"/>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969264" y="2980944"/>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Restatement is almost never the right answer.</a:t>
            </a:r>
            <a:endParaRPr lang="en-US" sz="1200" dirty="0"/>
          </a:p>
        </p:txBody>
      </p:sp>
      <p:sp>
        <p:nvSpPr>
          <p:cNvPr id="14" name="Text 12"/>
          <p:cNvSpPr/>
          <p:nvPr/>
        </p:nvSpPr>
        <p:spPr>
          <a:xfrm>
            <a:off x="6278728" y="2980944"/>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6607912" y="2980944"/>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Two choices in the same category → both are usually wrong.</a:t>
            </a:r>
            <a:endParaRPr lang="en-US" sz="1200" dirty="0"/>
          </a:p>
        </p:txBody>
      </p:sp>
      <p:sp>
        <p:nvSpPr>
          <p:cNvPr id="16" name="Text 14"/>
          <p:cNvSpPr/>
          <p:nvPr/>
        </p:nvSpPr>
        <p:spPr>
          <a:xfrm>
            <a:off x="640080" y="3511296"/>
            <a:ext cx="292608" cy="530352"/>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969264" y="3511296"/>
            <a:ext cx="4943704" cy="530352"/>
          </a:xfrm>
          <a:prstGeom prst="rect">
            <a:avLst/>
          </a:prstGeom>
          <a:noFill/>
          <a:ln/>
        </p:spPr>
        <p:txBody>
          <a:bodyPr wrap="square" lIns="0" tIns="0" rIns="0" bIns="0" rtlCol="0" anchor="t"/>
          <a:lstStyle/>
          <a:p>
            <a:pPr indent="0" marL="0">
              <a:lnSpc>
                <a:spcPct val="105000"/>
              </a:lnSpc>
              <a:buNone/>
            </a:pPr>
            <a:r>
              <a:rPr lang="en-US" sz="1200" dirty="0">
                <a:solidFill>
                  <a:srgbClr val="111111"/>
                </a:solidFill>
                <a:latin typeface="Calibri" pitchFamily="34" charset="0"/>
                <a:ea typeface="Calibri" pitchFamily="34" charset="-122"/>
                <a:cs typeface="Calibri" pitchFamily="34" charset="-120"/>
              </a:rPr>
              <a:t>Context-specific phrases: decide the category before reading choices.</a:t>
            </a:r>
            <a:endParaRPr lang="en-US" sz="1200" dirty="0"/>
          </a:p>
        </p:txBody>
      </p:sp>
      <p:sp>
        <p:nvSpPr>
          <p:cNvPr id="18" name="Text 16"/>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19" name="Text 17"/>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95</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875520" cy="292608"/>
          </a:xfrm>
          <a:prstGeom prst="rect">
            <a:avLst/>
          </a:prstGeom>
          <a:noFill/>
          <a:ln/>
        </p:spPr>
        <p:txBody>
          <a:bodyPr wrap="square" lIns="0" tIns="0" rIns="0" bIns="0" rtlCol="0" anchor="ctr"/>
          <a:lstStyle/>
          <a:p>
            <a:pPr indent="0" marL="0">
              <a:buNone/>
            </a:pPr>
            <a:r>
              <a:rPr lang="en-US" sz="1250" b="1" spc="150" kern="0" dirty="0">
                <a:solidFill>
                  <a:srgbClr val="B0271C"/>
                </a:solidFill>
                <a:latin typeface="Calibri" pitchFamily="34" charset="0"/>
                <a:ea typeface="Calibri" pitchFamily="34" charset="-122"/>
                <a:cs typeface="Calibri" pitchFamily="34" charset="-120"/>
              </a:rPr>
              <a:t>◆ </a:t>
            </a:r>
            <a:pPr indent="0" marL="0">
              <a:buNone/>
            </a:pPr>
            <a:r>
              <a:rPr lang="en-US" sz="1250" b="1" spc="150" kern="0" dirty="0">
                <a:solidFill>
                  <a:srgbClr val="111111"/>
                </a:solidFill>
                <a:latin typeface="Calibri" pitchFamily="34" charset="0"/>
                <a:ea typeface="Calibri" pitchFamily="34" charset="-122"/>
                <a:cs typeface="Calibri" pitchFamily="34" charset="-120"/>
              </a:rPr>
              <a:t>WRAP-UP</a:t>
            </a:r>
            <a:endParaRPr lang="en-US" sz="1250" dirty="0"/>
          </a:p>
        </p:txBody>
      </p:sp>
      <p:sp>
        <p:nvSpPr>
          <p:cNvPr id="3" name="Text 1"/>
          <p:cNvSpPr/>
          <p:nvPr/>
        </p:nvSpPr>
        <p:spPr>
          <a:xfrm>
            <a:off x="640080" y="694944"/>
            <a:ext cx="10911535" cy="731520"/>
          </a:xfrm>
          <a:prstGeom prst="rect">
            <a:avLst/>
          </a:prstGeom>
          <a:noFill/>
          <a:ln/>
        </p:spPr>
        <p:txBody>
          <a:bodyPr wrap="square" lIns="0" tIns="0" rIns="0" bIns="0" rtlCol="0" anchor="ctr"/>
          <a:lstStyle/>
          <a:p>
            <a:pPr indent="0" marL="0">
              <a:lnSpc>
                <a:spcPct val="102000"/>
              </a:lnSpc>
              <a:buNone/>
            </a:pPr>
            <a:r>
              <a:rPr lang="en-US" sz="2900" b="1" dirty="0">
                <a:solidFill>
                  <a:srgbClr val="111111"/>
                </a:solidFill>
                <a:latin typeface="Cambria" pitchFamily="34" charset="0"/>
                <a:ea typeface="Cambria" pitchFamily="34" charset="-122"/>
                <a:cs typeface="Cambria" pitchFamily="34" charset="-120"/>
              </a:rPr>
              <a:t>The master checklist</a:t>
            </a:r>
            <a:endParaRPr lang="en-US" sz="2900" dirty="0"/>
          </a:p>
        </p:txBody>
      </p:sp>
      <p:sp>
        <p:nvSpPr>
          <p:cNvPr id="4" name="Text 2"/>
          <p:cNvSpPr/>
          <p:nvPr/>
        </p:nvSpPr>
        <p:spPr>
          <a:xfrm>
            <a:off x="640080" y="1426464"/>
            <a:ext cx="10911535" cy="365760"/>
          </a:xfrm>
          <a:prstGeom prst="rect">
            <a:avLst/>
          </a:prstGeom>
          <a:noFill/>
          <a:ln/>
        </p:spPr>
        <p:txBody>
          <a:bodyPr wrap="square" lIns="0" tIns="0" rIns="0" bIns="0" rtlCol="0" anchor="ctr"/>
          <a:lstStyle/>
          <a:p>
            <a:pPr indent="0" marL="0">
              <a:buNone/>
            </a:pPr>
            <a:r>
              <a:rPr lang="en-US" sz="1350" dirty="0">
                <a:solidFill>
                  <a:srgbClr val="5F5F5F"/>
                </a:solidFill>
                <a:latin typeface="Calibri" pitchFamily="34" charset="0"/>
                <a:ea typeface="Calibri" pitchFamily="34" charset="-122"/>
                <a:cs typeface="Calibri" pitchFamily="34" charset="-120"/>
              </a:rPr>
              <a:t>One line per system — if any line doesn't ring a bell, revisit that section before your next practice test.</a:t>
            </a:r>
            <a:endParaRPr lang="en-US" sz="1350" dirty="0"/>
          </a:p>
        </p:txBody>
      </p:sp>
      <p:sp>
        <p:nvSpPr>
          <p:cNvPr id="5" name="Text 3"/>
          <p:cNvSpPr/>
          <p:nvPr/>
        </p:nvSpPr>
        <p:spPr>
          <a:xfrm>
            <a:off x="640080" y="1920240"/>
            <a:ext cx="292608" cy="50292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969264" y="1920240"/>
            <a:ext cx="4943704" cy="50292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Verbs: 4 shortcuts first, then main-verb logic, then the 5 traps.</a:t>
            </a:r>
            <a:endParaRPr lang="en-US" sz="1150" dirty="0"/>
          </a:p>
        </p:txBody>
      </p:sp>
      <p:sp>
        <p:nvSpPr>
          <p:cNvPr id="7" name="Text 5"/>
          <p:cNvSpPr/>
          <p:nvPr/>
        </p:nvSpPr>
        <p:spPr>
          <a:xfrm>
            <a:off x="6278728" y="1920240"/>
            <a:ext cx="292608" cy="50292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6607912" y="1920240"/>
            <a:ext cx="4943704" cy="50292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Reading: chunk, predict the passage, predict the answer, word-by-word.</a:t>
            </a:r>
            <a:endParaRPr lang="en-US" sz="1150" dirty="0"/>
          </a:p>
        </p:txBody>
      </p:sp>
      <p:sp>
        <p:nvSpPr>
          <p:cNvPr id="9" name="Text 7"/>
          <p:cNvSpPr/>
          <p:nvPr/>
        </p:nvSpPr>
        <p:spPr>
          <a:xfrm>
            <a:off x="640080" y="2423160"/>
            <a:ext cx="292608" cy="50292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969264" y="2423160"/>
            <a:ext cx="4943704" cy="50292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Vocab: build your own synonym from evidence before reading choices.</a:t>
            </a:r>
            <a:endParaRPr lang="en-US" sz="1150" dirty="0"/>
          </a:p>
        </p:txBody>
      </p:sp>
      <p:sp>
        <p:nvSpPr>
          <p:cNvPr id="11" name="Text 9"/>
          <p:cNvSpPr/>
          <p:nvPr/>
        </p:nvSpPr>
        <p:spPr>
          <a:xfrm>
            <a:off x="6278728" y="2423160"/>
            <a:ext cx="292608" cy="50292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6607912" y="2423160"/>
            <a:ext cx="4943704" cy="50292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Punctuation: independent clauses, 6 marks, C-P-E-N, then shortcuts.</a:t>
            </a:r>
            <a:endParaRPr lang="en-US" sz="1150" dirty="0"/>
          </a:p>
        </p:txBody>
      </p:sp>
      <p:sp>
        <p:nvSpPr>
          <p:cNvPr id="13" name="Text 11"/>
          <p:cNvSpPr/>
          <p:nvPr/>
        </p:nvSpPr>
        <p:spPr>
          <a:xfrm>
            <a:off x="640080" y="2926080"/>
            <a:ext cx="292608" cy="50292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4" name="Text 12"/>
          <p:cNvSpPr/>
          <p:nvPr/>
        </p:nvSpPr>
        <p:spPr>
          <a:xfrm>
            <a:off x="969264" y="2926080"/>
            <a:ext cx="4943704" cy="50292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Pronouns/Modifiers/Plural-Possessive: 3 small, guaranteed-point systems.</a:t>
            </a:r>
            <a:endParaRPr lang="en-US" sz="1150" dirty="0"/>
          </a:p>
        </p:txBody>
      </p:sp>
      <p:sp>
        <p:nvSpPr>
          <p:cNvPr id="15" name="Text 13"/>
          <p:cNvSpPr/>
          <p:nvPr/>
        </p:nvSpPr>
        <p:spPr>
          <a:xfrm>
            <a:off x="6278728" y="2926080"/>
            <a:ext cx="292608" cy="50292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6607912" y="2926080"/>
            <a:ext cx="4943704" cy="50292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Transitions: read fully, then name one of the 8 categories.</a:t>
            </a:r>
            <a:endParaRPr lang="en-US" sz="1150" dirty="0"/>
          </a:p>
        </p:txBody>
      </p:sp>
      <p:sp>
        <p:nvSpPr>
          <p:cNvPr id="17" name="Text 15"/>
          <p:cNvSpPr/>
          <p:nvPr/>
        </p:nvSpPr>
        <p:spPr>
          <a:xfrm>
            <a:off x="640080" y="3429000"/>
            <a:ext cx="292608" cy="50292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969264" y="3429000"/>
            <a:ext cx="4943704" cy="50292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Strategy: accuracy over speed — skip the slowest questions on purpose.</a:t>
            </a:r>
            <a:endParaRPr lang="en-US" sz="1150" dirty="0"/>
          </a:p>
        </p:txBody>
      </p:sp>
      <p:sp>
        <p:nvSpPr>
          <p:cNvPr id="19" name="Text 17"/>
          <p:cNvSpPr/>
          <p:nvPr/>
        </p:nvSpPr>
        <p:spPr>
          <a:xfrm>
            <a:off x="6278728" y="3429000"/>
            <a:ext cx="292608" cy="502920"/>
          </a:xfrm>
          <a:prstGeom prst="rect">
            <a:avLst/>
          </a:prstGeom>
          <a:noFill/>
          <a:ln/>
        </p:spPr>
        <p:txBody>
          <a:bodyPr wrap="square" lIns="0" tIns="0" rIns="0" bIns="0" rtlCol="0" anchor="t"/>
          <a:lstStyle/>
          <a:p>
            <a:pPr indent="0" marL="0">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6607912" y="3429000"/>
            <a:ext cx="4943704" cy="502920"/>
          </a:xfrm>
          <a:prstGeom prst="rect">
            <a:avLst/>
          </a:prstGeom>
          <a:noFill/>
          <a:ln/>
        </p:spPr>
        <p:txBody>
          <a:bodyPr wrap="square" lIns="0" tIns="0" rIns="0" bIns="0" rtlCol="0" anchor="t"/>
          <a:lstStyle/>
          <a:p>
            <a:pPr indent="0" marL="0">
              <a:lnSpc>
                <a:spcPct val="105000"/>
              </a:lnSpc>
              <a:buNone/>
            </a:pPr>
            <a:r>
              <a:rPr lang="en-US" sz="1150" dirty="0">
                <a:solidFill>
                  <a:srgbClr val="111111"/>
                </a:solidFill>
                <a:latin typeface="Calibri" pitchFamily="34" charset="0"/>
                <a:ea typeface="Calibri" pitchFamily="34" charset="-122"/>
                <a:cs typeface="Calibri" pitchFamily="34" charset="-120"/>
              </a:rPr>
              <a:t>Verify: every word of your final answer must be backed by the text.</a:t>
            </a:r>
            <a:endParaRPr lang="en-US" sz="1150" dirty="0"/>
          </a:p>
        </p:txBody>
      </p:sp>
      <p:sp>
        <p:nvSpPr>
          <p:cNvPr id="21" name="Shape 19"/>
          <p:cNvSpPr/>
          <p:nvPr/>
        </p:nvSpPr>
        <p:spPr>
          <a:xfrm>
            <a:off x="640080" y="4251960"/>
            <a:ext cx="10911535" cy="868680"/>
          </a:xfrm>
          <a:prstGeom prst="roundRect">
            <a:avLst>
              <a:gd name="adj" fmla="val 6316"/>
            </a:avLst>
          </a:prstGeom>
          <a:solidFill>
            <a:srgbClr val="FFFFFF"/>
          </a:solidFill>
          <a:ln w="15875">
            <a:solidFill>
              <a:srgbClr val="C9A84C"/>
            </a:solidFill>
            <a:prstDash val="solid"/>
          </a:ln>
        </p:spPr>
      </p:sp>
      <p:sp>
        <p:nvSpPr>
          <p:cNvPr id="22" name="Text 20"/>
          <p:cNvSpPr/>
          <p:nvPr/>
        </p:nvSpPr>
        <p:spPr>
          <a:xfrm>
            <a:off x="932688" y="4251960"/>
            <a:ext cx="10326319" cy="868680"/>
          </a:xfrm>
          <a:prstGeom prst="rect">
            <a:avLst/>
          </a:prstGeom>
          <a:noFill/>
          <a:ln/>
        </p:spPr>
        <p:txBody>
          <a:bodyPr wrap="square" lIns="0" tIns="0" rIns="0" bIns="0" rtlCol="0" anchor="ctr"/>
          <a:lstStyle/>
          <a:p>
            <a:pPr indent="0" marL="0">
              <a:lnSpc>
                <a:spcPct val="115000"/>
              </a:lnSpc>
              <a:buNone/>
            </a:pPr>
            <a:r>
              <a:rPr lang="en-US" sz="1450" b="1" dirty="0">
                <a:solidFill>
                  <a:srgbClr val="C9A84C"/>
                </a:solidFill>
                <a:latin typeface="Calibri" pitchFamily="34" charset="0"/>
                <a:ea typeface="Calibri" pitchFamily="34" charset="-122"/>
                <a:cs typeface="Calibri" pitchFamily="34" charset="-120"/>
              </a:rPr>
              <a:t>◆  </a:t>
            </a:r>
            <a:pPr indent="0" marL="0">
              <a:lnSpc>
                <a:spcPct val="115000"/>
              </a:lnSpc>
              <a:buNone/>
            </a:pPr>
            <a:r>
              <a:rPr lang="en-US" sz="1450" b="1" dirty="0">
                <a:solidFill>
                  <a:srgbClr val="111111"/>
                </a:solidFill>
                <a:latin typeface="Calibri" pitchFamily="34" charset="0"/>
                <a:ea typeface="Calibri" pitchFamily="34" charset="-122"/>
                <a:cs typeface="Calibri" pitchFamily="34" charset="-120"/>
              </a:rPr>
              <a:t>Go section by section: fill in every placeholder slide in this deck with a real, official SAT question before your next practice test.</a:t>
            </a:r>
            <a:endParaRPr lang="en-US" sz="1450" dirty="0"/>
          </a:p>
        </p:txBody>
      </p:sp>
      <p:sp>
        <p:nvSpPr>
          <p:cNvPr id="23" name="Text 21"/>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24" name="Text 22"/>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96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B0271C"/>
        </a:solidFill>
      </p:bgPr>
    </p:bg>
    <p:spTree>
      <p:nvGrpSpPr>
        <p:cNvPr id="1" name=""/>
        <p:cNvGrpSpPr/>
        <p:nvPr/>
      </p:nvGrpSpPr>
      <p:grpSpPr>
        <a:xfrm>
          <a:off x="0" y="0"/>
          <a:ext cx="0" cy="0"/>
          <a:chOff x="0" y="0"/>
          <a:chExt cx="0" cy="0"/>
        </a:xfrm>
      </p:grpSpPr>
      <p:sp>
        <p:nvSpPr>
          <p:cNvPr id="2" name="Shape 0"/>
          <p:cNvSpPr/>
          <p:nvPr/>
        </p:nvSpPr>
        <p:spPr>
          <a:xfrm>
            <a:off x="9052560" y="-2194560"/>
            <a:ext cx="5852160" cy="5852160"/>
          </a:xfrm>
          <a:prstGeom prst="ellipse">
            <a:avLst/>
          </a:prstGeom>
          <a:solidFill>
            <a:srgbClr val="FFFFFF">
              <a:alpha val="12000"/>
            </a:srgbClr>
          </a:solidFill>
          <a:ln/>
        </p:spPr>
      </p:sp>
      <p:sp>
        <p:nvSpPr>
          <p:cNvPr id="3" name="Text 1"/>
          <p:cNvSpPr/>
          <p:nvPr/>
        </p:nvSpPr>
        <p:spPr>
          <a:xfrm>
            <a:off x="822960" y="2606040"/>
            <a:ext cx="9601200" cy="310896"/>
          </a:xfrm>
          <a:prstGeom prst="rect">
            <a:avLst/>
          </a:prstGeom>
          <a:noFill/>
          <a:ln/>
        </p:spPr>
        <p:txBody>
          <a:bodyPr wrap="square" lIns="0" tIns="0" rIns="0" bIns="0" rtlCol="0" anchor="ctr"/>
          <a:lstStyle/>
          <a:p>
            <a:pPr indent="0" marL="0">
              <a:buNone/>
            </a:pPr>
            <a:r>
              <a:rPr lang="en-US" sz="1350" b="1" spc="200" kern="0" dirty="0">
                <a:solidFill>
                  <a:srgbClr val="C9A84C"/>
                </a:solidFill>
                <a:latin typeface="Calibri" pitchFamily="34" charset="0"/>
                <a:ea typeface="Calibri" pitchFamily="34" charset="-122"/>
                <a:cs typeface="Calibri" pitchFamily="34" charset="-120"/>
              </a:rPr>
              <a:t>◆ FOR YOUR NEXT SESSION</a:t>
            </a:r>
            <a:endParaRPr lang="en-US" sz="1350" dirty="0"/>
          </a:p>
        </p:txBody>
      </p:sp>
      <p:sp>
        <p:nvSpPr>
          <p:cNvPr id="4" name="Text 2"/>
          <p:cNvSpPr/>
          <p:nvPr/>
        </p:nvSpPr>
        <p:spPr>
          <a:xfrm>
            <a:off x="777240" y="2971800"/>
            <a:ext cx="10241280" cy="12344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Practice Bank</a:t>
            </a:r>
            <a:endParaRPr lang="en-US" sz="4200" dirty="0"/>
          </a:p>
        </p:txBody>
      </p:sp>
      <p:sp>
        <p:nvSpPr>
          <p:cNvPr id="5" name="Text 3"/>
          <p:cNvSpPr/>
          <p:nvPr/>
        </p:nvSpPr>
        <p:spPr>
          <a:xfrm>
            <a:off x="822960" y="4160520"/>
            <a:ext cx="8778240" cy="640080"/>
          </a:xfrm>
          <a:prstGeom prst="rect">
            <a:avLst/>
          </a:prstGeom>
          <a:noFill/>
          <a:ln/>
        </p:spPr>
        <p:txBody>
          <a:bodyPr wrap="square" lIns="0" tIns="0" rIns="0" bIns="0" rtlCol="0" anchor="ctr"/>
          <a:lstStyle/>
          <a:p>
            <a:pPr indent="0" marL="0">
              <a:lnSpc>
                <a:spcPct val="120000"/>
              </a:lnSpc>
              <a:buNone/>
            </a:pPr>
            <a:r>
              <a:rPr lang="en-US" sz="1500" dirty="0">
                <a:solidFill>
                  <a:srgbClr val="F0DCD9"/>
                </a:solidFill>
                <a:latin typeface="Calibri" pitchFamily="34" charset="0"/>
                <a:ea typeface="Calibri" pitchFamily="34" charset="-122"/>
                <a:cs typeface="Calibri" pitchFamily="34" charset="-120"/>
              </a:rPr>
              <a:t>Work through the placeholder slides in this deck with real, official SAT questions — grouped by the exact system that solves them.</a:t>
            </a:r>
            <a:endParaRPr lang="en-US" sz="1500" dirty="0"/>
          </a:p>
        </p:txBody>
      </p:sp>
      <p:sp>
        <p:nvSpPr>
          <p:cNvPr id="6" name="Text 4"/>
          <p:cNvSpPr/>
          <p:nvPr/>
        </p:nvSpPr>
        <p:spPr>
          <a:xfrm>
            <a:off x="640080" y="6382512"/>
            <a:ext cx="7315200" cy="256032"/>
          </a:xfrm>
          <a:prstGeom prst="rect">
            <a:avLst/>
          </a:prstGeom>
          <a:noFill/>
          <a:ln/>
        </p:spPr>
        <p:txBody>
          <a:bodyPr wrap="square" lIns="0" tIns="0" rIns="0" bIns="0" rtlCol="0" anchor="ctr"/>
          <a:lstStyle/>
          <a:p>
            <a:pPr indent="0" marL="0">
              <a:buNone/>
            </a:pPr>
            <a:r>
              <a:rPr lang="en-US" sz="900" dirty="0">
                <a:solidFill>
                  <a:srgbClr val="E8C9C4"/>
                </a:solidFill>
                <a:latin typeface="Calibri" pitchFamily="34" charset="0"/>
                <a:ea typeface="Calibri" pitchFamily="34" charset="-122"/>
                <a:cs typeface="Calibri" pitchFamily="34" charset="-120"/>
              </a:rPr>
              <a:t>Moretti Test Prep &amp; Tutoring  ·  morettitutoring.com</a:t>
            </a:r>
            <a:endParaRPr lang="en-US" sz="900" dirty="0"/>
          </a:p>
        </p:txBody>
      </p:sp>
      <p:sp>
        <p:nvSpPr>
          <p:cNvPr id="7" name="Text 5"/>
          <p:cNvSpPr/>
          <p:nvPr/>
        </p:nvSpPr>
        <p:spPr>
          <a:xfrm>
            <a:off x="11094415" y="6382512"/>
            <a:ext cx="457200" cy="256032"/>
          </a:xfrm>
          <a:prstGeom prst="rect">
            <a:avLst/>
          </a:prstGeom>
          <a:noFill/>
          <a:ln/>
        </p:spPr>
        <p:txBody>
          <a:bodyPr wrap="square" lIns="0" tIns="0" rIns="0" bIns="0" rtlCol="0" anchor="ctr"/>
          <a:lstStyle/>
          <a:p>
            <a:pPr algn="r" indent="0" marL="0">
              <a:buNone/>
            </a:pPr>
            <a:r>
              <a:rPr lang="en-US" sz="900" dirty="0">
                <a:solidFill>
                  <a:srgbClr val="E8C9C4"/>
                </a:solidFill>
                <a:latin typeface="Calibri" pitchFamily="34" charset="0"/>
                <a:ea typeface="Calibri" pitchFamily="34" charset="-122"/>
                <a:cs typeface="Calibri" pitchFamily="34" charset="-120"/>
              </a:rPr>
              <a:t>97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97</Slides>
  <Notes>97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97</vt:i4>
      </vt:variant>
    </vt:vector>
  </HeadingPairs>
  <TitlesOfParts>
    <vt:vector size="10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the SAT English Section</dc:title>
  <dc:subject>PptxGenJS Presentation</dc:subject>
  <dc:creator>Moretti Test Prep &amp; Tutoring</dc:creator>
  <cp:lastModifiedBy>Moretti Test Prep &amp; Tutoring</cp:lastModifiedBy>
  <cp:revision>1</cp:revision>
  <dcterms:created xsi:type="dcterms:W3CDTF">2026-07-19T17:41:54Z</dcterms:created>
  <dcterms:modified xsi:type="dcterms:W3CDTF">2026-07-19T17:41:54Z</dcterms:modified>
</cp:coreProperties>
</file>